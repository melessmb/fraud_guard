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3A5F"/>
                </a:solidFill>
                <a:latin typeface="Arial"/>
              </a:defRPr>
            </a:pPr>
            <a:r>
              <a:rPr sz="1200" b="0" i="0" u="none" strike="noStrike">
                <a:solidFill>
                  <a:srgbClr val="1E3A5F"/>
                </a:solidFill>
                <a:latin typeface="Arial"/>
              </a:rPr>
              <a:t>Performance (%)</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EA5E9"/>
            </a:solidFill>
            <a:effectLst/>
          </c:spPr>
          <c:invertIfNegative val="0"/>
          <c:dLbls>
            <c:numFmt formatCode="#,##0" sourceLinked="0"/>
            <c:txPr>
              <a:bodyPr/>
              <a:lstStyle/>
              <a:p>
                <a:pPr>
                  <a:defRPr b="0" i="0" strike="noStrike" sz="1000" u="none">
                    <a:solidFill>
                      <a:srgbClr val="1E3A5F"/>
                    </a:solidFill>
                    <a:latin typeface="Arial"/>
                  </a:defRPr>
                </a:pPr>
              </a:p>
            </c:txPr>
            <c:showLegendKey val="0"/>
            <c:showVal val="1"/>
            <c:showCatName val="0"/>
            <c:showSerName val="0"/>
            <c:showPercent val="0"/>
            <c:showBubbleSize val="0"/>
            <c:showLeaderLines val="0"/>
          </c:dLbls>
          <c:cat>
            <c:multiLvlStrRef>
              <c:f>Sheet1!$A$2:$A$5</c:f>
              <c:multiLvlStrCache>
                <c:ptCount val="4"/>
                <c:lvl>
                  <c:pt idx="0">
                    <c:v>AUC-ROC</c:v>
                  </c:pt>
                  <c:pt idx="1">
                    <c:v>Précision</c:v>
                  </c:pt>
                  <c:pt idx="2">
                    <c:v>Rappel</c:v>
                  </c:pt>
                  <c:pt idx="3">
                    <c:v>F1-Score</c:v>
                  </c:pt>
                </c:lvl>
              </c:multiLvlStrCache>
            </c:multiLvlStrRef>
          </c:cat>
          <c:val>
            <c:numRef>
              <c:f>Sheet1!$B$2:$B$5</c:f>
              <c:numCache>
                <c:formatCode>General</c:formatCode>
                <c:ptCount val="4"/>
                <c:pt idx="0">
                  <c:v>96.4</c:v>
                </c:pt>
                <c:pt idx="1">
                  <c:v>94.1</c:v>
                </c:pt>
                <c:pt idx="2">
                  <c:v>91.8</c:v>
                </c:pt>
                <c:pt idx="3">
                  <c:v>92.9</c:v>
                </c:pt>
              </c:numCache>
            </c:numRef>
          </c:val>
        </c:ser>
        <c:dLbls>
          <c:numFmt formatCode="#,##0" sourceLinked="0"/>
          <c:txPr>
            <a:bodyPr/>
            <a:lstStyle/>
            <a:p>
              <a:pPr>
                <a:defRPr b="0" i="0" strike="noStrike" sz="1000" u="none">
                  <a:solidFill>
                    <a:srgbClr val="1E3A5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couverture. Présenter FraudGuard comme une réponse concrète aux enjeux de fraude en Afrique de l'Ouest. Insister sur la conformité BCEAO dès l'ouverture.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Contextualiser la problématique : les établissements financiers UEMOA font face à une explosion de la fraude digitale tout en devant se conformer aux exigences strictes de la BCEAO.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3-tiers : frontend Next.js, backend FastAPI, couche IA LightGBM. PostgreSQL pour la persistance, Redis pour la communication temps réel entre services, Keycloak pour l'authentification centralisée.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LightGBM est un algorithme de gradient boosting très performant sur des données tabulaires asymétriques (fraude rare = 1-3% des transactions). AUC-ROC de 0.964 signifie que le modèle distingue correctement fraude vs légitime dans 96.4% des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rôles distincts avec permissions strictement séparées. JWT Keycloak porte le rôle directement. Le tenant admin n'accède qu'aux données de son propre établissement — isolation garantie par le tenant_id dans chaque requête.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de bord se rafraîchit toutes les 30 secondes. Les 4 KPIs en haut (transactions, fraudes, taux, modèle) sont calculés en temps réel depuis la base de données. Le graphique d'activité montre les 14 derniers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de scoring est entièrement asynchrone. Le résultat est disponible en moins de 50ms. Les alertes sont poussées en temps réel via SSE (Server-Sent Events) sans que l'analyste ait besoin de recharger la page. Trois actions possibles : confirmer, mettre en attente, ou rejeter comme faux positif.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SSE est préféré à WebSocket car il est unidirectionnel (serveur → client), traverse mieux les proxies et load balancers, et supporte la reconnexion native. Redis Pub/Sub permet le fan-out horizontal si plusieurs instances backend tournent.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exports sont en streaming — pas de chargement de 500k lignes en RAM. Le BOM UTF-8 permet à Excel d'ouvrir directement les CSV en France/Afrique sans problème d'encodage. Chaque export est tracé dans le journal d'audit pour garantir l'imputabilité.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portail client est une interface Next.js distincte (route group /portal) qui partage le même déploiement mais avec un layout, une navigation et des couleurs différentes. Le tenant_admin est redirigé automatiquement vers /portal après login, l'admin vers le dashboard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contrôles de sécurité alignés OWASP Top 10. L'isolation tenant est le contrôle le plus critique : chaque query SQL inclut un filtre tenant_id qui ne peut pas être contourné par l'utilisateur. Le rate limiting a un fallback en mémoire — pas de fail-open si Redis tombe.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Matrice complète des droits par rôle. Le tableau montre la granularité du contrôle d'accès. Un analyste peut qualifier des alertes mais ne peut pas exporter. Un compliance officer peut tout lire et exporter mais ne peut pas modifier les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roadmap Q3 2026 est déjà en cours de développement. Prioriser les features à haute valeur réglementaire (explainabilité SHAP pour justifier les décisions d'alerte aux auditeurs BCEAO).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conclusion. FraudGuard est une solution complète, opérationnelle, alignée BCEAO. Ouverture sur les prochaines étapes et invitation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863840" y="-91440"/>
            <a:ext cx="1097280" cy="1097280"/>
          </a:xfrm>
          <a:prstGeom prst="ellipse">
            <a:avLst/>
          </a:prstGeom>
          <a:solidFill>
            <a:srgbClr val="2D5282">
              <a:alpha val="30000"/>
            </a:srgbClr>
          </a:solidFill>
          <a:ln w="12700">
            <a:solidFill>
              <a:srgbClr val="0EA5E9">
                <a:alpha val="40000"/>
              </a:srgbClr>
            </a:solidFill>
            <a:prstDash val="solid"/>
          </a:ln>
        </p:spPr>
      </p:sp>
      <p:sp>
        <p:nvSpPr>
          <p:cNvPr id="3" name="Shape 1"/>
          <p:cNvSpPr/>
          <p:nvPr/>
        </p:nvSpPr>
        <p:spPr>
          <a:xfrm>
            <a:off x="8321040" y="731520"/>
            <a:ext cx="1097280" cy="1097280"/>
          </a:xfrm>
          <a:prstGeom prst="ellipse">
            <a:avLst/>
          </a:prstGeom>
          <a:solidFill>
            <a:srgbClr val="2D5282">
              <a:alpha val="30000"/>
            </a:srgbClr>
          </a:solidFill>
          <a:ln w="12700">
            <a:solidFill>
              <a:srgbClr val="0EA5E9">
                <a:alpha val="40000"/>
              </a:srgbClr>
            </a:solidFill>
            <a:prstDash val="solid"/>
          </a:ln>
        </p:spPr>
      </p:sp>
      <p:sp>
        <p:nvSpPr>
          <p:cNvPr id="4" name="Shape 2"/>
          <p:cNvSpPr/>
          <p:nvPr/>
        </p:nvSpPr>
        <p:spPr>
          <a:xfrm>
            <a:off x="7406640" y="1371600"/>
            <a:ext cx="1097280" cy="1097280"/>
          </a:xfrm>
          <a:prstGeom prst="ellipse">
            <a:avLst/>
          </a:prstGeom>
          <a:solidFill>
            <a:srgbClr val="2D5282">
              <a:alpha val="30000"/>
            </a:srgbClr>
          </a:solidFill>
          <a:ln w="12700">
            <a:solidFill>
              <a:srgbClr val="0EA5E9">
                <a:alpha val="40000"/>
              </a:srgbClr>
            </a:solidFill>
            <a:prstDash val="solid"/>
          </a:ln>
        </p:spPr>
      </p:sp>
      <p:sp>
        <p:nvSpPr>
          <p:cNvPr id="5" name="Shape 3"/>
          <p:cNvSpPr/>
          <p:nvPr/>
        </p:nvSpPr>
        <p:spPr>
          <a:xfrm>
            <a:off x="8046720" y="2011680"/>
            <a:ext cx="1097280" cy="1097280"/>
          </a:xfrm>
          <a:prstGeom prst="ellipse">
            <a:avLst/>
          </a:prstGeom>
          <a:solidFill>
            <a:srgbClr val="2D5282">
              <a:alpha val="30000"/>
            </a:srgbClr>
          </a:solidFill>
          <a:ln w="12700">
            <a:solidFill>
              <a:srgbClr val="0EA5E9">
                <a:alpha val="40000"/>
              </a:srgbClr>
            </a:solidFill>
            <a:prstDash val="solid"/>
          </a:ln>
        </p:spPr>
      </p:sp>
      <p:sp>
        <p:nvSpPr>
          <p:cNvPr id="6" name="Shape 4"/>
          <p:cNvSpPr/>
          <p:nvPr/>
        </p:nvSpPr>
        <p:spPr>
          <a:xfrm>
            <a:off x="6949440" y="-365760"/>
            <a:ext cx="1097280" cy="1097280"/>
          </a:xfrm>
          <a:prstGeom prst="ellipse">
            <a:avLst/>
          </a:prstGeom>
          <a:solidFill>
            <a:srgbClr val="2D5282">
              <a:alpha val="30000"/>
            </a:srgbClr>
          </a:solidFill>
          <a:ln w="12700">
            <a:solidFill>
              <a:srgbClr val="0EA5E9">
                <a:alpha val="40000"/>
              </a:srgbClr>
            </a:solidFill>
            <a:prstDash val="solid"/>
          </a:ln>
        </p:spPr>
      </p:sp>
      <p:sp>
        <p:nvSpPr>
          <p:cNvPr id="7" name="Shape 5"/>
          <p:cNvSpPr/>
          <p:nvPr/>
        </p:nvSpPr>
        <p:spPr>
          <a:xfrm>
            <a:off x="6858000" y="-457200"/>
            <a:ext cx="3657600" cy="3657600"/>
          </a:xfrm>
          <a:prstGeom prst="ellipse">
            <a:avLst/>
          </a:prstGeom>
          <a:solidFill>
            <a:srgbClr val="2D5282">
              <a:alpha val="35000"/>
            </a:srgbClr>
          </a:solidFill>
          <a:ln w="12700">
            <a:solidFill>
              <a:srgbClr val="0EA5E9">
                <a:alpha val="60000"/>
              </a:srgbClr>
            </a:solidFill>
            <a:prstDash val="solid"/>
          </a:ln>
        </p:spPr>
      </p:sp>
      <p:sp>
        <p:nvSpPr>
          <p:cNvPr id="8" name="Shape 6"/>
          <p:cNvSpPr/>
          <p:nvPr/>
        </p:nvSpPr>
        <p:spPr>
          <a:xfrm>
            <a:off x="365760" y="1371600"/>
            <a:ext cx="1645920" cy="1645920"/>
          </a:xfrm>
          <a:prstGeom prst="ellipse">
            <a:avLst/>
          </a:prstGeom>
          <a:solidFill>
            <a:srgbClr val="0EA5E9">
              <a:alpha val="15000"/>
            </a:srgbClr>
          </a:solidFill>
          <a:ln w="12700">
            <a:solidFill>
              <a:srgbClr val="0EA5E9">
                <a:alpha val="70000"/>
              </a:srgbClr>
            </a:solidFill>
            <a:prstDash val="solid"/>
          </a:ln>
        </p:spPr>
      </p:sp>
      <p:sp>
        <p:nvSpPr>
          <p:cNvPr id="9" name="Text 7"/>
          <p:cNvSpPr/>
          <p:nvPr/>
        </p:nvSpPr>
        <p:spPr>
          <a:xfrm>
            <a:off x="365760" y="1325880"/>
            <a:ext cx="1645920" cy="1645920"/>
          </a:xfrm>
          <a:prstGeom prst="rect">
            <a:avLst/>
          </a:prstGeom>
          <a:noFill/>
          <a:ln/>
        </p:spPr>
        <p:txBody>
          <a:bodyPr wrap="square" lIns="0" tIns="0" rIns="0" bIns="0" rtlCol="0" anchor="ctr"/>
          <a:lstStyle/>
          <a:p>
            <a:pPr algn="ctr" indent="0" marL="0">
              <a:buNone/>
            </a:pPr>
            <a:r>
              <a:rPr lang="en-US" sz="5200" dirty="0">
                <a:solidFill>
                  <a:srgbClr val="000000"/>
                </a:solidFill>
                <a:latin typeface="Arial" pitchFamily="34" charset="0"/>
                <a:ea typeface="Arial" pitchFamily="34" charset="-122"/>
                <a:cs typeface="Arial" pitchFamily="34" charset="-120"/>
              </a:rPr>
              <a:t>🛡️</a:t>
            </a:r>
            <a:endParaRPr lang="en-US" sz="5200" dirty="0"/>
          </a:p>
        </p:txBody>
      </p:sp>
      <p:sp>
        <p:nvSpPr>
          <p:cNvPr id="10" name="Text 8"/>
          <p:cNvSpPr/>
          <p:nvPr/>
        </p:nvSpPr>
        <p:spPr>
          <a:xfrm>
            <a:off x="457200" y="502920"/>
            <a:ext cx="68580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FraudGuard</a:t>
            </a:r>
            <a:endParaRPr lang="en-US" sz="6000" dirty="0"/>
          </a:p>
        </p:txBody>
      </p:sp>
      <p:sp>
        <p:nvSpPr>
          <p:cNvPr id="11" name="Shape 9"/>
          <p:cNvSpPr/>
          <p:nvPr/>
        </p:nvSpPr>
        <p:spPr>
          <a:xfrm>
            <a:off x="457200" y="1426464"/>
            <a:ext cx="2926080" cy="64008"/>
          </a:xfrm>
          <a:prstGeom prst="rect">
            <a:avLst/>
          </a:prstGeom>
          <a:solidFill>
            <a:srgbClr val="0EA5E9"/>
          </a:solidFill>
          <a:ln w="12700">
            <a:solidFill>
              <a:srgbClr val="0EA5E9"/>
            </a:solidFill>
            <a:prstDash val="solid"/>
          </a:ln>
        </p:spPr>
      </p:sp>
      <p:sp>
        <p:nvSpPr>
          <p:cNvPr id="12" name="Text 10"/>
          <p:cNvSpPr/>
          <p:nvPr/>
        </p:nvSpPr>
        <p:spPr>
          <a:xfrm>
            <a:off x="2286000" y="1554480"/>
            <a:ext cx="6400800" cy="914400"/>
          </a:xfrm>
          <a:prstGeom prst="rect">
            <a:avLst/>
          </a:prstGeom>
          <a:noFill/>
          <a:ln/>
        </p:spPr>
        <p:txBody>
          <a:bodyPr wrap="square" lIns="0" tIns="0" rIns="0" bIns="0" rtlCol="0" anchor="ctr"/>
          <a:lstStyle/>
          <a:p>
            <a:pPr indent="0" marL="0">
              <a:buNone/>
            </a:pPr>
            <a:r>
              <a:rPr lang="en-US" sz="2000" dirty="0">
                <a:solidFill>
                  <a:srgbClr val="38BDF8"/>
                </a:solidFill>
                <a:latin typeface="Calibri" pitchFamily="34" charset="0"/>
                <a:ea typeface="Calibri" pitchFamily="34" charset="-122"/>
                <a:cs typeface="Calibri" pitchFamily="34" charset="-120"/>
              </a:rPr>
              <a:t>Plateforme de Détection de Fraude</a:t>
            </a:r>
            <a:endParaRPr lang="en-US" sz="2000" dirty="0"/>
          </a:p>
          <a:p>
            <a:pPr indent="0" marL="0">
              <a:buNone/>
            </a:pPr>
            <a:r>
              <a:rPr lang="en-US" sz="2000" dirty="0">
                <a:solidFill>
                  <a:srgbClr val="38BDF8"/>
                </a:solidFill>
                <a:latin typeface="Calibri" pitchFamily="34" charset="0"/>
                <a:ea typeface="Calibri" pitchFamily="34" charset="-122"/>
                <a:cs typeface="Calibri" pitchFamily="34" charset="-120"/>
              </a:rPr>
              <a:t>en Temps Réel</a:t>
            </a:r>
            <a:endParaRPr lang="en-US" sz="2000" dirty="0"/>
          </a:p>
        </p:txBody>
      </p:sp>
      <p:sp>
        <p:nvSpPr>
          <p:cNvPr id="13" name="Shape 11"/>
          <p:cNvSpPr/>
          <p:nvPr/>
        </p:nvSpPr>
        <p:spPr>
          <a:xfrm>
            <a:off x="457200" y="2788920"/>
            <a:ext cx="2011680" cy="347472"/>
          </a:xfrm>
          <a:prstGeom prst="rect">
            <a:avLst>
              <a:gd name="adj" fmla="val 21053"/>
            </a:avLst>
          </a:prstGeom>
          <a:solidFill>
            <a:srgbClr val="2D5282"/>
          </a:solidFill>
          <a:ln w="12700">
            <a:solidFill>
              <a:srgbClr val="0EA5E9"/>
            </a:solidFill>
            <a:prstDash val="solid"/>
          </a:ln>
        </p:spPr>
      </p:sp>
      <p:sp>
        <p:nvSpPr>
          <p:cNvPr id="14" name="Text 12"/>
          <p:cNvSpPr/>
          <p:nvPr/>
        </p:nvSpPr>
        <p:spPr>
          <a:xfrm>
            <a:off x="457200" y="2779776"/>
            <a:ext cx="2011680" cy="347472"/>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Intelligence Artificielle</a:t>
            </a:r>
            <a:endParaRPr lang="en-US" sz="1100" dirty="0"/>
          </a:p>
        </p:txBody>
      </p:sp>
      <p:sp>
        <p:nvSpPr>
          <p:cNvPr id="15" name="Shape 13"/>
          <p:cNvSpPr/>
          <p:nvPr/>
        </p:nvSpPr>
        <p:spPr>
          <a:xfrm>
            <a:off x="2624328" y="2788920"/>
            <a:ext cx="2011680" cy="347472"/>
          </a:xfrm>
          <a:prstGeom prst="rect">
            <a:avLst>
              <a:gd name="adj" fmla="val 21053"/>
            </a:avLst>
          </a:prstGeom>
          <a:solidFill>
            <a:srgbClr val="2D5282"/>
          </a:solidFill>
          <a:ln w="12700">
            <a:solidFill>
              <a:srgbClr val="0EA5E9"/>
            </a:solidFill>
            <a:prstDash val="solid"/>
          </a:ln>
        </p:spPr>
      </p:sp>
      <p:sp>
        <p:nvSpPr>
          <p:cNvPr id="16" name="Text 14"/>
          <p:cNvSpPr/>
          <p:nvPr/>
        </p:nvSpPr>
        <p:spPr>
          <a:xfrm>
            <a:off x="2624328" y="2779776"/>
            <a:ext cx="2011680" cy="347472"/>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Conformité BCEAO</a:t>
            </a:r>
            <a:endParaRPr lang="en-US" sz="1100" dirty="0"/>
          </a:p>
        </p:txBody>
      </p:sp>
      <p:sp>
        <p:nvSpPr>
          <p:cNvPr id="17" name="Shape 15"/>
          <p:cNvSpPr/>
          <p:nvPr/>
        </p:nvSpPr>
        <p:spPr>
          <a:xfrm>
            <a:off x="4791456" y="2788920"/>
            <a:ext cx="2011680" cy="347472"/>
          </a:xfrm>
          <a:prstGeom prst="rect">
            <a:avLst>
              <a:gd name="adj" fmla="val 21053"/>
            </a:avLst>
          </a:prstGeom>
          <a:solidFill>
            <a:srgbClr val="2D5282"/>
          </a:solidFill>
          <a:ln w="12700">
            <a:solidFill>
              <a:srgbClr val="0EA5E9"/>
            </a:solidFill>
            <a:prstDash val="solid"/>
          </a:ln>
        </p:spPr>
      </p:sp>
      <p:sp>
        <p:nvSpPr>
          <p:cNvPr id="18" name="Text 16"/>
          <p:cNvSpPr/>
          <p:nvPr/>
        </p:nvSpPr>
        <p:spPr>
          <a:xfrm>
            <a:off x="4791456" y="2779776"/>
            <a:ext cx="2011680" cy="347472"/>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Temps Réel</a:t>
            </a:r>
            <a:endParaRPr lang="en-US" sz="1100" dirty="0"/>
          </a:p>
        </p:txBody>
      </p:sp>
      <p:sp>
        <p:nvSpPr>
          <p:cNvPr id="19" name="Shape 17"/>
          <p:cNvSpPr/>
          <p:nvPr/>
        </p:nvSpPr>
        <p:spPr>
          <a:xfrm>
            <a:off x="6958584" y="2788920"/>
            <a:ext cx="2011680" cy="347472"/>
          </a:xfrm>
          <a:prstGeom prst="rect">
            <a:avLst>
              <a:gd name="adj" fmla="val 21053"/>
            </a:avLst>
          </a:prstGeom>
          <a:solidFill>
            <a:srgbClr val="2D5282"/>
          </a:solidFill>
          <a:ln w="12700">
            <a:solidFill>
              <a:srgbClr val="0EA5E9"/>
            </a:solidFill>
            <a:prstDash val="solid"/>
          </a:ln>
        </p:spPr>
      </p:sp>
      <p:sp>
        <p:nvSpPr>
          <p:cNvPr id="20" name="Text 18"/>
          <p:cNvSpPr/>
          <p:nvPr/>
        </p:nvSpPr>
        <p:spPr>
          <a:xfrm>
            <a:off x="6958584" y="2779776"/>
            <a:ext cx="2011680" cy="347472"/>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Multi-Tenant</a:t>
            </a:r>
            <a:endParaRPr lang="en-US" sz="1100" dirty="0"/>
          </a:p>
        </p:txBody>
      </p:sp>
      <p:sp>
        <p:nvSpPr>
          <p:cNvPr id="21" name="Shape 19"/>
          <p:cNvSpPr/>
          <p:nvPr/>
        </p:nvSpPr>
        <p:spPr>
          <a:xfrm>
            <a:off x="0" y="4389120"/>
            <a:ext cx="9144000" cy="754380"/>
          </a:xfrm>
          <a:prstGeom prst="rect">
            <a:avLst/>
          </a:prstGeom>
          <a:solidFill>
            <a:srgbClr val="1E3A5F"/>
          </a:solidFill>
          <a:ln w="12700">
            <a:solidFill>
              <a:srgbClr val="1E3A5F"/>
            </a:solidFill>
            <a:prstDash val="solid"/>
          </a:ln>
        </p:spPr>
      </p:sp>
      <p:sp>
        <p:nvSpPr>
          <p:cNvPr id="22" name="Text 20"/>
          <p:cNvSpPr/>
          <p:nvPr/>
        </p:nvSpPr>
        <p:spPr>
          <a:xfrm>
            <a:off x="457200" y="4434840"/>
            <a:ext cx="8229600" cy="5486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Box Africa · Juin 2026 · Confidentiel — Réservé aux équipes de direction et de conformité</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Contexte &amp; Enjeux</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La fraude financière en Afrique de l'Ouest — un défi réglementaire et opérationnel</a:t>
            </a:r>
            <a:endParaRPr lang="en-US" sz="1300" dirty="0"/>
          </a:p>
        </p:txBody>
      </p:sp>
      <p:sp>
        <p:nvSpPr>
          <p:cNvPr id="5" name="Shape 3"/>
          <p:cNvSpPr/>
          <p:nvPr/>
        </p:nvSpPr>
        <p:spPr>
          <a:xfrm>
            <a:off x="365760" y="1417320"/>
            <a:ext cx="3931920" cy="960120"/>
          </a:xfrm>
          <a:prstGeom prst="rect">
            <a:avLst>
              <a:gd name="adj" fmla="val 952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02920" y="1508760"/>
            <a:ext cx="640080" cy="64008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7" name="Text 5"/>
          <p:cNvSpPr/>
          <p:nvPr/>
        </p:nvSpPr>
        <p:spPr>
          <a:xfrm>
            <a:off x="1188720" y="1463040"/>
            <a:ext cx="1645920" cy="502920"/>
          </a:xfrm>
          <a:prstGeom prst="rect">
            <a:avLst/>
          </a:prstGeom>
          <a:noFill/>
          <a:ln/>
        </p:spPr>
        <p:txBody>
          <a:bodyPr wrap="square" lIns="0" tIns="0" rIns="0" bIns="0" rtlCol="0" anchor="ctr"/>
          <a:lstStyle/>
          <a:p>
            <a:pPr indent="0" marL="0">
              <a:buNone/>
            </a:pPr>
            <a:r>
              <a:rPr lang="en-US" sz="2600" b="1" dirty="0">
                <a:solidFill>
                  <a:srgbClr val="EF4444"/>
                </a:solidFill>
                <a:latin typeface="Cambria" pitchFamily="34" charset="0"/>
                <a:ea typeface="Cambria" pitchFamily="34" charset="-122"/>
                <a:cs typeface="Cambria" pitchFamily="34" charset="-120"/>
              </a:rPr>
              <a:t>2,8 Mds $</a:t>
            </a:r>
            <a:endParaRPr lang="en-US" sz="2600" dirty="0"/>
          </a:p>
        </p:txBody>
      </p:sp>
      <p:sp>
        <p:nvSpPr>
          <p:cNvPr id="8" name="Text 6"/>
          <p:cNvSpPr/>
          <p:nvPr/>
        </p:nvSpPr>
        <p:spPr>
          <a:xfrm>
            <a:off x="1188720" y="1911096"/>
            <a:ext cx="28346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pertes annuelles fraude</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mobile money UEMOA</a:t>
            </a:r>
            <a:endParaRPr lang="en-US" sz="1100" dirty="0"/>
          </a:p>
        </p:txBody>
      </p:sp>
      <p:sp>
        <p:nvSpPr>
          <p:cNvPr id="9" name="Shape 7"/>
          <p:cNvSpPr/>
          <p:nvPr/>
        </p:nvSpPr>
        <p:spPr>
          <a:xfrm>
            <a:off x="365760" y="2560320"/>
            <a:ext cx="3931920" cy="960120"/>
          </a:xfrm>
          <a:prstGeom prst="rect">
            <a:avLst>
              <a:gd name="adj" fmla="val 952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02920" y="2651760"/>
            <a:ext cx="640080" cy="64008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1" name="Text 9"/>
          <p:cNvSpPr/>
          <p:nvPr/>
        </p:nvSpPr>
        <p:spPr>
          <a:xfrm>
            <a:off x="1188720" y="2606040"/>
            <a:ext cx="1645920" cy="502920"/>
          </a:xfrm>
          <a:prstGeom prst="rect">
            <a:avLst/>
          </a:prstGeom>
          <a:noFill/>
          <a:ln/>
        </p:spPr>
        <p:txBody>
          <a:bodyPr wrap="square" lIns="0" tIns="0" rIns="0" bIns="0" rtlCol="0" anchor="ctr"/>
          <a:lstStyle/>
          <a:p>
            <a:pPr indent="0" marL="0">
              <a:buNone/>
            </a:pPr>
            <a:r>
              <a:rPr lang="en-US" sz="2600" b="1" dirty="0">
                <a:solidFill>
                  <a:srgbClr val="F59E0B"/>
                </a:solidFill>
                <a:latin typeface="Cambria" pitchFamily="34" charset="0"/>
                <a:ea typeface="Cambria" pitchFamily="34" charset="-122"/>
                <a:cs typeface="Cambria" pitchFamily="34" charset="-120"/>
              </a:rPr>
              <a:t>+340%</a:t>
            </a:r>
            <a:endParaRPr lang="en-US" sz="2600" dirty="0"/>
          </a:p>
        </p:txBody>
      </p:sp>
      <p:sp>
        <p:nvSpPr>
          <p:cNvPr id="12" name="Text 10"/>
          <p:cNvSpPr/>
          <p:nvPr/>
        </p:nvSpPr>
        <p:spPr>
          <a:xfrm>
            <a:off x="1188720" y="3054096"/>
            <a:ext cx="28346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croissance des fraudes</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digitales 2022–2025</a:t>
            </a:r>
            <a:endParaRPr lang="en-US" sz="1100" dirty="0"/>
          </a:p>
        </p:txBody>
      </p:sp>
      <p:sp>
        <p:nvSpPr>
          <p:cNvPr id="13" name="Shape 11"/>
          <p:cNvSpPr/>
          <p:nvPr/>
        </p:nvSpPr>
        <p:spPr>
          <a:xfrm>
            <a:off x="365760" y="3703320"/>
            <a:ext cx="3931920" cy="960120"/>
          </a:xfrm>
          <a:prstGeom prst="rect">
            <a:avLst>
              <a:gd name="adj" fmla="val 952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502920" y="3794760"/>
            <a:ext cx="640080" cy="64008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5" name="Text 13"/>
          <p:cNvSpPr/>
          <p:nvPr/>
        </p:nvSpPr>
        <p:spPr>
          <a:xfrm>
            <a:off x="1188720" y="3749040"/>
            <a:ext cx="1645920" cy="502920"/>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68%</a:t>
            </a:r>
            <a:endParaRPr lang="en-US" sz="2600" dirty="0"/>
          </a:p>
        </p:txBody>
      </p:sp>
      <p:sp>
        <p:nvSpPr>
          <p:cNvPr id="16" name="Text 14"/>
          <p:cNvSpPr/>
          <p:nvPr/>
        </p:nvSpPr>
        <p:spPr>
          <a:xfrm>
            <a:off x="1188720" y="4197096"/>
            <a:ext cx="28346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des fraudes via</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le canal mobile</a:t>
            </a:r>
            <a:endParaRPr lang="en-US" sz="1100" dirty="0"/>
          </a:p>
        </p:txBody>
      </p:sp>
      <p:sp>
        <p:nvSpPr>
          <p:cNvPr id="17" name="Shape 15"/>
          <p:cNvSpPr/>
          <p:nvPr/>
        </p:nvSpPr>
        <p:spPr>
          <a:xfrm>
            <a:off x="4572000" y="1371600"/>
            <a:ext cx="4297680" cy="3520440"/>
          </a:xfrm>
          <a:prstGeom prst="rect">
            <a:avLst>
              <a:gd name="adj" fmla="val 2597"/>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4572000" y="1371600"/>
            <a:ext cx="4297680" cy="594360"/>
          </a:xfrm>
          <a:prstGeom prst="rect">
            <a:avLst>
              <a:gd name="adj" fmla="val 15385"/>
            </a:avLst>
          </a:prstGeom>
          <a:solidFill>
            <a:srgbClr val="1E3A5F"/>
          </a:solidFill>
          <a:ln w="12700">
            <a:solidFill>
              <a:srgbClr val="1E3A5F"/>
            </a:solidFill>
            <a:prstDash val="solid"/>
          </a:ln>
        </p:spPr>
      </p:sp>
      <p:sp>
        <p:nvSpPr>
          <p:cNvPr id="19" name="Shape 17"/>
          <p:cNvSpPr/>
          <p:nvPr/>
        </p:nvSpPr>
        <p:spPr>
          <a:xfrm>
            <a:off x="4572000" y="1737360"/>
            <a:ext cx="4297680" cy="228600"/>
          </a:xfrm>
          <a:prstGeom prst="rect">
            <a:avLst/>
          </a:prstGeom>
          <a:solidFill>
            <a:srgbClr val="1E3A5F"/>
          </a:solidFill>
          <a:ln w="12700">
            <a:solidFill>
              <a:srgbClr val="1E3A5F"/>
            </a:solidFill>
            <a:prstDash val="solid"/>
          </a:ln>
        </p:spPr>
      </p:sp>
      <p:sp>
        <p:nvSpPr>
          <p:cNvPr id="20" name="Text 18"/>
          <p:cNvSpPr/>
          <p:nvPr/>
        </p:nvSpPr>
        <p:spPr>
          <a:xfrm>
            <a:off x="4709160" y="1408176"/>
            <a:ext cx="402336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  Obligations BCEAO</a:t>
            </a:r>
            <a:endParaRPr lang="en-US" sz="1500" dirty="0"/>
          </a:p>
        </p:txBody>
      </p:sp>
      <p:sp>
        <p:nvSpPr>
          <p:cNvPr id="21" name="Text 19"/>
          <p:cNvSpPr/>
          <p:nvPr/>
        </p:nvSpPr>
        <p:spPr>
          <a:xfrm>
            <a:off x="4754880" y="2075688"/>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5074920" y="2075688"/>
            <a:ext cx="3566160" cy="256032"/>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Instruction 008-05-2015</a:t>
            </a:r>
            <a:endParaRPr lang="en-US" sz="1200" dirty="0"/>
          </a:p>
        </p:txBody>
      </p:sp>
      <p:sp>
        <p:nvSpPr>
          <p:cNvPr id="23" name="Text 21"/>
          <p:cNvSpPr/>
          <p:nvPr/>
        </p:nvSpPr>
        <p:spPr>
          <a:xfrm>
            <a:off x="5074920" y="2322576"/>
            <a:ext cx="356616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Conservation des données 5 ans</a:t>
            </a:r>
            <a:endParaRPr lang="en-US" sz="1050" dirty="0"/>
          </a:p>
        </p:txBody>
      </p:sp>
      <p:sp>
        <p:nvSpPr>
          <p:cNvPr id="24" name="Text 22"/>
          <p:cNvSpPr/>
          <p:nvPr/>
        </p:nvSpPr>
        <p:spPr>
          <a:xfrm>
            <a:off x="4754880" y="2642616"/>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5074920" y="2642616"/>
            <a:ext cx="3566160" cy="256032"/>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Déclaration mensuelle</a:t>
            </a:r>
            <a:endParaRPr lang="en-US" sz="1200" dirty="0"/>
          </a:p>
        </p:txBody>
      </p:sp>
      <p:sp>
        <p:nvSpPr>
          <p:cNvPr id="26" name="Text 24"/>
          <p:cNvSpPr/>
          <p:nvPr/>
        </p:nvSpPr>
        <p:spPr>
          <a:xfrm>
            <a:off x="5074920" y="2889504"/>
            <a:ext cx="356616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Transactions suspectes ≥ seuil</a:t>
            </a:r>
            <a:endParaRPr lang="en-US" sz="1050" dirty="0"/>
          </a:p>
        </p:txBody>
      </p:sp>
      <p:sp>
        <p:nvSpPr>
          <p:cNvPr id="27" name="Text 25"/>
          <p:cNvSpPr/>
          <p:nvPr/>
        </p:nvSpPr>
        <p:spPr>
          <a:xfrm>
            <a:off x="4754880" y="3209544"/>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Arial" pitchFamily="34" charset="0"/>
                <a:ea typeface="Arial" pitchFamily="34" charset="-122"/>
                <a:cs typeface="Arial" pitchFamily="34" charset="-120"/>
              </a:rPr>
              <a:t>✓</a:t>
            </a:r>
            <a:endParaRPr lang="en-US" sz="1400" dirty="0"/>
          </a:p>
        </p:txBody>
      </p:sp>
      <p:sp>
        <p:nvSpPr>
          <p:cNvPr id="28" name="Text 26"/>
          <p:cNvSpPr/>
          <p:nvPr/>
        </p:nvSpPr>
        <p:spPr>
          <a:xfrm>
            <a:off x="5074920" y="3209544"/>
            <a:ext cx="3566160" cy="256032"/>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Journal d'audit</a:t>
            </a:r>
            <a:endParaRPr lang="en-US" sz="1200" dirty="0"/>
          </a:p>
        </p:txBody>
      </p:sp>
      <p:sp>
        <p:nvSpPr>
          <p:cNvPr id="29" name="Text 27"/>
          <p:cNvSpPr/>
          <p:nvPr/>
        </p:nvSpPr>
        <p:spPr>
          <a:xfrm>
            <a:off x="5074920" y="3456432"/>
            <a:ext cx="356616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Traçabilité des actions sur alertes</a:t>
            </a:r>
            <a:endParaRPr lang="en-US" sz="1050" dirty="0"/>
          </a:p>
        </p:txBody>
      </p:sp>
      <p:sp>
        <p:nvSpPr>
          <p:cNvPr id="30" name="Text 28"/>
          <p:cNvSpPr/>
          <p:nvPr/>
        </p:nvSpPr>
        <p:spPr>
          <a:xfrm>
            <a:off x="4754880" y="3776472"/>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Arial" pitchFamily="34" charset="0"/>
                <a:ea typeface="Arial" pitchFamily="34" charset="-122"/>
                <a:cs typeface="Arial" pitchFamily="34" charset="-120"/>
              </a:rPr>
              <a:t>✓</a:t>
            </a:r>
            <a:endParaRPr lang="en-US" sz="1400" dirty="0"/>
          </a:p>
        </p:txBody>
      </p:sp>
      <p:sp>
        <p:nvSpPr>
          <p:cNvPr id="31" name="Text 29"/>
          <p:cNvSpPr/>
          <p:nvPr/>
        </p:nvSpPr>
        <p:spPr>
          <a:xfrm>
            <a:off x="5074920" y="3776472"/>
            <a:ext cx="3566160" cy="256032"/>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Rapport de conformité</a:t>
            </a:r>
            <a:endParaRPr lang="en-US" sz="1200" dirty="0"/>
          </a:p>
        </p:txBody>
      </p:sp>
      <p:sp>
        <p:nvSpPr>
          <p:cNvPr id="32" name="Text 30"/>
          <p:cNvSpPr/>
          <p:nvPr/>
        </p:nvSpPr>
        <p:spPr>
          <a:xfrm>
            <a:off x="5074920" y="4023360"/>
            <a:ext cx="356616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Taux de fraude &amp; pseudonymisation</a:t>
            </a:r>
            <a:endParaRPr lang="en-US" sz="1050" dirty="0"/>
          </a:p>
        </p:txBody>
      </p:sp>
      <p:sp>
        <p:nvSpPr>
          <p:cNvPr id="33" name="Text 31"/>
          <p:cNvSpPr/>
          <p:nvPr/>
        </p:nvSpPr>
        <p:spPr>
          <a:xfrm>
            <a:off x="4754880" y="4343400"/>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Arial" pitchFamily="34" charset="0"/>
                <a:ea typeface="Arial" pitchFamily="34" charset="-122"/>
                <a:cs typeface="Arial" pitchFamily="34" charset="-120"/>
              </a:rPr>
              <a:t>✓</a:t>
            </a:r>
            <a:endParaRPr lang="en-US" sz="1400" dirty="0"/>
          </a:p>
        </p:txBody>
      </p:sp>
      <p:sp>
        <p:nvSpPr>
          <p:cNvPr id="34" name="Text 32"/>
          <p:cNvSpPr/>
          <p:nvPr/>
        </p:nvSpPr>
        <p:spPr>
          <a:xfrm>
            <a:off x="5074920" y="4343400"/>
            <a:ext cx="3566160" cy="256032"/>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Sécurité des données</a:t>
            </a:r>
            <a:endParaRPr lang="en-US" sz="1200" dirty="0"/>
          </a:p>
        </p:txBody>
      </p:sp>
      <p:sp>
        <p:nvSpPr>
          <p:cNvPr id="35" name="Text 33"/>
          <p:cNvSpPr/>
          <p:nvPr/>
        </p:nvSpPr>
        <p:spPr>
          <a:xfrm>
            <a:off x="5074920" y="4590288"/>
            <a:ext cx="356616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Chiffrement &amp; contrôle d'accès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Architecture de la Solution</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Stack technique moderne — scalable, sécurisé, cloud-ready</a:t>
            </a:r>
            <a:endParaRPr lang="en-US" sz="1300" dirty="0"/>
          </a:p>
        </p:txBody>
      </p:sp>
      <p:sp>
        <p:nvSpPr>
          <p:cNvPr id="5" name="Shape 3"/>
          <p:cNvSpPr/>
          <p:nvPr/>
        </p:nvSpPr>
        <p:spPr>
          <a:xfrm>
            <a:off x="320040" y="1417320"/>
            <a:ext cx="2743200" cy="3429000"/>
          </a:xfrm>
          <a:prstGeom prst="rect">
            <a:avLst>
              <a:gd name="adj" fmla="val 3333"/>
            </a:avLst>
          </a:prstGeom>
          <a:solidFill>
            <a:srgbClr val="FFFFFF"/>
          </a:solidFill>
          <a:ln w="12700">
            <a:solidFill>
              <a:srgbClr val="1E3A5F"/>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320040" y="1417320"/>
            <a:ext cx="2743200" cy="594360"/>
          </a:xfrm>
          <a:prstGeom prst="rect">
            <a:avLst>
              <a:gd name="adj" fmla="val 15385"/>
            </a:avLst>
          </a:prstGeom>
          <a:solidFill>
            <a:srgbClr val="1E3A5F"/>
          </a:solidFill>
          <a:ln w="12700">
            <a:solidFill>
              <a:srgbClr val="1E3A5F"/>
            </a:solidFill>
            <a:prstDash val="solid"/>
          </a:ln>
        </p:spPr>
      </p:sp>
      <p:sp>
        <p:nvSpPr>
          <p:cNvPr id="7" name="Shape 5"/>
          <p:cNvSpPr/>
          <p:nvPr/>
        </p:nvSpPr>
        <p:spPr>
          <a:xfrm>
            <a:off x="320040" y="1783080"/>
            <a:ext cx="2743200" cy="228600"/>
          </a:xfrm>
          <a:prstGeom prst="rect">
            <a:avLst/>
          </a:prstGeom>
          <a:solidFill>
            <a:srgbClr val="1E3A5F"/>
          </a:solidFill>
          <a:ln w="12700">
            <a:solidFill>
              <a:srgbClr val="1E3A5F"/>
            </a:solidFill>
            <a:prstDash val="solid"/>
          </a:ln>
        </p:spPr>
      </p:sp>
      <p:sp>
        <p:nvSpPr>
          <p:cNvPr id="8" name="Text 6"/>
          <p:cNvSpPr/>
          <p:nvPr/>
        </p:nvSpPr>
        <p:spPr>
          <a:xfrm>
            <a:off x="411480" y="1463040"/>
            <a:ext cx="256032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Interface Utilisateur</a:t>
            </a:r>
            <a:endParaRPr lang="en-US" sz="1300" dirty="0"/>
          </a:p>
        </p:txBody>
      </p:sp>
      <p:sp>
        <p:nvSpPr>
          <p:cNvPr id="9" name="Shape 7"/>
          <p:cNvSpPr/>
          <p:nvPr/>
        </p:nvSpPr>
        <p:spPr>
          <a:xfrm>
            <a:off x="484632" y="2185416"/>
            <a:ext cx="201168" cy="201168"/>
          </a:xfrm>
          <a:prstGeom prst="ellipse">
            <a:avLst/>
          </a:prstGeom>
          <a:solidFill>
            <a:srgbClr val="1E3A5F"/>
          </a:solidFill>
          <a:ln w="12700">
            <a:solidFill>
              <a:srgbClr val="1E3A5F"/>
            </a:solidFill>
            <a:prstDash val="solid"/>
          </a:ln>
        </p:spPr>
      </p:sp>
      <p:sp>
        <p:nvSpPr>
          <p:cNvPr id="10" name="Text 8"/>
          <p:cNvSpPr/>
          <p:nvPr/>
        </p:nvSpPr>
        <p:spPr>
          <a:xfrm>
            <a:off x="777240" y="214884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Next.js 14 (App Router)</a:t>
            </a:r>
            <a:endParaRPr lang="en-US" sz="1200" dirty="0"/>
          </a:p>
        </p:txBody>
      </p:sp>
      <p:sp>
        <p:nvSpPr>
          <p:cNvPr id="11" name="Shape 9"/>
          <p:cNvSpPr/>
          <p:nvPr/>
        </p:nvSpPr>
        <p:spPr>
          <a:xfrm>
            <a:off x="484632" y="2825496"/>
            <a:ext cx="201168" cy="201168"/>
          </a:xfrm>
          <a:prstGeom prst="ellipse">
            <a:avLst/>
          </a:prstGeom>
          <a:solidFill>
            <a:srgbClr val="1E3A5F"/>
          </a:solidFill>
          <a:ln w="12700">
            <a:solidFill>
              <a:srgbClr val="1E3A5F"/>
            </a:solidFill>
            <a:prstDash val="solid"/>
          </a:ln>
        </p:spPr>
      </p:sp>
      <p:sp>
        <p:nvSpPr>
          <p:cNvPr id="12" name="Text 10"/>
          <p:cNvSpPr/>
          <p:nvPr/>
        </p:nvSpPr>
        <p:spPr>
          <a:xfrm>
            <a:off x="777240" y="278892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Dashboard Admin</a:t>
            </a:r>
            <a:endParaRPr lang="en-US" sz="1200" dirty="0"/>
          </a:p>
        </p:txBody>
      </p:sp>
      <p:sp>
        <p:nvSpPr>
          <p:cNvPr id="13" name="Shape 11"/>
          <p:cNvSpPr/>
          <p:nvPr/>
        </p:nvSpPr>
        <p:spPr>
          <a:xfrm>
            <a:off x="484632" y="3465576"/>
            <a:ext cx="201168" cy="201168"/>
          </a:xfrm>
          <a:prstGeom prst="ellipse">
            <a:avLst/>
          </a:prstGeom>
          <a:solidFill>
            <a:srgbClr val="1E3A5F"/>
          </a:solidFill>
          <a:ln w="12700">
            <a:solidFill>
              <a:srgbClr val="1E3A5F"/>
            </a:solidFill>
            <a:prstDash val="solid"/>
          </a:ln>
        </p:spPr>
      </p:sp>
      <p:sp>
        <p:nvSpPr>
          <p:cNvPr id="14" name="Text 12"/>
          <p:cNvSpPr/>
          <p:nvPr/>
        </p:nvSpPr>
        <p:spPr>
          <a:xfrm>
            <a:off x="777240" y="342900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Portail Client (Tenant)</a:t>
            </a:r>
            <a:endParaRPr lang="en-US" sz="1200" dirty="0"/>
          </a:p>
        </p:txBody>
      </p:sp>
      <p:sp>
        <p:nvSpPr>
          <p:cNvPr id="15" name="Shape 13"/>
          <p:cNvSpPr/>
          <p:nvPr/>
        </p:nvSpPr>
        <p:spPr>
          <a:xfrm>
            <a:off x="484632" y="4105656"/>
            <a:ext cx="201168" cy="201168"/>
          </a:xfrm>
          <a:prstGeom prst="ellipse">
            <a:avLst/>
          </a:prstGeom>
          <a:solidFill>
            <a:srgbClr val="1E3A5F"/>
          </a:solidFill>
          <a:ln w="12700">
            <a:solidFill>
              <a:srgbClr val="1E3A5F"/>
            </a:solidFill>
            <a:prstDash val="solid"/>
          </a:ln>
        </p:spPr>
      </p:sp>
      <p:sp>
        <p:nvSpPr>
          <p:cNvPr id="16" name="Text 14"/>
          <p:cNvSpPr/>
          <p:nvPr/>
        </p:nvSpPr>
        <p:spPr>
          <a:xfrm>
            <a:off x="777240" y="406908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SSE Notifications temps réel</a:t>
            </a:r>
            <a:endParaRPr lang="en-US" sz="1200" dirty="0"/>
          </a:p>
        </p:txBody>
      </p:sp>
      <p:sp>
        <p:nvSpPr>
          <p:cNvPr id="17" name="Shape 15"/>
          <p:cNvSpPr/>
          <p:nvPr/>
        </p:nvSpPr>
        <p:spPr>
          <a:xfrm>
            <a:off x="3291840" y="1417320"/>
            <a:ext cx="2743200" cy="3429000"/>
          </a:xfrm>
          <a:prstGeom prst="rect">
            <a:avLst>
              <a:gd name="adj" fmla="val 3333"/>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3291840" y="1417320"/>
            <a:ext cx="2743200" cy="594360"/>
          </a:xfrm>
          <a:prstGeom prst="rect">
            <a:avLst>
              <a:gd name="adj" fmla="val 15385"/>
            </a:avLst>
          </a:prstGeom>
          <a:solidFill>
            <a:srgbClr val="0EA5E9"/>
          </a:solidFill>
          <a:ln w="12700">
            <a:solidFill>
              <a:srgbClr val="0EA5E9"/>
            </a:solidFill>
            <a:prstDash val="solid"/>
          </a:ln>
        </p:spPr>
      </p:sp>
      <p:sp>
        <p:nvSpPr>
          <p:cNvPr id="19" name="Shape 17"/>
          <p:cNvSpPr/>
          <p:nvPr/>
        </p:nvSpPr>
        <p:spPr>
          <a:xfrm>
            <a:off x="3291840" y="1783080"/>
            <a:ext cx="2743200" cy="228600"/>
          </a:xfrm>
          <a:prstGeom prst="rect">
            <a:avLst/>
          </a:prstGeom>
          <a:solidFill>
            <a:srgbClr val="0EA5E9"/>
          </a:solidFill>
          <a:ln w="12700">
            <a:solidFill>
              <a:srgbClr val="0EA5E9"/>
            </a:solidFill>
            <a:prstDash val="solid"/>
          </a:ln>
        </p:spPr>
      </p:sp>
      <p:sp>
        <p:nvSpPr>
          <p:cNvPr id="20" name="Text 18"/>
          <p:cNvSpPr/>
          <p:nvPr/>
        </p:nvSpPr>
        <p:spPr>
          <a:xfrm>
            <a:off x="3383280" y="1463040"/>
            <a:ext cx="256032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API Backend</a:t>
            </a:r>
            <a:endParaRPr lang="en-US" sz="1300" dirty="0"/>
          </a:p>
        </p:txBody>
      </p:sp>
      <p:sp>
        <p:nvSpPr>
          <p:cNvPr id="21" name="Shape 19"/>
          <p:cNvSpPr/>
          <p:nvPr/>
        </p:nvSpPr>
        <p:spPr>
          <a:xfrm>
            <a:off x="3456432" y="2185416"/>
            <a:ext cx="201168" cy="201168"/>
          </a:xfrm>
          <a:prstGeom prst="ellipse">
            <a:avLst/>
          </a:prstGeom>
          <a:solidFill>
            <a:srgbClr val="0EA5E9"/>
          </a:solidFill>
          <a:ln w="12700">
            <a:solidFill>
              <a:srgbClr val="0EA5E9"/>
            </a:solidFill>
            <a:prstDash val="solid"/>
          </a:ln>
        </p:spPr>
      </p:sp>
      <p:sp>
        <p:nvSpPr>
          <p:cNvPr id="22" name="Text 20"/>
          <p:cNvSpPr/>
          <p:nvPr/>
        </p:nvSpPr>
        <p:spPr>
          <a:xfrm>
            <a:off x="3749040" y="214884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FastAPI (Python)</a:t>
            </a:r>
            <a:endParaRPr lang="en-US" sz="1200" dirty="0"/>
          </a:p>
        </p:txBody>
      </p:sp>
      <p:sp>
        <p:nvSpPr>
          <p:cNvPr id="23" name="Shape 21"/>
          <p:cNvSpPr/>
          <p:nvPr/>
        </p:nvSpPr>
        <p:spPr>
          <a:xfrm>
            <a:off x="3456432" y="2825496"/>
            <a:ext cx="201168" cy="201168"/>
          </a:xfrm>
          <a:prstGeom prst="ellipse">
            <a:avLst/>
          </a:prstGeom>
          <a:solidFill>
            <a:srgbClr val="0EA5E9"/>
          </a:solidFill>
          <a:ln w="12700">
            <a:solidFill>
              <a:srgbClr val="0EA5E9"/>
            </a:solidFill>
            <a:prstDash val="solid"/>
          </a:ln>
        </p:spPr>
      </p:sp>
      <p:sp>
        <p:nvSpPr>
          <p:cNvPr id="24" name="Text 22"/>
          <p:cNvSpPr/>
          <p:nvPr/>
        </p:nvSpPr>
        <p:spPr>
          <a:xfrm>
            <a:off x="3749040" y="278892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Authentification Keycloak RS256</a:t>
            </a:r>
            <a:endParaRPr lang="en-US" sz="1200" dirty="0"/>
          </a:p>
        </p:txBody>
      </p:sp>
      <p:sp>
        <p:nvSpPr>
          <p:cNvPr id="25" name="Shape 23"/>
          <p:cNvSpPr/>
          <p:nvPr/>
        </p:nvSpPr>
        <p:spPr>
          <a:xfrm>
            <a:off x="3456432" y="3465576"/>
            <a:ext cx="201168" cy="201168"/>
          </a:xfrm>
          <a:prstGeom prst="ellipse">
            <a:avLst/>
          </a:prstGeom>
          <a:solidFill>
            <a:srgbClr val="0EA5E9"/>
          </a:solidFill>
          <a:ln w="12700">
            <a:solidFill>
              <a:srgbClr val="0EA5E9"/>
            </a:solidFill>
            <a:prstDash val="solid"/>
          </a:ln>
        </p:spPr>
      </p:sp>
      <p:sp>
        <p:nvSpPr>
          <p:cNvPr id="26" name="Text 24"/>
          <p:cNvSpPr/>
          <p:nvPr/>
        </p:nvSpPr>
        <p:spPr>
          <a:xfrm>
            <a:off x="3749040" y="342900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Rate limiting &amp; Audit trail</a:t>
            </a:r>
            <a:endParaRPr lang="en-US" sz="1200" dirty="0"/>
          </a:p>
        </p:txBody>
      </p:sp>
      <p:sp>
        <p:nvSpPr>
          <p:cNvPr id="27" name="Shape 25"/>
          <p:cNvSpPr/>
          <p:nvPr/>
        </p:nvSpPr>
        <p:spPr>
          <a:xfrm>
            <a:off x="3456432" y="4105656"/>
            <a:ext cx="201168" cy="201168"/>
          </a:xfrm>
          <a:prstGeom prst="ellipse">
            <a:avLst/>
          </a:prstGeom>
          <a:solidFill>
            <a:srgbClr val="0EA5E9"/>
          </a:solidFill>
          <a:ln w="12700">
            <a:solidFill>
              <a:srgbClr val="0EA5E9"/>
            </a:solidFill>
            <a:prstDash val="solid"/>
          </a:ln>
        </p:spPr>
      </p:sp>
      <p:sp>
        <p:nvSpPr>
          <p:cNvPr id="28" name="Text 26"/>
          <p:cNvSpPr/>
          <p:nvPr/>
        </p:nvSpPr>
        <p:spPr>
          <a:xfrm>
            <a:off x="3749040" y="406908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Streaming CSV BCEAO</a:t>
            </a:r>
            <a:endParaRPr lang="en-US" sz="1200" dirty="0"/>
          </a:p>
        </p:txBody>
      </p:sp>
      <p:sp>
        <p:nvSpPr>
          <p:cNvPr id="29" name="Shape 27"/>
          <p:cNvSpPr/>
          <p:nvPr/>
        </p:nvSpPr>
        <p:spPr>
          <a:xfrm>
            <a:off x="6263640" y="1417320"/>
            <a:ext cx="2743200" cy="3429000"/>
          </a:xfrm>
          <a:prstGeom prst="rect">
            <a:avLst>
              <a:gd name="adj" fmla="val 3333"/>
            </a:avLst>
          </a:prstGeom>
          <a:solidFill>
            <a:srgbClr val="FFFFFF"/>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30" name="Shape 28"/>
          <p:cNvSpPr/>
          <p:nvPr/>
        </p:nvSpPr>
        <p:spPr>
          <a:xfrm>
            <a:off x="6263640" y="1417320"/>
            <a:ext cx="2743200" cy="594360"/>
          </a:xfrm>
          <a:prstGeom prst="rect">
            <a:avLst>
              <a:gd name="adj" fmla="val 15385"/>
            </a:avLst>
          </a:prstGeom>
          <a:solidFill>
            <a:srgbClr val="F59E0B"/>
          </a:solidFill>
          <a:ln w="12700">
            <a:solidFill>
              <a:srgbClr val="F59E0B"/>
            </a:solidFill>
            <a:prstDash val="solid"/>
          </a:ln>
        </p:spPr>
      </p:sp>
      <p:sp>
        <p:nvSpPr>
          <p:cNvPr id="31" name="Shape 29"/>
          <p:cNvSpPr/>
          <p:nvPr/>
        </p:nvSpPr>
        <p:spPr>
          <a:xfrm>
            <a:off x="6263640" y="1783080"/>
            <a:ext cx="2743200" cy="228600"/>
          </a:xfrm>
          <a:prstGeom prst="rect">
            <a:avLst/>
          </a:prstGeom>
          <a:solidFill>
            <a:srgbClr val="F59E0B"/>
          </a:solidFill>
          <a:ln w="12700">
            <a:solidFill>
              <a:srgbClr val="F59E0B"/>
            </a:solidFill>
            <a:prstDash val="solid"/>
          </a:ln>
        </p:spPr>
      </p:sp>
      <p:sp>
        <p:nvSpPr>
          <p:cNvPr id="32" name="Text 30"/>
          <p:cNvSpPr/>
          <p:nvPr/>
        </p:nvSpPr>
        <p:spPr>
          <a:xfrm>
            <a:off x="6355080" y="1463040"/>
            <a:ext cx="256032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Intelligence Artificielle</a:t>
            </a:r>
            <a:endParaRPr lang="en-US" sz="1300" dirty="0"/>
          </a:p>
        </p:txBody>
      </p:sp>
      <p:sp>
        <p:nvSpPr>
          <p:cNvPr id="33" name="Shape 31"/>
          <p:cNvSpPr/>
          <p:nvPr/>
        </p:nvSpPr>
        <p:spPr>
          <a:xfrm>
            <a:off x="6428232" y="2185416"/>
            <a:ext cx="201168" cy="201168"/>
          </a:xfrm>
          <a:prstGeom prst="ellipse">
            <a:avLst/>
          </a:prstGeom>
          <a:solidFill>
            <a:srgbClr val="F59E0B"/>
          </a:solidFill>
          <a:ln w="12700">
            <a:solidFill>
              <a:srgbClr val="F59E0B"/>
            </a:solidFill>
            <a:prstDash val="solid"/>
          </a:ln>
        </p:spPr>
      </p:sp>
      <p:sp>
        <p:nvSpPr>
          <p:cNvPr id="34" name="Text 32"/>
          <p:cNvSpPr/>
          <p:nvPr/>
        </p:nvSpPr>
        <p:spPr>
          <a:xfrm>
            <a:off x="6720840" y="214884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Modèle LightGBM</a:t>
            </a:r>
            <a:endParaRPr lang="en-US" sz="1200" dirty="0"/>
          </a:p>
        </p:txBody>
      </p:sp>
      <p:sp>
        <p:nvSpPr>
          <p:cNvPr id="35" name="Shape 33"/>
          <p:cNvSpPr/>
          <p:nvPr/>
        </p:nvSpPr>
        <p:spPr>
          <a:xfrm>
            <a:off x="6428232" y="2825496"/>
            <a:ext cx="201168" cy="201168"/>
          </a:xfrm>
          <a:prstGeom prst="ellipse">
            <a:avLst/>
          </a:prstGeom>
          <a:solidFill>
            <a:srgbClr val="F59E0B"/>
          </a:solidFill>
          <a:ln w="12700">
            <a:solidFill>
              <a:srgbClr val="F59E0B"/>
            </a:solidFill>
            <a:prstDash val="solid"/>
          </a:ln>
        </p:spPr>
      </p:sp>
      <p:sp>
        <p:nvSpPr>
          <p:cNvPr id="36" name="Text 34"/>
          <p:cNvSpPr/>
          <p:nvPr/>
        </p:nvSpPr>
        <p:spPr>
          <a:xfrm>
            <a:off x="6720840" y="278892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Scoring temps réel &lt; 50ms</a:t>
            </a:r>
            <a:endParaRPr lang="en-US" sz="1200" dirty="0"/>
          </a:p>
        </p:txBody>
      </p:sp>
      <p:sp>
        <p:nvSpPr>
          <p:cNvPr id="37" name="Shape 35"/>
          <p:cNvSpPr/>
          <p:nvPr/>
        </p:nvSpPr>
        <p:spPr>
          <a:xfrm>
            <a:off x="6428232" y="3465576"/>
            <a:ext cx="201168" cy="201168"/>
          </a:xfrm>
          <a:prstGeom prst="ellipse">
            <a:avLst/>
          </a:prstGeom>
          <a:solidFill>
            <a:srgbClr val="F59E0B"/>
          </a:solidFill>
          <a:ln w="12700">
            <a:solidFill>
              <a:srgbClr val="F59E0B"/>
            </a:solidFill>
            <a:prstDash val="solid"/>
          </a:ln>
        </p:spPr>
      </p:sp>
      <p:sp>
        <p:nvSpPr>
          <p:cNvPr id="38" name="Text 36"/>
          <p:cNvSpPr/>
          <p:nvPr/>
        </p:nvSpPr>
        <p:spPr>
          <a:xfrm>
            <a:off x="6720840" y="342900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30 features comportementales</a:t>
            </a:r>
            <a:endParaRPr lang="en-US" sz="1200" dirty="0"/>
          </a:p>
        </p:txBody>
      </p:sp>
      <p:sp>
        <p:nvSpPr>
          <p:cNvPr id="39" name="Shape 37"/>
          <p:cNvSpPr/>
          <p:nvPr/>
        </p:nvSpPr>
        <p:spPr>
          <a:xfrm>
            <a:off x="6428232" y="4105656"/>
            <a:ext cx="201168" cy="201168"/>
          </a:xfrm>
          <a:prstGeom prst="ellipse">
            <a:avLst/>
          </a:prstGeom>
          <a:solidFill>
            <a:srgbClr val="F59E0B"/>
          </a:solidFill>
          <a:ln w="12700">
            <a:solidFill>
              <a:srgbClr val="F59E0B"/>
            </a:solidFill>
            <a:prstDash val="solid"/>
          </a:ln>
        </p:spPr>
      </p:sp>
      <p:sp>
        <p:nvSpPr>
          <p:cNvPr id="40" name="Text 38"/>
          <p:cNvSpPr/>
          <p:nvPr/>
        </p:nvSpPr>
        <p:spPr>
          <a:xfrm>
            <a:off x="6720840" y="4069080"/>
            <a:ext cx="2148840" cy="502920"/>
          </a:xfrm>
          <a:prstGeom prst="rect">
            <a:avLst/>
          </a:prstGeom>
          <a:noFill/>
          <a:ln/>
        </p:spPr>
        <p:txBody>
          <a:bodyPr wrap="square" lIns="0" tIns="0" rIns="0" bIns="0" rtlCol="0" anchor="ctr"/>
          <a:lstStyle/>
          <a:p>
            <a:pPr indent="0" marL="0">
              <a:buNone/>
            </a:pPr>
            <a:r>
              <a:rPr lang="en-US" sz="1200" dirty="0">
                <a:solidFill>
                  <a:srgbClr val="1E3A5F"/>
                </a:solidFill>
                <a:latin typeface="Calibri" pitchFamily="34" charset="0"/>
                <a:ea typeface="Calibri" pitchFamily="34" charset="-122"/>
                <a:cs typeface="Calibri" pitchFamily="34" charset="-120"/>
              </a:rPr>
              <a:t>Version &amp; rotation de modèle</a:t>
            </a:r>
            <a:endParaRPr lang="en-US" sz="1200" dirty="0"/>
          </a:p>
        </p:txBody>
      </p:sp>
      <p:sp>
        <p:nvSpPr>
          <p:cNvPr id="41" name="Shape 39"/>
          <p:cNvSpPr/>
          <p:nvPr/>
        </p:nvSpPr>
        <p:spPr>
          <a:xfrm>
            <a:off x="1234440" y="2743200"/>
            <a:ext cx="228600" cy="0"/>
          </a:xfrm>
          <a:prstGeom prst="LINE">
            <a:avLst/>
          </a:prstGeom>
          <a:noFill/>
          <a:ln w="12700">
            <a:solidFill>
              <a:srgbClr val="94A3B8"/>
            </a:solidFill>
            <a:prstDash val="dash"/>
          </a:ln>
        </p:spPr>
      </p:sp>
      <p:sp>
        <p:nvSpPr>
          <p:cNvPr id="42" name="Text 40"/>
          <p:cNvSpPr/>
          <p:nvPr/>
        </p:nvSpPr>
        <p:spPr>
          <a:xfrm>
            <a:off x="1325880" y="2542032"/>
            <a:ext cx="320040" cy="365760"/>
          </a:xfrm>
          <a:prstGeom prst="rect">
            <a:avLst/>
          </a:prstGeom>
          <a:noFill/>
          <a:ln/>
        </p:spPr>
        <p:txBody>
          <a:bodyPr wrap="square" lIns="0" tIns="0" rIns="0" bIns="0" rtlCol="0" anchor="ctr"/>
          <a:lstStyle/>
          <a:p>
            <a:pPr indent="0" marL="0">
              <a:buNone/>
            </a:pPr>
            <a:r>
              <a:rPr lang="en-US" sz="1800" dirty="0">
                <a:solidFill>
                  <a:srgbClr val="94A3B8"/>
                </a:solidFill>
                <a:latin typeface="Arial" pitchFamily="34" charset="0"/>
                <a:ea typeface="Arial" pitchFamily="34" charset="-122"/>
                <a:cs typeface="Arial" pitchFamily="34" charset="-120"/>
              </a:rPr>
              <a:t>→</a:t>
            </a:r>
            <a:endParaRPr lang="en-US" sz="1800" dirty="0"/>
          </a:p>
        </p:txBody>
      </p:sp>
      <p:sp>
        <p:nvSpPr>
          <p:cNvPr id="43" name="Shape 41"/>
          <p:cNvSpPr/>
          <p:nvPr/>
        </p:nvSpPr>
        <p:spPr>
          <a:xfrm>
            <a:off x="4206240" y="2743200"/>
            <a:ext cx="228600" cy="0"/>
          </a:xfrm>
          <a:prstGeom prst="LINE">
            <a:avLst/>
          </a:prstGeom>
          <a:noFill/>
          <a:ln w="12700">
            <a:solidFill>
              <a:srgbClr val="94A3B8"/>
            </a:solidFill>
            <a:prstDash val="dash"/>
          </a:ln>
        </p:spPr>
      </p:sp>
      <p:sp>
        <p:nvSpPr>
          <p:cNvPr id="44" name="Text 42"/>
          <p:cNvSpPr/>
          <p:nvPr/>
        </p:nvSpPr>
        <p:spPr>
          <a:xfrm>
            <a:off x="4297680" y="2542032"/>
            <a:ext cx="320040" cy="365760"/>
          </a:xfrm>
          <a:prstGeom prst="rect">
            <a:avLst/>
          </a:prstGeom>
          <a:noFill/>
          <a:ln/>
        </p:spPr>
        <p:txBody>
          <a:bodyPr wrap="square" lIns="0" tIns="0" rIns="0" bIns="0" rtlCol="0" anchor="ctr"/>
          <a:lstStyle/>
          <a:p>
            <a:pPr indent="0" marL="0">
              <a:buNone/>
            </a:pPr>
            <a:r>
              <a:rPr lang="en-US" sz="1800" dirty="0">
                <a:solidFill>
                  <a:srgbClr val="94A3B8"/>
                </a:solidFill>
                <a:latin typeface="Arial" pitchFamily="34" charset="0"/>
                <a:ea typeface="Arial" pitchFamily="34" charset="-122"/>
                <a:cs typeface="Arial" pitchFamily="34" charset="-120"/>
              </a:rPr>
              <a:t>→</a:t>
            </a:r>
            <a:endParaRPr lang="en-US" sz="1800" dirty="0"/>
          </a:p>
        </p:txBody>
      </p:sp>
      <p:sp>
        <p:nvSpPr>
          <p:cNvPr id="45" name="Shape 43"/>
          <p:cNvSpPr/>
          <p:nvPr/>
        </p:nvSpPr>
        <p:spPr>
          <a:xfrm>
            <a:off x="320040" y="4617720"/>
            <a:ext cx="8503920" cy="384048"/>
          </a:xfrm>
          <a:prstGeom prst="rect">
            <a:avLst>
              <a:gd name="adj" fmla="val 19048"/>
            </a:avLst>
          </a:prstGeom>
          <a:solidFill>
            <a:srgbClr val="1E3A5F"/>
          </a:solidFill>
          <a:ln w="12700">
            <a:solidFill>
              <a:srgbClr val="1E3A5F"/>
            </a:solidFill>
            <a:prstDash val="solid"/>
          </a:ln>
        </p:spPr>
      </p:sp>
      <p:sp>
        <p:nvSpPr>
          <p:cNvPr id="46" name="Text 44"/>
          <p:cNvSpPr/>
          <p:nvPr/>
        </p:nvSpPr>
        <p:spPr>
          <a:xfrm>
            <a:off x="548640" y="4636008"/>
            <a:ext cx="192024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PostgreSQL</a:t>
            </a:r>
            <a:endParaRPr lang="en-US" sz="1200" dirty="0"/>
          </a:p>
        </p:txBody>
      </p:sp>
      <p:sp>
        <p:nvSpPr>
          <p:cNvPr id="47" name="Text 45"/>
          <p:cNvSpPr/>
          <p:nvPr/>
        </p:nvSpPr>
        <p:spPr>
          <a:xfrm>
            <a:off x="2651760" y="4636008"/>
            <a:ext cx="192024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Redis Pub/Sub</a:t>
            </a:r>
            <a:endParaRPr lang="en-US" sz="1200" dirty="0"/>
          </a:p>
        </p:txBody>
      </p:sp>
      <p:sp>
        <p:nvSpPr>
          <p:cNvPr id="48" name="Text 46"/>
          <p:cNvSpPr/>
          <p:nvPr/>
        </p:nvSpPr>
        <p:spPr>
          <a:xfrm>
            <a:off x="4754880" y="4636008"/>
            <a:ext cx="192024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Keycloak SSO</a:t>
            </a:r>
            <a:endParaRPr lang="en-US" sz="1200" dirty="0"/>
          </a:p>
        </p:txBody>
      </p:sp>
      <p:sp>
        <p:nvSpPr>
          <p:cNvPr id="49" name="Text 47"/>
          <p:cNvSpPr/>
          <p:nvPr/>
        </p:nvSpPr>
        <p:spPr>
          <a:xfrm>
            <a:off x="6858000" y="4636008"/>
            <a:ext cx="192024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Docker / K8s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Modèle d'Intelligence Artificielle</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LightGBM — détection de fraude entraîné sur données UEMOA</a:t>
            </a:r>
            <a:endParaRPr lang="en-US" sz="1300" dirty="0"/>
          </a:p>
        </p:txBody>
      </p:sp>
      <p:sp>
        <p:nvSpPr>
          <p:cNvPr id="5" name="Shape 3"/>
          <p:cNvSpPr/>
          <p:nvPr/>
        </p:nvSpPr>
        <p:spPr>
          <a:xfrm>
            <a:off x="320040" y="1417320"/>
            <a:ext cx="2834640" cy="3520440"/>
          </a:xfrm>
          <a:prstGeom prst="rect">
            <a:avLst>
              <a:gd name="adj" fmla="val 32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457200" y="157276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868680" y="1572768"/>
            <a:ext cx="118872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Algorithme:</a:t>
            </a:r>
            <a:endParaRPr lang="en-US" sz="1100" dirty="0"/>
          </a:p>
        </p:txBody>
      </p:sp>
      <p:sp>
        <p:nvSpPr>
          <p:cNvPr id="8" name="Text 6"/>
          <p:cNvSpPr/>
          <p:nvPr/>
        </p:nvSpPr>
        <p:spPr>
          <a:xfrm>
            <a:off x="868680" y="1819656"/>
            <a:ext cx="21031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LightGBM (Gradient Boosting)</a:t>
            </a:r>
            <a:endParaRPr lang="en-US" sz="1100" dirty="0"/>
          </a:p>
        </p:txBody>
      </p:sp>
      <p:sp>
        <p:nvSpPr>
          <p:cNvPr id="9" name="Text 7"/>
          <p:cNvSpPr/>
          <p:nvPr/>
        </p:nvSpPr>
        <p:spPr>
          <a:xfrm>
            <a:off x="457200" y="212140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868680" y="2121408"/>
            <a:ext cx="118872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Entraînement:</a:t>
            </a:r>
            <a:endParaRPr lang="en-US" sz="1100" dirty="0"/>
          </a:p>
        </p:txBody>
      </p:sp>
      <p:sp>
        <p:nvSpPr>
          <p:cNvPr id="11" name="Text 9"/>
          <p:cNvSpPr/>
          <p:nvPr/>
        </p:nvSpPr>
        <p:spPr>
          <a:xfrm>
            <a:off x="868680" y="2368296"/>
            <a:ext cx="21031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500 000 transactions historiques</a:t>
            </a:r>
            <a:endParaRPr lang="en-US" sz="1100" dirty="0"/>
          </a:p>
        </p:txBody>
      </p:sp>
      <p:sp>
        <p:nvSpPr>
          <p:cNvPr id="12" name="Text 10"/>
          <p:cNvSpPr/>
          <p:nvPr/>
        </p:nvSpPr>
        <p:spPr>
          <a:xfrm>
            <a:off x="457200" y="267004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868680" y="2670048"/>
            <a:ext cx="118872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AUC-ROC:</a:t>
            </a:r>
            <a:endParaRPr lang="en-US" sz="1100" dirty="0"/>
          </a:p>
        </p:txBody>
      </p:sp>
      <p:sp>
        <p:nvSpPr>
          <p:cNvPr id="14" name="Text 12"/>
          <p:cNvSpPr/>
          <p:nvPr/>
        </p:nvSpPr>
        <p:spPr>
          <a:xfrm>
            <a:off x="868680" y="2916936"/>
            <a:ext cx="21031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0.964 sur jeu de test</a:t>
            </a:r>
            <a:endParaRPr lang="en-US" sz="1100" dirty="0"/>
          </a:p>
        </p:txBody>
      </p:sp>
      <p:sp>
        <p:nvSpPr>
          <p:cNvPr id="15" name="Text 13"/>
          <p:cNvSpPr/>
          <p:nvPr/>
        </p:nvSpPr>
        <p:spPr>
          <a:xfrm>
            <a:off x="457200" y="321868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868680" y="3218688"/>
            <a:ext cx="118872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Latence scoring:</a:t>
            </a:r>
            <a:endParaRPr lang="en-US" sz="1100" dirty="0"/>
          </a:p>
        </p:txBody>
      </p:sp>
      <p:sp>
        <p:nvSpPr>
          <p:cNvPr id="17" name="Text 15"/>
          <p:cNvSpPr/>
          <p:nvPr/>
        </p:nvSpPr>
        <p:spPr>
          <a:xfrm>
            <a:off x="868680" y="3465576"/>
            <a:ext cx="21031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&lt; 50 ms par transaction</a:t>
            </a:r>
            <a:endParaRPr lang="en-US" sz="1100" dirty="0"/>
          </a:p>
        </p:txBody>
      </p:sp>
      <p:sp>
        <p:nvSpPr>
          <p:cNvPr id="18" name="Text 16"/>
          <p:cNvSpPr/>
          <p:nvPr/>
        </p:nvSpPr>
        <p:spPr>
          <a:xfrm>
            <a:off x="457200" y="376732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868680" y="3767328"/>
            <a:ext cx="118872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Versioning:</a:t>
            </a:r>
            <a:endParaRPr lang="en-US" sz="1100" dirty="0"/>
          </a:p>
        </p:txBody>
      </p:sp>
      <p:sp>
        <p:nvSpPr>
          <p:cNvPr id="20" name="Text 18"/>
          <p:cNvSpPr/>
          <p:nvPr/>
        </p:nvSpPr>
        <p:spPr>
          <a:xfrm>
            <a:off x="868680" y="4014216"/>
            <a:ext cx="21031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Rotation automatique de modèle</a:t>
            </a:r>
            <a:endParaRPr lang="en-US" sz="1100" dirty="0"/>
          </a:p>
        </p:txBody>
      </p:sp>
      <p:sp>
        <p:nvSpPr>
          <p:cNvPr id="21" name="Text 19"/>
          <p:cNvSpPr/>
          <p:nvPr/>
        </p:nvSpPr>
        <p:spPr>
          <a:xfrm>
            <a:off x="457200" y="431596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868680" y="4315968"/>
            <a:ext cx="118872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Intégrité:</a:t>
            </a:r>
            <a:endParaRPr lang="en-US" sz="1100" dirty="0"/>
          </a:p>
        </p:txBody>
      </p:sp>
      <p:sp>
        <p:nvSpPr>
          <p:cNvPr id="23" name="Text 21"/>
          <p:cNvSpPr/>
          <p:nvPr/>
        </p:nvSpPr>
        <p:spPr>
          <a:xfrm>
            <a:off x="868680" y="4562856"/>
            <a:ext cx="21031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Vérification SHA-256 au démarrage</a:t>
            </a:r>
            <a:endParaRPr lang="en-US" sz="1100" dirty="0"/>
          </a:p>
        </p:txBody>
      </p:sp>
      <p:sp>
        <p:nvSpPr>
          <p:cNvPr id="24" name="Shape 22"/>
          <p:cNvSpPr/>
          <p:nvPr/>
        </p:nvSpPr>
        <p:spPr>
          <a:xfrm>
            <a:off x="3383280" y="1417320"/>
            <a:ext cx="2560320" cy="3520440"/>
          </a:xfrm>
          <a:prstGeom prst="rect">
            <a:avLst>
              <a:gd name="adj" fmla="val 3571"/>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3383280" y="1417320"/>
            <a:ext cx="2560320" cy="502920"/>
          </a:xfrm>
          <a:prstGeom prst="rect">
            <a:avLst>
              <a:gd name="adj" fmla="val 18182"/>
            </a:avLst>
          </a:prstGeom>
          <a:solidFill>
            <a:srgbClr val="1E3A5F"/>
          </a:solidFill>
          <a:ln w="12700">
            <a:solidFill>
              <a:srgbClr val="1E3A5F"/>
            </a:solidFill>
            <a:prstDash val="solid"/>
          </a:ln>
        </p:spPr>
      </p:sp>
      <p:sp>
        <p:nvSpPr>
          <p:cNvPr id="26" name="Shape 24"/>
          <p:cNvSpPr/>
          <p:nvPr/>
        </p:nvSpPr>
        <p:spPr>
          <a:xfrm>
            <a:off x="3383280" y="1737360"/>
            <a:ext cx="2560320" cy="182880"/>
          </a:xfrm>
          <a:prstGeom prst="rect">
            <a:avLst/>
          </a:prstGeom>
          <a:solidFill>
            <a:srgbClr val="1E3A5F"/>
          </a:solidFill>
          <a:ln w="12700">
            <a:solidFill>
              <a:srgbClr val="1E3A5F"/>
            </a:solidFill>
            <a:prstDash val="solid"/>
          </a:ln>
        </p:spPr>
      </p:sp>
      <p:sp>
        <p:nvSpPr>
          <p:cNvPr id="27" name="Text 25"/>
          <p:cNvSpPr/>
          <p:nvPr/>
        </p:nvSpPr>
        <p:spPr>
          <a:xfrm>
            <a:off x="3520440" y="1453896"/>
            <a:ext cx="228600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30 Features d'Analyse</a:t>
            </a:r>
            <a:endParaRPr lang="en-US" sz="1300" dirty="0"/>
          </a:p>
        </p:txBody>
      </p:sp>
      <p:sp>
        <p:nvSpPr>
          <p:cNvPr id="28" name="Text 26"/>
          <p:cNvSpPr/>
          <p:nvPr/>
        </p:nvSpPr>
        <p:spPr>
          <a:xfrm>
            <a:off x="3520440" y="2057400"/>
            <a:ext cx="2286000" cy="256032"/>
          </a:xfrm>
          <a:prstGeom prst="rect">
            <a:avLst/>
          </a:prstGeom>
          <a:noFill/>
          <a:ln/>
        </p:spPr>
        <p:txBody>
          <a:bodyPr wrap="square" lIns="0" tIns="0" rIns="0" bIns="0" rtlCol="0" anchor="ctr"/>
          <a:lstStyle/>
          <a:p>
            <a:pPr indent="0" marL="0">
              <a:buNone/>
            </a:pPr>
            <a:r>
              <a:rPr lang="en-US" sz="1150" b="1" dirty="0">
                <a:solidFill>
                  <a:srgbClr val="1E3A5F"/>
                </a:solidFill>
                <a:latin typeface="Calibri" pitchFamily="34" charset="0"/>
                <a:ea typeface="Calibri" pitchFamily="34" charset="-122"/>
                <a:cs typeface="Calibri" pitchFamily="34" charset="-120"/>
              </a:rPr>
              <a:t>💰 Transaction</a:t>
            </a:r>
            <a:endParaRPr lang="en-US" sz="1150" dirty="0"/>
          </a:p>
        </p:txBody>
      </p:sp>
      <p:sp>
        <p:nvSpPr>
          <p:cNvPr id="29" name="Text 27"/>
          <p:cNvSpPr/>
          <p:nvPr/>
        </p:nvSpPr>
        <p:spPr>
          <a:xfrm>
            <a:off x="3520440" y="2313432"/>
            <a:ext cx="22860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Montant · Devise · Heure locale</a:t>
            </a:r>
            <a:endParaRPr lang="en-US" sz="1050" dirty="0"/>
          </a:p>
        </p:txBody>
      </p:sp>
      <p:sp>
        <p:nvSpPr>
          <p:cNvPr id="30" name="Text 28"/>
          <p:cNvSpPr/>
          <p:nvPr/>
        </p:nvSpPr>
        <p:spPr>
          <a:xfrm>
            <a:off x="3520440" y="2862072"/>
            <a:ext cx="2286000" cy="256032"/>
          </a:xfrm>
          <a:prstGeom prst="rect">
            <a:avLst/>
          </a:prstGeom>
          <a:noFill/>
          <a:ln/>
        </p:spPr>
        <p:txBody>
          <a:bodyPr wrap="square" lIns="0" tIns="0" rIns="0" bIns="0" rtlCol="0" anchor="ctr"/>
          <a:lstStyle/>
          <a:p>
            <a:pPr indent="0" marL="0">
              <a:buNone/>
            </a:pPr>
            <a:r>
              <a:rPr lang="en-US" sz="1150" b="1" dirty="0">
                <a:solidFill>
                  <a:srgbClr val="1E3A5F"/>
                </a:solidFill>
                <a:latin typeface="Calibri" pitchFamily="34" charset="0"/>
                <a:ea typeface="Calibri" pitchFamily="34" charset="-122"/>
                <a:cs typeface="Calibri" pitchFamily="34" charset="-120"/>
              </a:rPr>
              <a:t>📍 Géolocalisation</a:t>
            </a:r>
            <a:endParaRPr lang="en-US" sz="1150" dirty="0"/>
          </a:p>
        </p:txBody>
      </p:sp>
      <p:sp>
        <p:nvSpPr>
          <p:cNvPr id="31" name="Text 29"/>
          <p:cNvSpPr/>
          <p:nvPr/>
        </p:nvSpPr>
        <p:spPr>
          <a:xfrm>
            <a:off x="3520440" y="3118104"/>
            <a:ext cx="22860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Pays d'origine · Pays destination · Anomalie géo</a:t>
            </a:r>
            <a:endParaRPr lang="en-US" sz="1050" dirty="0"/>
          </a:p>
        </p:txBody>
      </p:sp>
      <p:sp>
        <p:nvSpPr>
          <p:cNvPr id="32" name="Text 30"/>
          <p:cNvSpPr/>
          <p:nvPr/>
        </p:nvSpPr>
        <p:spPr>
          <a:xfrm>
            <a:off x="3520440" y="3666744"/>
            <a:ext cx="2286000" cy="256032"/>
          </a:xfrm>
          <a:prstGeom prst="rect">
            <a:avLst/>
          </a:prstGeom>
          <a:noFill/>
          <a:ln/>
        </p:spPr>
        <p:txBody>
          <a:bodyPr wrap="square" lIns="0" tIns="0" rIns="0" bIns="0" rtlCol="0" anchor="ctr"/>
          <a:lstStyle/>
          <a:p>
            <a:pPr indent="0" marL="0">
              <a:buNone/>
            </a:pPr>
            <a:r>
              <a:rPr lang="en-US" sz="1150" b="1" dirty="0">
                <a:solidFill>
                  <a:srgbClr val="1E3A5F"/>
                </a:solidFill>
                <a:latin typeface="Calibri" pitchFamily="34" charset="0"/>
                <a:ea typeface="Calibri" pitchFamily="34" charset="-122"/>
                <a:cs typeface="Calibri" pitchFamily="34" charset="-120"/>
              </a:rPr>
              <a:t>📱 Canal</a:t>
            </a:r>
            <a:endParaRPr lang="en-US" sz="1150" dirty="0"/>
          </a:p>
        </p:txBody>
      </p:sp>
      <p:sp>
        <p:nvSpPr>
          <p:cNvPr id="33" name="Text 31"/>
          <p:cNvSpPr/>
          <p:nvPr/>
        </p:nvSpPr>
        <p:spPr>
          <a:xfrm>
            <a:off x="3520440" y="3922776"/>
            <a:ext cx="22860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Mobile / Web / ATM / POS · Fréquence canal</a:t>
            </a:r>
            <a:endParaRPr lang="en-US" sz="1050" dirty="0"/>
          </a:p>
        </p:txBody>
      </p:sp>
      <p:sp>
        <p:nvSpPr>
          <p:cNvPr id="34" name="Text 32"/>
          <p:cNvSpPr/>
          <p:nvPr/>
        </p:nvSpPr>
        <p:spPr>
          <a:xfrm>
            <a:off x="3520440" y="4471416"/>
            <a:ext cx="2286000" cy="256032"/>
          </a:xfrm>
          <a:prstGeom prst="rect">
            <a:avLst/>
          </a:prstGeom>
          <a:noFill/>
          <a:ln/>
        </p:spPr>
        <p:txBody>
          <a:bodyPr wrap="square" lIns="0" tIns="0" rIns="0" bIns="0" rtlCol="0" anchor="ctr"/>
          <a:lstStyle/>
          <a:p>
            <a:pPr indent="0" marL="0">
              <a:buNone/>
            </a:pPr>
            <a:r>
              <a:rPr lang="en-US" sz="1150" b="1" dirty="0">
                <a:solidFill>
                  <a:srgbClr val="1E3A5F"/>
                </a:solidFill>
                <a:latin typeface="Calibri" pitchFamily="34" charset="0"/>
                <a:ea typeface="Calibri" pitchFamily="34" charset="-122"/>
                <a:cs typeface="Calibri" pitchFamily="34" charset="-120"/>
              </a:rPr>
              <a:t>🧑 Comportement</a:t>
            </a:r>
            <a:endParaRPr lang="en-US" sz="1150" dirty="0"/>
          </a:p>
        </p:txBody>
      </p:sp>
      <p:sp>
        <p:nvSpPr>
          <p:cNvPr id="35" name="Text 33"/>
          <p:cNvSpPr/>
          <p:nvPr/>
        </p:nvSpPr>
        <p:spPr>
          <a:xfrm>
            <a:off x="3520440" y="4727448"/>
            <a:ext cx="22860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Vélocité 1h/24h/7j · Panier moyen · Historique client</a:t>
            </a:r>
            <a:endParaRPr lang="en-US" sz="1050" dirty="0"/>
          </a:p>
        </p:txBody>
      </p:sp>
      <p:graphicFrame>
        <p:nvGraphicFramePr>
          <p:cNvPr id="36" name="Chart 0" descr=""/>
          <p:cNvGraphicFramePr/>
          <p:nvPr/>
        </p:nvGraphicFramePr>
        <p:xfrm>
          <a:off x="6172200" y="1417320"/>
          <a:ext cx="2743200" cy="2286000"/>
        </p:xfrm>
        <a:graphic xmlns:a="http://schemas.openxmlformats.org/drawingml/2006/main">
          <a:graphicData uri="http://schemas.openxmlformats.org/drawingml/2006/chart">
            <c:chart xmlns:c="http://schemas.openxmlformats.org/drawingml/2006/chart" r:id="rId1"/>
          </a:graphicData>
        </a:graphic>
      </p:graphicFrame>
      <p:sp>
        <p:nvSpPr>
          <p:cNvPr id="37" name="Shape 34"/>
          <p:cNvSpPr/>
          <p:nvPr/>
        </p:nvSpPr>
        <p:spPr>
          <a:xfrm>
            <a:off x="6172200" y="3886200"/>
            <a:ext cx="2743200" cy="1051560"/>
          </a:xfrm>
          <a:prstGeom prst="rect">
            <a:avLst>
              <a:gd name="adj" fmla="val 869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8" name="Text 35"/>
          <p:cNvSpPr/>
          <p:nvPr/>
        </p:nvSpPr>
        <p:spPr>
          <a:xfrm>
            <a:off x="6309360" y="3950208"/>
            <a:ext cx="2468880" cy="256032"/>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Niveaux de risque</a:t>
            </a:r>
            <a:endParaRPr lang="en-US" sz="1100" dirty="0"/>
          </a:p>
        </p:txBody>
      </p:sp>
      <p:sp>
        <p:nvSpPr>
          <p:cNvPr id="39" name="Shape 36"/>
          <p:cNvSpPr/>
          <p:nvPr/>
        </p:nvSpPr>
        <p:spPr>
          <a:xfrm>
            <a:off x="6236208" y="4279392"/>
            <a:ext cx="201168" cy="201168"/>
          </a:xfrm>
          <a:prstGeom prst="ellipse">
            <a:avLst/>
          </a:prstGeom>
          <a:solidFill>
            <a:srgbClr val="EF4444"/>
          </a:solidFill>
          <a:ln w="12700">
            <a:solidFill>
              <a:srgbClr val="EF4444"/>
            </a:solidFill>
            <a:prstDash val="solid"/>
          </a:ln>
        </p:spPr>
      </p:sp>
      <p:sp>
        <p:nvSpPr>
          <p:cNvPr id="40" name="Text 37"/>
          <p:cNvSpPr/>
          <p:nvPr/>
        </p:nvSpPr>
        <p:spPr>
          <a:xfrm>
            <a:off x="6099048" y="4480560"/>
            <a:ext cx="457200" cy="36576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Critique</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 80%</a:t>
            </a:r>
            <a:endParaRPr lang="en-US" sz="850" dirty="0"/>
          </a:p>
        </p:txBody>
      </p:sp>
      <p:sp>
        <p:nvSpPr>
          <p:cNvPr id="41" name="Shape 38"/>
          <p:cNvSpPr/>
          <p:nvPr/>
        </p:nvSpPr>
        <p:spPr>
          <a:xfrm>
            <a:off x="6922008" y="4279392"/>
            <a:ext cx="201168" cy="201168"/>
          </a:xfrm>
          <a:prstGeom prst="ellipse">
            <a:avLst/>
          </a:prstGeom>
          <a:solidFill>
            <a:srgbClr val="F97316"/>
          </a:solidFill>
          <a:ln w="12700">
            <a:solidFill>
              <a:srgbClr val="F97316"/>
            </a:solidFill>
            <a:prstDash val="solid"/>
          </a:ln>
        </p:spPr>
      </p:sp>
      <p:sp>
        <p:nvSpPr>
          <p:cNvPr id="42" name="Text 39"/>
          <p:cNvSpPr/>
          <p:nvPr/>
        </p:nvSpPr>
        <p:spPr>
          <a:xfrm>
            <a:off x="6784848" y="4480560"/>
            <a:ext cx="457200" cy="36576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Élevé</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 50%</a:t>
            </a:r>
            <a:endParaRPr lang="en-US" sz="850" dirty="0"/>
          </a:p>
        </p:txBody>
      </p:sp>
      <p:sp>
        <p:nvSpPr>
          <p:cNvPr id="43" name="Shape 40"/>
          <p:cNvSpPr/>
          <p:nvPr/>
        </p:nvSpPr>
        <p:spPr>
          <a:xfrm>
            <a:off x="7607808" y="4279392"/>
            <a:ext cx="201168" cy="201168"/>
          </a:xfrm>
          <a:prstGeom prst="ellipse">
            <a:avLst/>
          </a:prstGeom>
          <a:solidFill>
            <a:srgbClr val="F59E0B"/>
          </a:solidFill>
          <a:ln w="12700">
            <a:solidFill>
              <a:srgbClr val="F59E0B"/>
            </a:solidFill>
            <a:prstDash val="solid"/>
          </a:ln>
        </p:spPr>
      </p:sp>
      <p:sp>
        <p:nvSpPr>
          <p:cNvPr id="44" name="Text 41"/>
          <p:cNvSpPr/>
          <p:nvPr/>
        </p:nvSpPr>
        <p:spPr>
          <a:xfrm>
            <a:off x="7470648" y="4480560"/>
            <a:ext cx="457200" cy="36576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Moyen</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 30%</a:t>
            </a:r>
            <a:endParaRPr lang="en-US" sz="850" dirty="0"/>
          </a:p>
        </p:txBody>
      </p:sp>
      <p:sp>
        <p:nvSpPr>
          <p:cNvPr id="45" name="Shape 42"/>
          <p:cNvSpPr/>
          <p:nvPr/>
        </p:nvSpPr>
        <p:spPr>
          <a:xfrm>
            <a:off x="8293608" y="4279392"/>
            <a:ext cx="201168" cy="201168"/>
          </a:xfrm>
          <a:prstGeom prst="ellipse">
            <a:avLst/>
          </a:prstGeom>
          <a:solidFill>
            <a:srgbClr val="10B981"/>
          </a:solidFill>
          <a:ln w="12700">
            <a:solidFill>
              <a:srgbClr val="10B981"/>
            </a:solidFill>
            <a:prstDash val="solid"/>
          </a:ln>
        </p:spPr>
      </p:sp>
      <p:sp>
        <p:nvSpPr>
          <p:cNvPr id="46" name="Text 43"/>
          <p:cNvSpPr/>
          <p:nvPr/>
        </p:nvSpPr>
        <p:spPr>
          <a:xfrm>
            <a:off x="8156448" y="4480560"/>
            <a:ext cx="457200" cy="36576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Faible</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&lt; 30%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Rôles &amp; Contrôle d'Accès</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5 profils utilisateurs avec périmètre strict — principe du moindre privilège</a:t>
            </a:r>
            <a:endParaRPr lang="en-US" sz="1300" dirty="0"/>
          </a:p>
        </p:txBody>
      </p:sp>
      <p:sp>
        <p:nvSpPr>
          <p:cNvPr id="5" name="Shape 3"/>
          <p:cNvSpPr/>
          <p:nvPr/>
        </p:nvSpPr>
        <p:spPr>
          <a:xfrm>
            <a:off x="274320" y="1371600"/>
            <a:ext cx="1600200" cy="3611880"/>
          </a:xfrm>
          <a:prstGeom prst="rect">
            <a:avLst>
              <a:gd name="adj" fmla="val 5714"/>
            </a:avLst>
          </a:prstGeom>
          <a:solidFill>
            <a:srgbClr val="FFFFFF"/>
          </a:solidFill>
          <a:ln w="12700">
            <a:solidFill>
              <a:srgbClr val="1E3A5F"/>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74320" y="1371600"/>
            <a:ext cx="1600200" cy="685800"/>
          </a:xfrm>
          <a:prstGeom prst="rect">
            <a:avLst>
              <a:gd name="adj" fmla="val 13333"/>
            </a:avLst>
          </a:prstGeom>
          <a:solidFill>
            <a:srgbClr val="1E3A5F"/>
          </a:solidFill>
          <a:ln w="12700">
            <a:solidFill>
              <a:srgbClr val="1E3A5F"/>
            </a:solidFill>
            <a:prstDash val="solid"/>
          </a:ln>
        </p:spPr>
      </p:sp>
      <p:sp>
        <p:nvSpPr>
          <p:cNvPr id="7" name="Shape 5"/>
          <p:cNvSpPr/>
          <p:nvPr/>
        </p:nvSpPr>
        <p:spPr>
          <a:xfrm>
            <a:off x="274320" y="1874520"/>
            <a:ext cx="1600200" cy="182880"/>
          </a:xfrm>
          <a:prstGeom prst="rect">
            <a:avLst/>
          </a:prstGeom>
          <a:solidFill>
            <a:srgbClr val="1E3A5F"/>
          </a:solidFill>
          <a:ln w="12700">
            <a:solidFill>
              <a:srgbClr val="1E3A5F"/>
            </a:solidFill>
            <a:prstDash val="solid"/>
          </a:ln>
        </p:spPr>
      </p:sp>
      <p:sp>
        <p:nvSpPr>
          <p:cNvPr id="8" name="Text 6"/>
          <p:cNvSpPr/>
          <p:nvPr/>
        </p:nvSpPr>
        <p:spPr>
          <a:xfrm>
            <a:off x="274320" y="1399032"/>
            <a:ext cx="160020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9" name="Text 7"/>
          <p:cNvSpPr/>
          <p:nvPr/>
        </p:nvSpPr>
        <p:spPr>
          <a:xfrm>
            <a:off x="320040" y="2084832"/>
            <a:ext cx="1508760" cy="347472"/>
          </a:xfrm>
          <a:prstGeom prst="rect">
            <a:avLst/>
          </a:prstGeom>
          <a:noFill/>
          <a:ln/>
        </p:spPr>
        <p:txBody>
          <a:bodyPr wrap="square" lIns="0" tIns="0" rIns="0" bIns="0" rtlCol="0" anchor="ctr"/>
          <a:lstStyle/>
          <a:p>
            <a:pPr algn="ctr" indent="0" marL="0">
              <a:buNone/>
            </a:pPr>
            <a:r>
              <a:rPr lang="en-US" sz="1300" b="1" dirty="0">
                <a:solidFill>
                  <a:srgbClr val="1E3A5F"/>
                </a:solidFill>
                <a:latin typeface="Cambria" pitchFamily="34" charset="0"/>
                <a:ea typeface="Cambria" pitchFamily="34" charset="-122"/>
                <a:cs typeface="Cambria" pitchFamily="34" charset="-120"/>
              </a:rPr>
              <a:t>Super Admin</a:t>
            </a:r>
            <a:endParaRPr lang="en-US" sz="1300" dirty="0"/>
          </a:p>
        </p:txBody>
      </p:sp>
      <p:sp>
        <p:nvSpPr>
          <p:cNvPr id="10" name="Text 8"/>
          <p:cNvSpPr/>
          <p:nvPr/>
        </p:nvSpPr>
        <p:spPr>
          <a:xfrm>
            <a:off x="320040" y="2423160"/>
            <a:ext cx="15087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Accès total à la plateforme</a:t>
            </a:r>
            <a:endParaRPr lang="en-US" sz="1000" dirty="0"/>
          </a:p>
        </p:txBody>
      </p:sp>
      <p:sp>
        <p:nvSpPr>
          <p:cNvPr id="11" name="Text 9"/>
          <p:cNvSpPr/>
          <p:nvPr/>
        </p:nvSpPr>
        <p:spPr>
          <a:xfrm>
            <a:off x="384048" y="2834640"/>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Gestion de tous les tenants</a:t>
            </a:r>
            <a:endParaRPr lang="en-US" sz="1050" dirty="0"/>
          </a:p>
        </p:txBody>
      </p:sp>
      <p:sp>
        <p:nvSpPr>
          <p:cNvPr id="12" name="Text 10"/>
          <p:cNvSpPr/>
          <p:nvPr/>
        </p:nvSpPr>
        <p:spPr>
          <a:xfrm>
            <a:off x="384048" y="3282696"/>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Configuration système</a:t>
            </a:r>
            <a:endParaRPr lang="en-US" sz="1050" dirty="0"/>
          </a:p>
        </p:txBody>
      </p:sp>
      <p:sp>
        <p:nvSpPr>
          <p:cNvPr id="13" name="Text 11"/>
          <p:cNvSpPr/>
          <p:nvPr/>
        </p:nvSpPr>
        <p:spPr>
          <a:xfrm>
            <a:off x="384048" y="3730752"/>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Journal d'audit global</a:t>
            </a:r>
            <a:endParaRPr lang="en-US" sz="1050" dirty="0"/>
          </a:p>
        </p:txBody>
      </p:sp>
      <p:sp>
        <p:nvSpPr>
          <p:cNvPr id="14" name="Text 12"/>
          <p:cNvSpPr/>
          <p:nvPr/>
        </p:nvSpPr>
        <p:spPr>
          <a:xfrm>
            <a:off x="384048" y="4178808"/>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Rotation des modèles IA</a:t>
            </a:r>
            <a:endParaRPr lang="en-US" sz="1050" dirty="0"/>
          </a:p>
        </p:txBody>
      </p:sp>
      <p:sp>
        <p:nvSpPr>
          <p:cNvPr id="15" name="Shape 13"/>
          <p:cNvSpPr/>
          <p:nvPr/>
        </p:nvSpPr>
        <p:spPr>
          <a:xfrm>
            <a:off x="1993392" y="1371600"/>
            <a:ext cx="1600200" cy="3611880"/>
          </a:xfrm>
          <a:prstGeom prst="rect">
            <a:avLst>
              <a:gd name="adj" fmla="val 5714"/>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1993392" y="1371600"/>
            <a:ext cx="1600200" cy="685800"/>
          </a:xfrm>
          <a:prstGeom prst="rect">
            <a:avLst>
              <a:gd name="adj" fmla="val 13333"/>
            </a:avLst>
          </a:prstGeom>
          <a:solidFill>
            <a:srgbClr val="7C3AED"/>
          </a:solidFill>
          <a:ln w="12700">
            <a:solidFill>
              <a:srgbClr val="7C3AED"/>
            </a:solidFill>
            <a:prstDash val="solid"/>
          </a:ln>
        </p:spPr>
      </p:sp>
      <p:sp>
        <p:nvSpPr>
          <p:cNvPr id="17" name="Shape 15"/>
          <p:cNvSpPr/>
          <p:nvPr/>
        </p:nvSpPr>
        <p:spPr>
          <a:xfrm>
            <a:off x="1993392" y="1874520"/>
            <a:ext cx="1600200" cy="182880"/>
          </a:xfrm>
          <a:prstGeom prst="rect">
            <a:avLst/>
          </a:prstGeom>
          <a:solidFill>
            <a:srgbClr val="7C3AED"/>
          </a:solidFill>
          <a:ln w="12700">
            <a:solidFill>
              <a:srgbClr val="7C3AED"/>
            </a:solidFill>
            <a:prstDash val="solid"/>
          </a:ln>
        </p:spPr>
      </p:sp>
      <p:sp>
        <p:nvSpPr>
          <p:cNvPr id="18" name="Text 16"/>
          <p:cNvSpPr/>
          <p:nvPr/>
        </p:nvSpPr>
        <p:spPr>
          <a:xfrm>
            <a:off x="1993392" y="1399032"/>
            <a:ext cx="160020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9" name="Text 17"/>
          <p:cNvSpPr/>
          <p:nvPr/>
        </p:nvSpPr>
        <p:spPr>
          <a:xfrm>
            <a:off x="2039112" y="2084832"/>
            <a:ext cx="1508760" cy="347472"/>
          </a:xfrm>
          <a:prstGeom prst="rect">
            <a:avLst/>
          </a:prstGeom>
          <a:noFill/>
          <a:ln/>
        </p:spPr>
        <p:txBody>
          <a:bodyPr wrap="square" lIns="0" tIns="0" rIns="0" bIns="0" rtlCol="0" anchor="ctr"/>
          <a:lstStyle/>
          <a:p>
            <a:pPr algn="ctr" indent="0" marL="0">
              <a:buNone/>
            </a:pPr>
            <a:r>
              <a:rPr lang="en-US" sz="1300" b="1" dirty="0">
                <a:solidFill>
                  <a:srgbClr val="7C3AED"/>
                </a:solidFill>
                <a:latin typeface="Cambria" pitchFamily="34" charset="0"/>
                <a:ea typeface="Cambria" pitchFamily="34" charset="-122"/>
                <a:cs typeface="Cambria" pitchFamily="34" charset="-120"/>
              </a:rPr>
              <a:t>Compliance</a:t>
            </a:r>
            <a:endParaRPr lang="en-US" sz="1300" dirty="0"/>
          </a:p>
        </p:txBody>
      </p:sp>
      <p:sp>
        <p:nvSpPr>
          <p:cNvPr id="20" name="Text 18"/>
          <p:cNvSpPr/>
          <p:nvPr/>
        </p:nvSpPr>
        <p:spPr>
          <a:xfrm>
            <a:off x="2039112" y="2423160"/>
            <a:ext cx="15087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Auditeur réglementaire</a:t>
            </a:r>
            <a:endParaRPr lang="en-US" sz="1000" dirty="0"/>
          </a:p>
        </p:txBody>
      </p:sp>
      <p:sp>
        <p:nvSpPr>
          <p:cNvPr id="21" name="Text 19"/>
          <p:cNvSpPr/>
          <p:nvPr/>
        </p:nvSpPr>
        <p:spPr>
          <a:xfrm>
            <a:off x="2103120" y="2834640"/>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Rapports BCEAO</a:t>
            </a:r>
            <a:endParaRPr lang="en-US" sz="1050" dirty="0"/>
          </a:p>
        </p:txBody>
      </p:sp>
      <p:sp>
        <p:nvSpPr>
          <p:cNvPr id="22" name="Text 20"/>
          <p:cNvSpPr/>
          <p:nvPr/>
        </p:nvSpPr>
        <p:spPr>
          <a:xfrm>
            <a:off x="2103120" y="3282696"/>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Export journal d'audit</a:t>
            </a:r>
            <a:endParaRPr lang="en-US" sz="1050" dirty="0"/>
          </a:p>
        </p:txBody>
      </p:sp>
      <p:sp>
        <p:nvSpPr>
          <p:cNvPr id="23" name="Text 21"/>
          <p:cNvSpPr/>
          <p:nvPr/>
        </p:nvSpPr>
        <p:spPr>
          <a:xfrm>
            <a:off x="2103120" y="3730752"/>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Lecture seule multi-tenant</a:t>
            </a:r>
            <a:endParaRPr lang="en-US" sz="1050" dirty="0"/>
          </a:p>
        </p:txBody>
      </p:sp>
      <p:sp>
        <p:nvSpPr>
          <p:cNvPr id="24" name="Text 22"/>
          <p:cNvSpPr/>
          <p:nvPr/>
        </p:nvSpPr>
        <p:spPr>
          <a:xfrm>
            <a:off x="2103120" y="4178808"/>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Tableaux de conformité</a:t>
            </a:r>
            <a:endParaRPr lang="en-US" sz="1050" dirty="0"/>
          </a:p>
        </p:txBody>
      </p:sp>
      <p:sp>
        <p:nvSpPr>
          <p:cNvPr id="25" name="Shape 23"/>
          <p:cNvSpPr/>
          <p:nvPr/>
        </p:nvSpPr>
        <p:spPr>
          <a:xfrm>
            <a:off x="3712464" y="1371600"/>
            <a:ext cx="1600200" cy="3611880"/>
          </a:xfrm>
          <a:prstGeom prst="rect">
            <a:avLst>
              <a:gd name="adj" fmla="val 5714"/>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3712464" y="1371600"/>
            <a:ext cx="1600200" cy="685800"/>
          </a:xfrm>
          <a:prstGeom prst="rect">
            <a:avLst>
              <a:gd name="adj" fmla="val 13333"/>
            </a:avLst>
          </a:prstGeom>
          <a:solidFill>
            <a:srgbClr val="0EA5E9"/>
          </a:solidFill>
          <a:ln w="12700">
            <a:solidFill>
              <a:srgbClr val="0EA5E9"/>
            </a:solidFill>
            <a:prstDash val="solid"/>
          </a:ln>
        </p:spPr>
      </p:sp>
      <p:sp>
        <p:nvSpPr>
          <p:cNvPr id="27" name="Shape 25"/>
          <p:cNvSpPr/>
          <p:nvPr/>
        </p:nvSpPr>
        <p:spPr>
          <a:xfrm>
            <a:off x="3712464" y="1874520"/>
            <a:ext cx="1600200" cy="182880"/>
          </a:xfrm>
          <a:prstGeom prst="rect">
            <a:avLst/>
          </a:prstGeom>
          <a:solidFill>
            <a:srgbClr val="0EA5E9"/>
          </a:solidFill>
          <a:ln w="12700">
            <a:solidFill>
              <a:srgbClr val="0EA5E9"/>
            </a:solidFill>
            <a:prstDash val="solid"/>
          </a:ln>
        </p:spPr>
      </p:sp>
      <p:sp>
        <p:nvSpPr>
          <p:cNvPr id="28" name="Text 26"/>
          <p:cNvSpPr/>
          <p:nvPr/>
        </p:nvSpPr>
        <p:spPr>
          <a:xfrm>
            <a:off x="3712464" y="1399032"/>
            <a:ext cx="160020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29" name="Text 27"/>
          <p:cNvSpPr/>
          <p:nvPr/>
        </p:nvSpPr>
        <p:spPr>
          <a:xfrm>
            <a:off x="3758184" y="2084832"/>
            <a:ext cx="1508760" cy="347472"/>
          </a:xfrm>
          <a:prstGeom prst="rect">
            <a:avLst/>
          </a:prstGeom>
          <a:noFill/>
          <a:ln/>
        </p:spPr>
        <p:txBody>
          <a:bodyPr wrap="square" lIns="0" tIns="0" rIns="0" bIns="0" rtlCol="0" anchor="ctr"/>
          <a:lstStyle/>
          <a:p>
            <a:pPr algn="ctr" indent="0" marL="0">
              <a:buNone/>
            </a:pPr>
            <a:r>
              <a:rPr lang="en-US" sz="1300" b="1" dirty="0">
                <a:solidFill>
                  <a:srgbClr val="0EA5E9"/>
                </a:solidFill>
                <a:latin typeface="Cambria" pitchFamily="34" charset="0"/>
                <a:ea typeface="Cambria" pitchFamily="34" charset="-122"/>
                <a:cs typeface="Cambria" pitchFamily="34" charset="-120"/>
              </a:rPr>
              <a:t>Tenant Admin</a:t>
            </a:r>
            <a:endParaRPr lang="en-US" sz="1300" dirty="0"/>
          </a:p>
        </p:txBody>
      </p:sp>
      <p:sp>
        <p:nvSpPr>
          <p:cNvPr id="30" name="Text 28"/>
          <p:cNvSpPr/>
          <p:nvPr/>
        </p:nvSpPr>
        <p:spPr>
          <a:xfrm>
            <a:off x="3758184" y="2423160"/>
            <a:ext cx="15087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Responsable institution financière</a:t>
            </a:r>
            <a:endParaRPr lang="en-US" sz="1000" dirty="0"/>
          </a:p>
        </p:txBody>
      </p:sp>
      <p:sp>
        <p:nvSpPr>
          <p:cNvPr id="31" name="Text 29"/>
          <p:cNvSpPr/>
          <p:nvPr/>
        </p:nvSpPr>
        <p:spPr>
          <a:xfrm>
            <a:off x="3822192" y="2834640"/>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Dashboard de son établissement</a:t>
            </a:r>
            <a:endParaRPr lang="en-US" sz="1050" dirty="0"/>
          </a:p>
        </p:txBody>
      </p:sp>
      <p:sp>
        <p:nvSpPr>
          <p:cNvPr id="32" name="Text 30"/>
          <p:cNvSpPr/>
          <p:nvPr/>
        </p:nvSpPr>
        <p:spPr>
          <a:xfrm>
            <a:off x="3822192" y="3282696"/>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Gestion des alertes</a:t>
            </a:r>
            <a:endParaRPr lang="en-US" sz="1050" dirty="0"/>
          </a:p>
        </p:txBody>
      </p:sp>
      <p:sp>
        <p:nvSpPr>
          <p:cNvPr id="33" name="Text 31"/>
          <p:cNvSpPr/>
          <p:nvPr/>
        </p:nvSpPr>
        <p:spPr>
          <a:xfrm>
            <a:off x="3822192" y="3730752"/>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Export transactions/alertes</a:t>
            </a:r>
            <a:endParaRPr lang="en-US" sz="1050" dirty="0"/>
          </a:p>
        </p:txBody>
      </p:sp>
      <p:sp>
        <p:nvSpPr>
          <p:cNvPr id="34" name="Text 32"/>
          <p:cNvSpPr/>
          <p:nvPr/>
        </p:nvSpPr>
        <p:spPr>
          <a:xfrm>
            <a:off x="3822192" y="4178808"/>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Portail client dédié</a:t>
            </a:r>
            <a:endParaRPr lang="en-US" sz="1050" dirty="0"/>
          </a:p>
        </p:txBody>
      </p:sp>
      <p:sp>
        <p:nvSpPr>
          <p:cNvPr id="35" name="Shape 33"/>
          <p:cNvSpPr/>
          <p:nvPr/>
        </p:nvSpPr>
        <p:spPr>
          <a:xfrm>
            <a:off x="5431536" y="1371600"/>
            <a:ext cx="1600200" cy="3611880"/>
          </a:xfrm>
          <a:prstGeom prst="rect">
            <a:avLst>
              <a:gd name="adj" fmla="val 5714"/>
            </a:avLst>
          </a:prstGeom>
          <a:solidFill>
            <a:srgbClr val="FFFFFF"/>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36" name="Shape 34"/>
          <p:cNvSpPr/>
          <p:nvPr/>
        </p:nvSpPr>
        <p:spPr>
          <a:xfrm>
            <a:off x="5431536" y="1371600"/>
            <a:ext cx="1600200" cy="685800"/>
          </a:xfrm>
          <a:prstGeom prst="rect">
            <a:avLst>
              <a:gd name="adj" fmla="val 13333"/>
            </a:avLst>
          </a:prstGeom>
          <a:solidFill>
            <a:srgbClr val="F59E0B"/>
          </a:solidFill>
          <a:ln w="12700">
            <a:solidFill>
              <a:srgbClr val="F59E0B"/>
            </a:solidFill>
            <a:prstDash val="solid"/>
          </a:ln>
        </p:spPr>
      </p:sp>
      <p:sp>
        <p:nvSpPr>
          <p:cNvPr id="37" name="Shape 35"/>
          <p:cNvSpPr/>
          <p:nvPr/>
        </p:nvSpPr>
        <p:spPr>
          <a:xfrm>
            <a:off x="5431536" y="1874520"/>
            <a:ext cx="1600200" cy="182880"/>
          </a:xfrm>
          <a:prstGeom prst="rect">
            <a:avLst/>
          </a:prstGeom>
          <a:solidFill>
            <a:srgbClr val="F59E0B"/>
          </a:solidFill>
          <a:ln w="12700">
            <a:solidFill>
              <a:srgbClr val="F59E0B"/>
            </a:solidFill>
            <a:prstDash val="solid"/>
          </a:ln>
        </p:spPr>
      </p:sp>
      <p:sp>
        <p:nvSpPr>
          <p:cNvPr id="38" name="Text 36"/>
          <p:cNvSpPr/>
          <p:nvPr/>
        </p:nvSpPr>
        <p:spPr>
          <a:xfrm>
            <a:off x="5431536" y="1399032"/>
            <a:ext cx="160020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39" name="Text 37"/>
          <p:cNvSpPr/>
          <p:nvPr/>
        </p:nvSpPr>
        <p:spPr>
          <a:xfrm>
            <a:off x="5477256" y="2084832"/>
            <a:ext cx="1508760" cy="347472"/>
          </a:xfrm>
          <a:prstGeom prst="rect">
            <a:avLst/>
          </a:prstGeom>
          <a:noFill/>
          <a:ln/>
        </p:spPr>
        <p:txBody>
          <a:bodyPr wrap="square" lIns="0" tIns="0" rIns="0" bIns="0" rtlCol="0" anchor="ctr"/>
          <a:lstStyle/>
          <a:p>
            <a:pPr algn="ctr" indent="0" marL="0">
              <a:buNone/>
            </a:pPr>
            <a:r>
              <a:rPr lang="en-US" sz="1300" b="1" dirty="0">
                <a:solidFill>
                  <a:srgbClr val="F59E0B"/>
                </a:solidFill>
                <a:latin typeface="Cambria" pitchFamily="34" charset="0"/>
                <a:ea typeface="Cambria" pitchFamily="34" charset="-122"/>
                <a:cs typeface="Cambria" pitchFamily="34" charset="-120"/>
              </a:rPr>
              <a:t>Analyste</a:t>
            </a:r>
            <a:endParaRPr lang="en-US" sz="1300" dirty="0"/>
          </a:p>
        </p:txBody>
      </p:sp>
      <p:sp>
        <p:nvSpPr>
          <p:cNvPr id="40" name="Text 38"/>
          <p:cNvSpPr/>
          <p:nvPr/>
        </p:nvSpPr>
        <p:spPr>
          <a:xfrm>
            <a:off x="5477256" y="2423160"/>
            <a:ext cx="15087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Investigateur fraude</a:t>
            </a:r>
            <a:endParaRPr lang="en-US" sz="1000" dirty="0"/>
          </a:p>
        </p:txBody>
      </p:sp>
      <p:sp>
        <p:nvSpPr>
          <p:cNvPr id="41" name="Text 39"/>
          <p:cNvSpPr/>
          <p:nvPr/>
        </p:nvSpPr>
        <p:spPr>
          <a:xfrm>
            <a:off x="5541264" y="2834640"/>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Consultation des alertes</a:t>
            </a:r>
            <a:endParaRPr lang="en-US" sz="1050" dirty="0"/>
          </a:p>
        </p:txBody>
      </p:sp>
      <p:sp>
        <p:nvSpPr>
          <p:cNvPr id="42" name="Text 40"/>
          <p:cNvSpPr/>
          <p:nvPr/>
        </p:nvSpPr>
        <p:spPr>
          <a:xfrm>
            <a:off x="5541264" y="3282696"/>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Qualification / Rejet</a:t>
            </a:r>
            <a:endParaRPr lang="en-US" sz="1050" dirty="0"/>
          </a:p>
        </p:txBody>
      </p:sp>
      <p:sp>
        <p:nvSpPr>
          <p:cNvPr id="43" name="Text 41"/>
          <p:cNvSpPr/>
          <p:nvPr/>
        </p:nvSpPr>
        <p:spPr>
          <a:xfrm>
            <a:off x="5541264" y="3730752"/>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Commentaires sur alertes</a:t>
            </a:r>
            <a:endParaRPr lang="en-US" sz="1050" dirty="0"/>
          </a:p>
        </p:txBody>
      </p:sp>
      <p:sp>
        <p:nvSpPr>
          <p:cNvPr id="44" name="Text 42"/>
          <p:cNvSpPr/>
          <p:nvPr/>
        </p:nvSpPr>
        <p:spPr>
          <a:xfrm>
            <a:off x="5541264" y="4178808"/>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Historique transactions</a:t>
            </a:r>
            <a:endParaRPr lang="en-US" sz="1050" dirty="0"/>
          </a:p>
        </p:txBody>
      </p:sp>
      <p:sp>
        <p:nvSpPr>
          <p:cNvPr id="45" name="Shape 43"/>
          <p:cNvSpPr/>
          <p:nvPr/>
        </p:nvSpPr>
        <p:spPr>
          <a:xfrm>
            <a:off x="7150608" y="1371600"/>
            <a:ext cx="1600200" cy="3611880"/>
          </a:xfrm>
          <a:prstGeom prst="rect">
            <a:avLst>
              <a:gd name="adj" fmla="val 5714"/>
            </a:avLst>
          </a:prstGeom>
          <a:solidFill>
            <a:srgbClr val="FFFFFF"/>
          </a:solidFill>
          <a:ln w="12700">
            <a:solidFill>
              <a:srgbClr val="10B981"/>
            </a:solidFill>
            <a:prstDash val="solid"/>
          </a:ln>
          <a:effectLst>
            <a:outerShdw sx="100000" sy="100000" kx="0" ky="0" algn="bl" rotWithShape="0" blurRad="101600" dist="38100" dir="2700000">
              <a:srgbClr val="000000">
                <a:alpha val="12000"/>
              </a:srgbClr>
            </a:outerShdw>
          </a:effectLst>
        </p:spPr>
      </p:sp>
      <p:sp>
        <p:nvSpPr>
          <p:cNvPr id="46" name="Shape 44"/>
          <p:cNvSpPr/>
          <p:nvPr/>
        </p:nvSpPr>
        <p:spPr>
          <a:xfrm>
            <a:off x="7150608" y="1371600"/>
            <a:ext cx="1600200" cy="685800"/>
          </a:xfrm>
          <a:prstGeom prst="rect">
            <a:avLst>
              <a:gd name="adj" fmla="val 13333"/>
            </a:avLst>
          </a:prstGeom>
          <a:solidFill>
            <a:srgbClr val="10B981"/>
          </a:solidFill>
          <a:ln w="12700">
            <a:solidFill>
              <a:srgbClr val="10B981"/>
            </a:solidFill>
            <a:prstDash val="solid"/>
          </a:ln>
        </p:spPr>
      </p:sp>
      <p:sp>
        <p:nvSpPr>
          <p:cNvPr id="47" name="Shape 45"/>
          <p:cNvSpPr/>
          <p:nvPr/>
        </p:nvSpPr>
        <p:spPr>
          <a:xfrm>
            <a:off x="7150608" y="1874520"/>
            <a:ext cx="1600200" cy="182880"/>
          </a:xfrm>
          <a:prstGeom prst="rect">
            <a:avLst/>
          </a:prstGeom>
          <a:solidFill>
            <a:srgbClr val="10B981"/>
          </a:solidFill>
          <a:ln w="12700">
            <a:solidFill>
              <a:srgbClr val="10B981"/>
            </a:solidFill>
            <a:prstDash val="solid"/>
          </a:ln>
        </p:spPr>
      </p:sp>
      <p:sp>
        <p:nvSpPr>
          <p:cNvPr id="48" name="Text 46"/>
          <p:cNvSpPr/>
          <p:nvPr/>
        </p:nvSpPr>
        <p:spPr>
          <a:xfrm>
            <a:off x="7150608" y="1399032"/>
            <a:ext cx="160020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49" name="Text 47"/>
          <p:cNvSpPr/>
          <p:nvPr/>
        </p:nvSpPr>
        <p:spPr>
          <a:xfrm>
            <a:off x="7196328" y="2084832"/>
            <a:ext cx="1508760" cy="347472"/>
          </a:xfrm>
          <a:prstGeom prst="rect">
            <a:avLst/>
          </a:prstGeom>
          <a:noFill/>
          <a:ln/>
        </p:spPr>
        <p:txBody>
          <a:bodyPr wrap="square" lIns="0" tIns="0" rIns="0" bIns="0" rtlCol="0" anchor="ctr"/>
          <a:lstStyle/>
          <a:p>
            <a:pPr algn="ctr" indent="0" marL="0">
              <a:buNone/>
            </a:pPr>
            <a:r>
              <a:rPr lang="en-US" sz="1300" b="1" dirty="0">
                <a:solidFill>
                  <a:srgbClr val="10B981"/>
                </a:solidFill>
                <a:latin typeface="Cambria" pitchFamily="34" charset="0"/>
                <a:ea typeface="Cambria" pitchFamily="34" charset="-122"/>
                <a:cs typeface="Cambria" pitchFamily="34" charset="-120"/>
              </a:rPr>
              <a:t>Tenant (Viewer)</a:t>
            </a:r>
            <a:endParaRPr lang="en-US" sz="1300" dirty="0"/>
          </a:p>
        </p:txBody>
      </p:sp>
      <p:sp>
        <p:nvSpPr>
          <p:cNvPr id="50" name="Text 48"/>
          <p:cNvSpPr/>
          <p:nvPr/>
        </p:nvSpPr>
        <p:spPr>
          <a:xfrm>
            <a:off x="7196328" y="2423160"/>
            <a:ext cx="15087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Accès lecture seule</a:t>
            </a:r>
            <a:endParaRPr lang="en-US" sz="1000" dirty="0"/>
          </a:p>
        </p:txBody>
      </p:sp>
      <p:sp>
        <p:nvSpPr>
          <p:cNvPr id="51" name="Text 49"/>
          <p:cNvSpPr/>
          <p:nvPr/>
        </p:nvSpPr>
        <p:spPr>
          <a:xfrm>
            <a:off x="7260336" y="2834640"/>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Consultation transactions</a:t>
            </a:r>
            <a:endParaRPr lang="en-US" sz="1050" dirty="0"/>
          </a:p>
        </p:txBody>
      </p:sp>
      <p:sp>
        <p:nvSpPr>
          <p:cNvPr id="52" name="Text 50"/>
          <p:cNvSpPr/>
          <p:nvPr/>
        </p:nvSpPr>
        <p:spPr>
          <a:xfrm>
            <a:off x="7260336" y="3282696"/>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Visualisation alertes</a:t>
            </a:r>
            <a:endParaRPr lang="en-US" sz="1050" dirty="0"/>
          </a:p>
        </p:txBody>
      </p:sp>
      <p:sp>
        <p:nvSpPr>
          <p:cNvPr id="53" name="Text 51"/>
          <p:cNvSpPr/>
          <p:nvPr/>
        </p:nvSpPr>
        <p:spPr>
          <a:xfrm>
            <a:off x="7260336" y="3730752"/>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Téléchargement rapports</a:t>
            </a:r>
            <a:endParaRPr lang="en-US" sz="1050" dirty="0"/>
          </a:p>
        </p:txBody>
      </p:sp>
      <p:sp>
        <p:nvSpPr>
          <p:cNvPr id="54" name="Text 52"/>
          <p:cNvSpPr/>
          <p:nvPr/>
        </p:nvSpPr>
        <p:spPr>
          <a:xfrm>
            <a:off x="7260336" y="4178808"/>
            <a:ext cx="1371600" cy="411480"/>
          </a:xfrm>
          <a:prstGeom prst="rect">
            <a:avLst/>
          </a:prstGeom>
          <a:noFill/>
          <a:ln/>
        </p:spPr>
        <p:txBody>
          <a:bodyPr wrap="square" lIns="0" tIns="0" rIns="0" bIns="0" rtlCol="0" anchor="ctr"/>
          <a:lstStyle/>
          <a:p>
            <a:pPr indent="0" marL="0">
              <a:buNone/>
            </a:pPr>
            <a:r>
              <a:rPr lang="en-US" sz="1050" dirty="0">
                <a:solidFill>
                  <a:srgbClr val="1E3A5F"/>
                </a:solidFill>
                <a:latin typeface="Calibri" pitchFamily="34" charset="0"/>
                <a:ea typeface="Calibri" pitchFamily="34" charset="-122"/>
                <a:cs typeface="Calibri" pitchFamily="34" charset="-120"/>
              </a:rPr>
              <a:t>• Aucune action possible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Tableau de Bord Analytique</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Vue temps réel des métriques de fraude — rafraîchissement automatique toutes les 30 secondes</a:t>
            </a:r>
            <a:endParaRPr lang="en-US" sz="1300" dirty="0"/>
          </a:p>
        </p:txBody>
      </p:sp>
      <p:sp>
        <p:nvSpPr>
          <p:cNvPr id="5" name="Shape 3"/>
          <p:cNvSpPr/>
          <p:nvPr/>
        </p:nvSpPr>
        <p:spPr>
          <a:xfrm>
            <a:off x="320040" y="1389888"/>
            <a:ext cx="8503920" cy="3611880"/>
          </a:xfrm>
          <a:prstGeom prst="rect">
            <a:avLst>
              <a:gd name="adj" fmla="val 2532"/>
            </a:avLst>
          </a:prstGeom>
          <a:solidFill>
            <a:srgbClr val="FFFFFF"/>
          </a:solidFill>
          <a:ln w="12700">
            <a:solidFill>
              <a:srgbClr val="CBD5E1"/>
            </a:solidFill>
            <a:prstDash val="solid"/>
          </a:ln>
          <a:effectLst>
            <a:outerShdw sx="100000" sy="100000" kx="0" ky="0" algn="bl" rotWithShape="0" blurRad="203200" dist="76200" dir="2700000">
              <a:srgbClr val="000000">
                <a:alpha val="18000"/>
              </a:srgbClr>
            </a:outerShdw>
          </a:effectLst>
        </p:spPr>
      </p:sp>
      <p:sp>
        <p:nvSpPr>
          <p:cNvPr id="6" name="Shape 4"/>
          <p:cNvSpPr/>
          <p:nvPr/>
        </p:nvSpPr>
        <p:spPr>
          <a:xfrm>
            <a:off x="320040" y="1389888"/>
            <a:ext cx="8503920" cy="384048"/>
          </a:xfrm>
          <a:prstGeom prst="rect">
            <a:avLst>
              <a:gd name="adj" fmla="val 23810"/>
            </a:avLst>
          </a:prstGeom>
          <a:solidFill>
            <a:srgbClr val="F1F5F9"/>
          </a:solidFill>
          <a:ln w="12700">
            <a:solidFill>
              <a:srgbClr val="E2E8F0"/>
            </a:solidFill>
            <a:prstDash val="solid"/>
          </a:ln>
        </p:spPr>
      </p:sp>
      <p:sp>
        <p:nvSpPr>
          <p:cNvPr id="7" name="Shape 5"/>
          <p:cNvSpPr/>
          <p:nvPr/>
        </p:nvSpPr>
        <p:spPr>
          <a:xfrm>
            <a:off x="320040" y="1636776"/>
            <a:ext cx="8503920" cy="137160"/>
          </a:xfrm>
          <a:prstGeom prst="rect">
            <a:avLst/>
          </a:prstGeom>
          <a:solidFill>
            <a:srgbClr val="F1F5F9"/>
          </a:solidFill>
          <a:ln w="12700">
            <a:solidFill>
              <a:srgbClr val="F1F5F9"/>
            </a:solidFill>
            <a:prstDash val="solid"/>
          </a:ln>
        </p:spPr>
      </p:sp>
      <p:sp>
        <p:nvSpPr>
          <p:cNvPr id="8" name="Shape 6"/>
          <p:cNvSpPr/>
          <p:nvPr/>
        </p:nvSpPr>
        <p:spPr>
          <a:xfrm>
            <a:off x="502920" y="1481328"/>
            <a:ext cx="146304" cy="146304"/>
          </a:xfrm>
          <a:prstGeom prst="ellipse">
            <a:avLst/>
          </a:prstGeom>
          <a:solidFill>
            <a:srgbClr val="EF4444"/>
          </a:solidFill>
          <a:ln w="12700">
            <a:solidFill>
              <a:srgbClr val="EF4444"/>
            </a:solidFill>
            <a:prstDash val="solid"/>
          </a:ln>
        </p:spPr>
      </p:sp>
      <p:sp>
        <p:nvSpPr>
          <p:cNvPr id="9" name="Shape 7"/>
          <p:cNvSpPr/>
          <p:nvPr/>
        </p:nvSpPr>
        <p:spPr>
          <a:xfrm>
            <a:off x="758952" y="1481328"/>
            <a:ext cx="146304" cy="146304"/>
          </a:xfrm>
          <a:prstGeom prst="ellipse">
            <a:avLst/>
          </a:prstGeom>
          <a:solidFill>
            <a:srgbClr val="F59E0B"/>
          </a:solidFill>
          <a:ln w="12700">
            <a:solidFill>
              <a:srgbClr val="F59E0B"/>
            </a:solidFill>
            <a:prstDash val="solid"/>
          </a:ln>
        </p:spPr>
      </p:sp>
      <p:sp>
        <p:nvSpPr>
          <p:cNvPr id="10" name="Shape 8"/>
          <p:cNvSpPr/>
          <p:nvPr/>
        </p:nvSpPr>
        <p:spPr>
          <a:xfrm>
            <a:off x="1014984" y="1481328"/>
            <a:ext cx="146304" cy="146304"/>
          </a:xfrm>
          <a:prstGeom prst="ellipse">
            <a:avLst/>
          </a:prstGeom>
          <a:solidFill>
            <a:srgbClr val="22C55E"/>
          </a:solidFill>
          <a:ln w="12700">
            <a:solidFill>
              <a:srgbClr val="22C55E"/>
            </a:solidFill>
            <a:prstDash val="solid"/>
          </a:ln>
        </p:spPr>
      </p:sp>
      <p:sp>
        <p:nvSpPr>
          <p:cNvPr id="11" name="Shape 9"/>
          <p:cNvSpPr/>
          <p:nvPr/>
        </p:nvSpPr>
        <p:spPr>
          <a:xfrm>
            <a:off x="1371600" y="1463040"/>
            <a:ext cx="3657600" cy="228600"/>
          </a:xfrm>
          <a:prstGeom prst="rect">
            <a:avLst>
              <a:gd name="adj" fmla="val 20000"/>
            </a:avLst>
          </a:prstGeom>
          <a:solidFill>
            <a:srgbClr val="FFFFFF"/>
          </a:solidFill>
          <a:ln w="12700">
            <a:solidFill>
              <a:srgbClr val="CBD5E1"/>
            </a:solidFill>
            <a:prstDash val="solid"/>
          </a:ln>
        </p:spPr>
      </p:sp>
      <p:sp>
        <p:nvSpPr>
          <p:cNvPr id="12" name="Text 10"/>
          <p:cNvSpPr/>
          <p:nvPr/>
        </p:nvSpPr>
        <p:spPr>
          <a:xfrm>
            <a:off x="1417320" y="1463040"/>
            <a:ext cx="356616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localhost:3000 — FraudGuard Dashboard</a:t>
            </a:r>
            <a:endParaRPr lang="en-US" sz="850" dirty="0"/>
          </a:p>
        </p:txBody>
      </p:sp>
      <p:sp>
        <p:nvSpPr>
          <p:cNvPr id="13" name="Shape 11"/>
          <p:cNvSpPr/>
          <p:nvPr/>
        </p:nvSpPr>
        <p:spPr>
          <a:xfrm>
            <a:off x="320040" y="1773936"/>
            <a:ext cx="1188720" cy="3227832"/>
          </a:xfrm>
          <a:prstGeom prst="rect">
            <a:avLst/>
          </a:prstGeom>
          <a:solidFill>
            <a:srgbClr val="0A1628"/>
          </a:solidFill>
          <a:ln w="12700">
            <a:solidFill>
              <a:srgbClr val="0A1628"/>
            </a:solidFill>
            <a:prstDash val="solid"/>
          </a:ln>
        </p:spPr>
      </p:sp>
      <p:sp>
        <p:nvSpPr>
          <p:cNvPr id="14" name="Text 12"/>
          <p:cNvSpPr/>
          <p:nvPr/>
        </p:nvSpPr>
        <p:spPr>
          <a:xfrm>
            <a:off x="320040" y="1828800"/>
            <a:ext cx="11887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FraudGuard</a:t>
            </a:r>
            <a:endParaRPr lang="en-US" sz="900" dirty="0"/>
          </a:p>
        </p:txBody>
      </p:sp>
      <p:sp>
        <p:nvSpPr>
          <p:cNvPr id="15" name="Shape 13"/>
          <p:cNvSpPr/>
          <p:nvPr/>
        </p:nvSpPr>
        <p:spPr>
          <a:xfrm>
            <a:off x="320040" y="2514600"/>
            <a:ext cx="1188720" cy="347472"/>
          </a:xfrm>
          <a:prstGeom prst="rect">
            <a:avLst/>
          </a:prstGeom>
          <a:solidFill>
            <a:srgbClr val="2D5282"/>
          </a:solidFill>
          <a:ln w="12700">
            <a:solidFill>
              <a:srgbClr val="2D5282"/>
            </a:solidFill>
            <a:prstDash val="solid"/>
          </a:ln>
        </p:spPr>
      </p:sp>
      <p:sp>
        <p:nvSpPr>
          <p:cNvPr id="16" name="Text 14"/>
          <p:cNvSpPr/>
          <p:nvPr/>
        </p:nvSpPr>
        <p:spPr>
          <a:xfrm>
            <a:off x="384048" y="2542032"/>
            <a:ext cx="105156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Dashboard</a:t>
            </a:r>
            <a:endParaRPr lang="en-US" sz="900" dirty="0"/>
          </a:p>
        </p:txBody>
      </p:sp>
      <p:sp>
        <p:nvSpPr>
          <p:cNvPr id="17" name="Text 15"/>
          <p:cNvSpPr/>
          <p:nvPr/>
        </p:nvSpPr>
        <p:spPr>
          <a:xfrm>
            <a:off x="384048" y="2980944"/>
            <a:ext cx="105156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Alertes</a:t>
            </a:r>
            <a:endParaRPr lang="en-US" sz="900" dirty="0"/>
          </a:p>
        </p:txBody>
      </p:sp>
      <p:sp>
        <p:nvSpPr>
          <p:cNvPr id="18" name="Text 16"/>
          <p:cNvSpPr/>
          <p:nvPr/>
        </p:nvSpPr>
        <p:spPr>
          <a:xfrm>
            <a:off x="384048" y="3419856"/>
            <a:ext cx="105156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Transactions</a:t>
            </a:r>
            <a:endParaRPr lang="en-US" sz="900" dirty="0"/>
          </a:p>
        </p:txBody>
      </p:sp>
      <p:sp>
        <p:nvSpPr>
          <p:cNvPr id="19" name="Text 17"/>
          <p:cNvSpPr/>
          <p:nvPr/>
        </p:nvSpPr>
        <p:spPr>
          <a:xfrm>
            <a:off x="384048" y="3858768"/>
            <a:ext cx="105156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Conformité</a:t>
            </a:r>
            <a:endParaRPr lang="en-US" sz="900" dirty="0"/>
          </a:p>
        </p:txBody>
      </p:sp>
      <p:sp>
        <p:nvSpPr>
          <p:cNvPr id="20" name="Text 18"/>
          <p:cNvSpPr/>
          <p:nvPr/>
        </p:nvSpPr>
        <p:spPr>
          <a:xfrm>
            <a:off x="384048" y="4297680"/>
            <a:ext cx="105156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Config</a:t>
            </a:r>
            <a:endParaRPr lang="en-US" sz="900" dirty="0"/>
          </a:p>
        </p:txBody>
      </p:sp>
      <p:sp>
        <p:nvSpPr>
          <p:cNvPr id="21" name="Shape 19"/>
          <p:cNvSpPr/>
          <p:nvPr/>
        </p:nvSpPr>
        <p:spPr>
          <a:xfrm>
            <a:off x="1600200" y="1828800"/>
            <a:ext cx="1691640" cy="868680"/>
          </a:xfrm>
          <a:prstGeom prst="rect">
            <a:avLst>
              <a:gd name="adj" fmla="val 842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1691640" y="1874520"/>
            <a:ext cx="1371600" cy="384048"/>
          </a:xfrm>
          <a:prstGeom prst="rect">
            <a:avLst/>
          </a:prstGeom>
          <a:noFill/>
          <a:ln/>
        </p:spPr>
        <p:txBody>
          <a:bodyPr wrap="square" lIns="0" tIns="0" rIns="0" bIns="0" rtlCol="0" anchor="ctr"/>
          <a:lstStyle/>
          <a:p>
            <a:pPr indent="0" marL="0">
              <a:buNone/>
            </a:pPr>
            <a:r>
              <a:rPr lang="en-US" sz="2000" b="1" dirty="0">
                <a:solidFill>
                  <a:srgbClr val="1E3A5F"/>
                </a:solidFill>
                <a:latin typeface="Cambria" pitchFamily="34" charset="0"/>
                <a:ea typeface="Cambria" pitchFamily="34" charset="-122"/>
                <a:cs typeface="Cambria" pitchFamily="34" charset="-120"/>
              </a:rPr>
              <a:t>14 872</a:t>
            </a:r>
            <a:endParaRPr lang="en-US" sz="2000" dirty="0"/>
          </a:p>
        </p:txBody>
      </p:sp>
      <p:sp>
        <p:nvSpPr>
          <p:cNvPr id="23" name="Text 21"/>
          <p:cNvSpPr/>
          <p:nvPr/>
        </p:nvSpPr>
        <p:spPr>
          <a:xfrm>
            <a:off x="1691640" y="2267712"/>
            <a:ext cx="137160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Transactions</a:t>
            </a:r>
            <a:endParaRPr lang="en-US" sz="950" dirty="0"/>
          </a:p>
        </p:txBody>
      </p:sp>
      <p:sp>
        <p:nvSpPr>
          <p:cNvPr id="24" name="Text 22"/>
          <p:cNvSpPr/>
          <p:nvPr/>
        </p:nvSpPr>
        <p:spPr>
          <a:xfrm>
            <a:off x="2926080" y="1883664"/>
            <a:ext cx="292608" cy="292608"/>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3410712" y="1828800"/>
            <a:ext cx="1691640" cy="868680"/>
          </a:xfrm>
          <a:prstGeom prst="rect">
            <a:avLst>
              <a:gd name="adj" fmla="val 842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3502152" y="1874520"/>
            <a:ext cx="1371600" cy="384048"/>
          </a:xfrm>
          <a:prstGeom prst="rect">
            <a:avLst/>
          </a:prstGeom>
          <a:noFill/>
          <a:ln/>
        </p:spPr>
        <p:txBody>
          <a:bodyPr wrap="square" lIns="0" tIns="0" rIns="0" bIns="0" rtlCol="0" anchor="ctr"/>
          <a:lstStyle/>
          <a:p>
            <a:pPr indent="0" marL="0">
              <a:buNone/>
            </a:pPr>
            <a:r>
              <a:rPr lang="en-US" sz="2000" b="1" dirty="0">
                <a:solidFill>
                  <a:srgbClr val="EF4444"/>
                </a:solidFill>
                <a:latin typeface="Cambria" pitchFamily="34" charset="0"/>
                <a:ea typeface="Cambria" pitchFamily="34" charset="-122"/>
                <a:cs typeface="Cambria" pitchFamily="34" charset="-120"/>
              </a:rPr>
              <a:t>284</a:t>
            </a:r>
            <a:endParaRPr lang="en-US" sz="2000" dirty="0"/>
          </a:p>
        </p:txBody>
      </p:sp>
      <p:sp>
        <p:nvSpPr>
          <p:cNvPr id="27" name="Text 25"/>
          <p:cNvSpPr/>
          <p:nvPr/>
        </p:nvSpPr>
        <p:spPr>
          <a:xfrm>
            <a:off x="3502152" y="2267712"/>
            <a:ext cx="137160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Fraudes détectées</a:t>
            </a:r>
            <a:endParaRPr lang="en-US" sz="950" dirty="0"/>
          </a:p>
        </p:txBody>
      </p:sp>
      <p:sp>
        <p:nvSpPr>
          <p:cNvPr id="28" name="Text 26"/>
          <p:cNvSpPr/>
          <p:nvPr/>
        </p:nvSpPr>
        <p:spPr>
          <a:xfrm>
            <a:off x="4736592" y="1883664"/>
            <a:ext cx="292608" cy="292608"/>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9" name="Shape 27"/>
          <p:cNvSpPr/>
          <p:nvPr/>
        </p:nvSpPr>
        <p:spPr>
          <a:xfrm>
            <a:off x="5221224" y="1828800"/>
            <a:ext cx="1691640" cy="868680"/>
          </a:xfrm>
          <a:prstGeom prst="rect">
            <a:avLst>
              <a:gd name="adj" fmla="val 842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5312664" y="1874520"/>
            <a:ext cx="1371600" cy="384048"/>
          </a:xfrm>
          <a:prstGeom prst="rect">
            <a:avLst/>
          </a:prstGeom>
          <a:noFill/>
          <a:ln/>
        </p:spPr>
        <p:txBody>
          <a:bodyPr wrap="square" lIns="0" tIns="0" rIns="0" bIns="0" rtlCol="0" anchor="ctr"/>
          <a:lstStyle/>
          <a:p>
            <a:pPr indent="0" marL="0">
              <a:buNone/>
            </a:pPr>
            <a:r>
              <a:rPr lang="en-US" sz="2000" b="1" dirty="0">
                <a:solidFill>
                  <a:srgbClr val="F59E0B"/>
                </a:solidFill>
                <a:latin typeface="Cambria" pitchFamily="34" charset="0"/>
                <a:ea typeface="Cambria" pitchFamily="34" charset="-122"/>
                <a:cs typeface="Cambria" pitchFamily="34" charset="-120"/>
              </a:rPr>
              <a:t>1.91%</a:t>
            </a:r>
            <a:endParaRPr lang="en-US" sz="2000" dirty="0"/>
          </a:p>
        </p:txBody>
      </p:sp>
      <p:sp>
        <p:nvSpPr>
          <p:cNvPr id="31" name="Text 29"/>
          <p:cNvSpPr/>
          <p:nvPr/>
        </p:nvSpPr>
        <p:spPr>
          <a:xfrm>
            <a:off x="5312664" y="2267712"/>
            <a:ext cx="137160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Taux de fraude</a:t>
            </a:r>
            <a:endParaRPr lang="en-US" sz="950" dirty="0"/>
          </a:p>
        </p:txBody>
      </p:sp>
      <p:sp>
        <p:nvSpPr>
          <p:cNvPr id="32" name="Text 30"/>
          <p:cNvSpPr/>
          <p:nvPr/>
        </p:nvSpPr>
        <p:spPr>
          <a:xfrm>
            <a:off x="6547104" y="1883664"/>
            <a:ext cx="292608" cy="292608"/>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33" name="Shape 31"/>
          <p:cNvSpPr/>
          <p:nvPr/>
        </p:nvSpPr>
        <p:spPr>
          <a:xfrm>
            <a:off x="7031736" y="1828800"/>
            <a:ext cx="1691640" cy="868680"/>
          </a:xfrm>
          <a:prstGeom prst="rect">
            <a:avLst>
              <a:gd name="adj" fmla="val 842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4" name="Text 32"/>
          <p:cNvSpPr/>
          <p:nvPr/>
        </p:nvSpPr>
        <p:spPr>
          <a:xfrm>
            <a:off x="7123176" y="1874520"/>
            <a:ext cx="1371600" cy="384048"/>
          </a:xfrm>
          <a:prstGeom prst="rect">
            <a:avLst/>
          </a:prstGeom>
          <a:noFill/>
          <a:ln/>
        </p:spPr>
        <p:txBody>
          <a:bodyPr wrap="square" lIns="0" tIns="0" rIns="0" bIns="0" rtlCol="0" anchor="ctr"/>
          <a:lstStyle/>
          <a:p>
            <a:pPr indent="0" marL="0">
              <a:buNone/>
            </a:pPr>
            <a:r>
              <a:rPr lang="en-US" sz="2000" b="1" dirty="0">
                <a:solidFill>
                  <a:srgbClr val="10B981"/>
                </a:solidFill>
                <a:latin typeface="Cambria" pitchFamily="34" charset="0"/>
                <a:ea typeface="Cambria" pitchFamily="34" charset="-122"/>
                <a:cs typeface="Cambria" pitchFamily="34" charset="-120"/>
              </a:rPr>
              <a:t>v1.4.2</a:t>
            </a:r>
            <a:endParaRPr lang="en-US" sz="2000" dirty="0"/>
          </a:p>
        </p:txBody>
      </p:sp>
      <p:sp>
        <p:nvSpPr>
          <p:cNvPr id="35" name="Text 33"/>
          <p:cNvSpPr/>
          <p:nvPr/>
        </p:nvSpPr>
        <p:spPr>
          <a:xfrm>
            <a:off x="7123176" y="2267712"/>
            <a:ext cx="137160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Modèle actif</a:t>
            </a:r>
            <a:endParaRPr lang="en-US" sz="950" dirty="0"/>
          </a:p>
        </p:txBody>
      </p:sp>
      <p:sp>
        <p:nvSpPr>
          <p:cNvPr id="36" name="Text 34"/>
          <p:cNvSpPr/>
          <p:nvPr/>
        </p:nvSpPr>
        <p:spPr>
          <a:xfrm>
            <a:off x="8357616" y="1883664"/>
            <a:ext cx="292608" cy="292608"/>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37" name="Shape 35"/>
          <p:cNvSpPr/>
          <p:nvPr/>
        </p:nvSpPr>
        <p:spPr>
          <a:xfrm>
            <a:off x="1600200" y="2834640"/>
            <a:ext cx="4389120" cy="1920240"/>
          </a:xfrm>
          <a:prstGeom prst="rect">
            <a:avLst>
              <a:gd name="adj" fmla="val 381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8" name="Text 36"/>
          <p:cNvSpPr/>
          <p:nvPr/>
        </p:nvSpPr>
        <p:spPr>
          <a:xfrm>
            <a:off x="1737360" y="2880360"/>
            <a:ext cx="4114800" cy="274320"/>
          </a:xfrm>
          <a:prstGeom prst="rect">
            <a:avLst/>
          </a:prstGeom>
          <a:noFill/>
          <a:ln/>
        </p:spPr>
        <p:txBody>
          <a:bodyPr wrap="square" lIns="0" tIns="0" rIns="0" bIns="0" rtlCol="0" anchor="ctr"/>
          <a:lstStyle/>
          <a:p>
            <a:pPr indent="0" marL="0">
              <a:buNone/>
            </a:pPr>
            <a:r>
              <a:rPr lang="en-US" sz="1050" b="1" dirty="0">
                <a:solidFill>
                  <a:srgbClr val="1E3A5F"/>
                </a:solidFill>
                <a:latin typeface="Calibri" pitchFamily="34" charset="0"/>
                <a:ea typeface="Calibri" pitchFamily="34" charset="-122"/>
                <a:cs typeface="Calibri" pitchFamily="34" charset="-120"/>
              </a:rPr>
              <a:t>📈  Activité transactions — 14 derniers jours</a:t>
            </a:r>
            <a:endParaRPr lang="en-US" sz="1050" dirty="0"/>
          </a:p>
        </p:txBody>
      </p:sp>
      <p:sp>
        <p:nvSpPr>
          <p:cNvPr id="39" name="Shape 37"/>
          <p:cNvSpPr/>
          <p:nvPr/>
        </p:nvSpPr>
        <p:spPr>
          <a:xfrm>
            <a:off x="1691640" y="4014216"/>
            <a:ext cx="301752" cy="-192024"/>
          </a:xfrm>
          <a:prstGeom prst="LINE">
            <a:avLst/>
          </a:prstGeom>
          <a:noFill/>
          <a:ln w="12700">
            <a:solidFill>
              <a:srgbClr val="10B981"/>
            </a:solidFill>
            <a:prstDash val="solid"/>
          </a:ln>
        </p:spPr>
      </p:sp>
      <p:sp>
        <p:nvSpPr>
          <p:cNvPr id="40" name="Shape 38"/>
          <p:cNvSpPr/>
          <p:nvPr/>
        </p:nvSpPr>
        <p:spPr>
          <a:xfrm>
            <a:off x="1993392" y="3822192"/>
            <a:ext cx="301752" cy="89611"/>
          </a:xfrm>
          <a:prstGeom prst="LINE">
            <a:avLst/>
          </a:prstGeom>
          <a:noFill/>
          <a:ln w="12700">
            <a:solidFill>
              <a:srgbClr val="10B981"/>
            </a:solidFill>
            <a:prstDash val="solid"/>
          </a:ln>
        </p:spPr>
      </p:sp>
      <p:sp>
        <p:nvSpPr>
          <p:cNvPr id="41" name="Shape 39"/>
          <p:cNvSpPr/>
          <p:nvPr/>
        </p:nvSpPr>
        <p:spPr>
          <a:xfrm>
            <a:off x="2295144" y="3911803"/>
            <a:ext cx="301752" cy="-179222"/>
          </a:xfrm>
          <a:prstGeom prst="LINE">
            <a:avLst/>
          </a:prstGeom>
          <a:noFill/>
          <a:ln w="12700">
            <a:solidFill>
              <a:srgbClr val="10B981"/>
            </a:solidFill>
            <a:prstDash val="solid"/>
          </a:ln>
        </p:spPr>
      </p:sp>
      <p:sp>
        <p:nvSpPr>
          <p:cNvPr id="42" name="Shape 40"/>
          <p:cNvSpPr/>
          <p:nvPr/>
        </p:nvSpPr>
        <p:spPr>
          <a:xfrm>
            <a:off x="2596896" y="3732581"/>
            <a:ext cx="301752" cy="-102413"/>
          </a:xfrm>
          <a:prstGeom prst="LINE">
            <a:avLst/>
          </a:prstGeom>
          <a:noFill/>
          <a:ln w="12700">
            <a:solidFill>
              <a:srgbClr val="10B981"/>
            </a:solidFill>
            <a:prstDash val="solid"/>
          </a:ln>
        </p:spPr>
      </p:sp>
      <p:sp>
        <p:nvSpPr>
          <p:cNvPr id="43" name="Shape 41"/>
          <p:cNvSpPr/>
          <p:nvPr/>
        </p:nvSpPr>
        <p:spPr>
          <a:xfrm>
            <a:off x="2898648" y="3630168"/>
            <a:ext cx="301752" cy="153619"/>
          </a:xfrm>
          <a:prstGeom prst="LINE">
            <a:avLst/>
          </a:prstGeom>
          <a:noFill/>
          <a:ln w="12700">
            <a:solidFill>
              <a:srgbClr val="10B981"/>
            </a:solidFill>
            <a:prstDash val="solid"/>
          </a:ln>
        </p:spPr>
      </p:sp>
      <p:sp>
        <p:nvSpPr>
          <p:cNvPr id="44" name="Shape 42"/>
          <p:cNvSpPr/>
          <p:nvPr/>
        </p:nvSpPr>
        <p:spPr>
          <a:xfrm>
            <a:off x="3200400" y="3783787"/>
            <a:ext cx="301752" cy="-217627"/>
          </a:xfrm>
          <a:prstGeom prst="LINE">
            <a:avLst/>
          </a:prstGeom>
          <a:noFill/>
          <a:ln w="12700">
            <a:solidFill>
              <a:srgbClr val="10B981"/>
            </a:solidFill>
            <a:prstDash val="solid"/>
          </a:ln>
        </p:spPr>
      </p:sp>
      <p:sp>
        <p:nvSpPr>
          <p:cNvPr id="45" name="Shape 43"/>
          <p:cNvSpPr/>
          <p:nvPr/>
        </p:nvSpPr>
        <p:spPr>
          <a:xfrm>
            <a:off x="3502152" y="3566160"/>
            <a:ext cx="301752" cy="89611"/>
          </a:xfrm>
          <a:prstGeom prst="LINE">
            <a:avLst/>
          </a:prstGeom>
          <a:noFill/>
          <a:ln w="12700">
            <a:solidFill>
              <a:srgbClr val="10B981"/>
            </a:solidFill>
            <a:prstDash val="solid"/>
          </a:ln>
        </p:spPr>
      </p:sp>
      <p:sp>
        <p:nvSpPr>
          <p:cNvPr id="46" name="Shape 44"/>
          <p:cNvSpPr/>
          <p:nvPr/>
        </p:nvSpPr>
        <p:spPr>
          <a:xfrm>
            <a:off x="3803904" y="3655771"/>
            <a:ext cx="301752" cy="-153619"/>
          </a:xfrm>
          <a:prstGeom prst="LINE">
            <a:avLst/>
          </a:prstGeom>
          <a:noFill/>
          <a:ln w="12700">
            <a:solidFill>
              <a:srgbClr val="10B981"/>
            </a:solidFill>
            <a:prstDash val="solid"/>
          </a:ln>
        </p:spPr>
      </p:sp>
      <p:sp>
        <p:nvSpPr>
          <p:cNvPr id="47" name="Shape 45"/>
          <p:cNvSpPr/>
          <p:nvPr/>
        </p:nvSpPr>
        <p:spPr>
          <a:xfrm>
            <a:off x="4105656" y="3502152"/>
            <a:ext cx="301752" cy="102413"/>
          </a:xfrm>
          <a:prstGeom prst="LINE">
            <a:avLst/>
          </a:prstGeom>
          <a:noFill/>
          <a:ln w="12700">
            <a:solidFill>
              <a:srgbClr val="10B981"/>
            </a:solidFill>
            <a:prstDash val="solid"/>
          </a:ln>
        </p:spPr>
      </p:sp>
      <p:sp>
        <p:nvSpPr>
          <p:cNvPr id="48" name="Shape 46"/>
          <p:cNvSpPr/>
          <p:nvPr/>
        </p:nvSpPr>
        <p:spPr>
          <a:xfrm>
            <a:off x="4407408" y="3604565"/>
            <a:ext cx="301752" cy="-166421"/>
          </a:xfrm>
          <a:prstGeom prst="LINE">
            <a:avLst/>
          </a:prstGeom>
          <a:noFill/>
          <a:ln w="12700">
            <a:solidFill>
              <a:srgbClr val="10B981"/>
            </a:solidFill>
            <a:prstDash val="solid"/>
          </a:ln>
        </p:spPr>
      </p:sp>
      <p:sp>
        <p:nvSpPr>
          <p:cNvPr id="49" name="Shape 47"/>
          <p:cNvSpPr/>
          <p:nvPr/>
        </p:nvSpPr>
        <p:spPr>
          <a:xfrm>
            <a:off x="4709160" y="3438144"/>
            <a:ext cx="301752" cy="89611"/>
          </a:xfrm>
          <a:prstGeom prst="LINE">
            <a:avLst/>
          </a:prstGeom>
          <a:noFill/>
          <a:ln w="12700">
            <a:solidFill>
              <a:srgbClr val="10B981"/>
            </a:solidFill>
            <a:prstDash val="solid"/>
          </a:ln>
        </p:spPr>
      </p:sp>
      <p:sp>
        <p:nvSpPr>
          <p:cNvPr id="50" name="Shape 48"/>
          <p:cNvSpPr/>
          <p:nvPr/>
        </p:nvSpPr>
        <p:spPr>
          <a:xfrm>
            <a:off x="5010912" y="3527755"/>
            <a:ext cx="301752" cy="-153619"/>
          </a:xfrm>
          <a:prstGeom prst="LINE">
            <a:avLst/>
          </a:prstGeom>
          <a:noFill/>
          <a:ln w="12700">
            <a:solidFill>
              <a:srgbClr val="10B981"/>
            </a:solidFill>
            <a:prstDash val="solid"/>
          </a:ln>
        </p:spPr>
      </p:sp>
      <p:sp>
        <p:nvSpPr>
          <p:cNvPr id="51" name="Shape 49"/>
          <p:cNvSpPr/>
          <p:nvPr/>
        </p:nvSpPr>
        <p:spPr>
          <a:xfrm>
            <a:off x="5312664" y="3374136"/>
            <a:ext cx="301752" cy="25603"/>
          </a:xfrm>
          <a:prstGeom prst="LINE">
            <a:avLst/>
          </a:prstGeom>
          <a:noFill/>
          <a:ln w="12700">
            <a:solidFill>
              <a:srgbClr val="10B981"/>
            </a:solidFill>
            <a:prstDash val="solid"/>
          </a:ln>
        </p:spPr>
      </p:sp>
      <p:sp>
        <p:nvSpPr>
          <p:cNvPr id="52" name="Shape 50"/>
          <p:cNvSpPr/>
          <p:nvPr/>
        </p:nvSpPr>
        <p:spPr>
          <a:xfrm>
            <a:off x="1691640" y="4142232"/>
            <a:ext cx="301752" cy="-256032"/>
          </a:xfrm>
          <a:prstGeom prst="LINE">
            <a:avLst/>
          </a:prstGeom>
          <a:noFill/>
          <a:ln w="12700">
            <a:solidFill>
              <a:srgbClr val="EF4444"/>
            </a:solidFill>
            <a:prstDash val="solid"/>
          </a:ln>
        </p:spPr>
      </p:sp>
      <p:sp>
        <p:nvSpPr>
          <p:cNvPr id="53" name="Shape 51"/>
          <p:cNvSpPr/>
          <p:nvPr/>
        </p:nvSpPr>
        <p:spPr>
          <a:xfrm>
            <a:off x="1993392" y="3886200"/>
            <a:ext cx="301752" cy="384048"/>
          </a:xfrm>
          <a:prstGeom prst="LINE">
            <a:avLst/>
          </a:prstGeom>
          <a:noFill/>
          <a:ln w="12700">
            <a:solidFill>
              <a:srgbClr val="EF4444"/>
            </a:solidFill>
            <a:prstDash val="solid"/>
          </a:ln>
        </p:spPr>
      </p:sp>
      <p:sp>
        <p:nvSpPr>
          <p:cNvPr id="54" name="Shape 52"/>
          <p:cNvSpPr/>
          <p:nvPr/>
        </p:nvSpPr>
        <p:spPr>
          <a:xfrm>
            <a:off x="2295144" y="4270248"/>
            <a:ext cx="301752" cy="-640080"/>
          </a:xfrm>
          <a:prstGeom prst="LINE">
            <a:avLst/>
          </a:prstGeom>
          <a:noFill/>
          <a:ln w="12700">
            <a:solidFill>
              <a:srgbClr val="EF4444"/>
            </a:solidFill>
            <a:prstDash val="solid"/>
          </a:ln>
        </p:spPr>
      </p:sp>
      <p:sp>
        <p:nvSpPr>
          <p:cNvPr id="55" name="Shape 53"/>
          <p:cNvSpPr/>
          <p:nvPr/>
        </p:nvSpPr>
        <p:spPr>
          <a:xfrm>
            <a:off x="2596896" y="3630168"/>
            <a:ext cx="301752" cy="384048"/>
          </a:xfrm>
          <a:prstGeom prst="LINE">
            <a:avLst/>
          </a:prstGeom>
          <a:noFill/>
          <a:ln w="12700">
            <a:solidFill>
              <a:srgbClr val="EF4444"/>
            </a:solidFill>
            <a:prstDash val="solid"/>
          </a:ln>
        </p:spPr>
      </p:sp>
      <p:sp>
        <p:nvSpPr>
          <p:cNvPr id="56" name="Shape 54"/>
          <p:cNvSpPr/>
          <p:nvPr/>
        </p:nvSpPr>
        <p:spPr>
          <a:xfrm>
            <a:off x="2898648" y="4014216"/>
            <a:ext cx="301752" cy="-512064"/>
          </a:xfrm>
          <a:prstGeom prst="LINE">
            <a:avLst/>
          </a:prstGeom>
          <a:noFill/>
          <a:ln w="12700">
            <a:solidFill>
              <a:srgbClr val="EF4444"/>
            </a:solidFill>
            <a:prstDash val="solid"/>
          </a:ln>
        </p:spPr>
      </p:sp>
      <p:sp>
        <p:nvSpPr>
          <p:cNvPr id="57" name="Shape 55"/>
          <p:cNvSpPr/>
          <p:nvPr/>
        </p:nvSpPr>
        <p:spPr>
          <a:xfrm>
            <a:off x="3200400" y="3502152"/>
            <a:ext cx="301752" cy="640080"/>
          </a:xfrm>
          <a:prstGeom prst="LINE">
            <a:avLst/>
          </a:prstGeom>
          <a:noFill/>
          <a:ln w="12700">
            <a:solidFill>
              <a:srgbClr val="EF4444"/>
            </a:solidFill>
            <a:prstDash val="solid"/>
          </a:ln>
        </p:spPr>
      </p:sp>
      <p:sp>
        <p:nvSpPr>
          <p:cNvPr id="58" name="Shape 56"/>
          <p:cNvSpPr/>
          <p:nvPr/>
        </p:nvSpPr>
        <p:spPr>
          <a:xfrm>
            <a:off x="3502152" y="4142232"/>
            <a:ext cx="301752" cy="-384048"/>
          </a:xfrm>
          <a:prstGeom prst="LINE">
            <a:avLst/>
          </a:prstGeom>
          <a:noFill/>
          <a:ln w="12700">
            <a:solidFill>
              <a:srgbClr val="EF4444"/>
            </a:solidFill>
            <a:prstDash val="solid"/>
          </a:ln>
        </p:spPr>
      </p:sp>
      <p:sp>
        <p:nvSpPr>
          <p:cNvPr id="59" name="Shape 57"/>
          <p:cNvSpPr/>
          <p:nvPr/>
        </p:nvSpPr>
        <p:spPr>
          <a:xfrm>
            <a:off x="3803904" y="3758184"/>
            <a:ext cx="301752" cy="256032"/>
          </a:xfrm>
          <a:prstGeom prst="LINE">
            <a:avLst/>
          </a:prstGeom>
          <a:noFill/>
          <a:ln w="12700">
            <a:solidFill>
              <a:srgbClr val="EF4444"/>
            </a:solidFill>
            <a:prstDash val="solid"/>
          </a:ln>
        </p:spPr>
      </p:sp>
      <p:sp>
        <p:nvSpPr>
          <p:cNvPr id="60" name="Shape 58"/>
          <p:cNvSpPr/>
          <p:nvPr/>
        </p:nvSpPr>
        <p:spPr>
          <a:xfrm>
            <a:off x="4105656" y="4014216"/>
            <a:ext cx="301752" cy="-384048"/>
          </a:xfrm>
          <a:prstGeom prst="LINE">
            <a:avLst/>
          </a:prstGeom>
          <a:noFill/>
          <a:ln w="12700">
            <a:solidFill>
              <a:srgbClr val="EF4444"/>
            </a:solidFill>
            <a:prstDash val="solid"/>
          </a:ln>
        </p:spPr>
      </p:sp>
      <p:sp>
        <p:nvSpPr>
          <p:cNvPr id="61" name="Shape 59"/>
          <p:cNvSpPr/>
          <p:nvPr/>
        </p:nvSpPr>
        <p:spPr>
          <a:xfrm>
            <a:off x="4407408" y="3630168"/>
            <a:ext cx="301752" cy="256032"/>
          </a:xfrm>
          <a:prstGeom prst="LINE">
            <a:avLst/>
          </a:prstGeom>
          <a:noFill/>
          <a:ln w="12700">
            <a:solidFill>
              <a:srgbClr val="EF4444"/>
            </a:solidFill>
            <a:prstDash val="solid"/>
          </a:ln>
        </p:spPr>
      </p:sp>
      <p:sp>
        <p:nvSpPr>
          <p:cNvPr id="62" name="Shape 60"/>
          <p:cNvSpPr/>
          <p:nvPr/>
        </p:nvSpPr>
        <p:spPr>
          <a:xfrm>
            <a:off x="4709160" y="3886200"/>
            <a:ext cx="301752" cy="256032"/>
          </a:xfrm>
          <a:prstGeom prst="LINE">
            <a:avLst/>
          </a:prstGeom>
          <a:noFill/>
          <a:ln w="12700">
            <a:solidFill>
              <a:srgbClr val="EF4444"/>
            </a:solidFill>
            <a:prstDash val="solid"/>
          </a:ln>
        </p:spPr>
      </p:sp>
      <p:sp>
        <p:nvSpPr>
          <p:cNvPr id="63" name="Shape 61"/>
          <p:cNvSpPr/>
          <p:nvPr/>
        </p:nvSpPr>
        <p:spPr>
          <a:xfrm>
            <a:off x="5010912" y="4142232"/>
            <a:ext cx="301752" cy="-384048"/>
          </a:xfrm>
          <a:prstGeom prst="LINE">
            <a:avLst/>
          </a:prstGeom>
          <a:noFill/>
          <a:ln w="12700">
            <a:solidFill>
              <a:srgbClr val="EF4444"/>
            </a:solidFill>
            <a:prstDash val="solid"/>
          </a:ln>
        </p:spPr>
      </p:sp>
      <p:sp>
        <p:nvSpPr>
          <p:cNvPr id="64" name="Shape 62"/>
          <p:cNvSpPr/>
          <p:nvPr/>
        </p:nvSpPr>
        <p:spPr>
          <a:xfrm>
            <a:off x="5312664" y="3758184"/>
            <a:ext cx="301752" cy="128016"/>
          </a:xfrm>
          <a:prstGeom prst="LINE">
            <a:avLst/>
          </a:prstGeom>
          <a:noFill/>
          <a:ln w="12700">
            <a:solidFill>
              <a:srgbClr val="EF4444"/>
            </a:solidFill>
            <a:prstDash val="solid"/>
          </a:ln>
        </p:spPr>
      </p:sp>
      <p:sp>
        <p:nvSpPr>
          <p:cNvPr id="65" name="Shape 63"/>
          <p:cNvSpPr/>
          <p:nvPr/>
        </p:nvSpPr>
        <p:spPr>
          <a:xfrm>
            <a:off x="1920240" y="4636008"/>
            <a:ext cx="109728" cy="109728"/>
          </a:xfrm>
          <a:prstGeom prst="ellipse">
            <a:avLst/>
          </a:prstGeom>
          <a:solidFill>
            <a:srgbClr val="10B981"/>
          </a:solidFill>
          <a:ln w="12700">
            <a:solidFill>
              <a:srgbClr val="10B981"/>
            </a:solidFill>
            <a:prstDash val="solid"/>
          </a:ln>
        </p:spPr>
      </p:sp>
      <p:sp>
        <p:nvSpPr>
          <p:cNvPr id="66" name="Text 64"/>
          <p:cNvSpPr/>
          <p:nvPr/>
        </p:nvSpPr>
        <p:spPr>
          <a:xfrm>
            <a:off x="2057400" y="4608576"/>
            <a:ext cx="731520" cy="16459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Légitimes</a:t>
            </a:r>
            <a:endParaRPr lang="en-US" sz="800" dirty="0"/>
          </a:p>
        </p:txBody>
      </p:sp>
      <p:sp>
        <p:nvSpPr>
          <p:cNvPr id="67" name="Shape 65"/>
          <p:cNvSpPr/>
          <p:nvPr/>
        </p:nvSpPr>
        <p:spPr>
          <a:xfrm>
            <a:off x="2971800" y="4636008"/>
            <a:ext cx="109728" cy="109728"/>
          </a:xfrm>
          <a:prstGeom prst="ellipse">
            <a:avLst/>
          </a:prstGeom>
          <a:solidFill>
            <a:srgbClr val="EF4444"/>
          </a:solidFill>
          <a:ln w="12700">
            <a:solidFill>
              <a:srgbClr val="EF4444"/>
            </a:solidFill>
            <a:prstDash val="solid"/>
          </a:ln>
        </p:spPr>
      </p:sp>
      <p:sp>
        <p:nvSpPr>
          <p:cNvPr id="68" name="Text 66"/>
          <p:cNvSpPr/>
          <p:nvPr/>
        </p:nvSpPr>
        <p:spPr>
          <a:xfrm>
            <a:off x="3108960" y="4608576"/>
            <a:ext cx="548640" cy="16459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Fraudes</a:t>
            </a:r>
            <a:endParaRPr lang="en-US" sz="800" dirty="0"/>
          </a:p>
        </p:txBody>
      </p:sp>
      <p:sp>
        <p:nvSpPr>
          <p:cNvPr id="69" name="Shape 67"/>
          <p:cNvSpPr/>
          <p:nvPr/>
        </p:nvSpPr>
        <p:spPr>
          <a:xfrm>
            <a:off x="6126480" y="2834640"/>
            <a:ext cx="2606040" cy="1920240"/>
          </a:xfrm>
          <a:prstGeom prst="rect">
            <a:avLst>
              <a:gd name="adj" fmla="val 381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0" name="Text 68"/>
          <p:cNvSpPr/>
          <p:nvPr/>
        </p:nvSpPr>
        <p:spPr>
          <a:xfrm>
            <a:off x="6263640" y="2880360"/>
            <a:ext cx="2286000" cy="256032"/>
          </a:xfrm>
          <a:prstGeom prst="rect">
            <a:avLst/>
          </a:prstGeom>
          <a:noFill/>
          <a:ln/>
        </p:spPr>
        <p:txBody>
          <a:bodyPr wrap="square" lIns="0" tIns="0" rIns="0" bIns="0" rtlCol="0" anchor="ctr"/>
          <a:lstStyle/>
          <a:p>
            <a:pPr indent="0" marL="0">
              <a:buNone/>
            </a:pPr>
            <a:r>
              <a:rPr lang="en-US" sz="1050" b="1" dirty="0">
                <a:solidFill>
                  <a:srgbClr val="1E3A5F"/>
                </a:solidFill>
                <a:latin typeface="Calibri" pitchFamily="34" charset="0"/>
                <a:ea typeface="Calibri" pitchFamily="34" charset="-122"/>
                <a:cs typeface="Calibri" pitchFamily="34" charset="-120"/>
              </a:rPr>
              <a:t>🚨  Alertes récentes</a:t>
            </a:r>
            <a:endParaRPr lang="en-US" sz="1050" dirty="0"/>
          </a:p>
        </p:txBody>
      </p:sp>
      <p:sp>
        <p:nvSpPr>
          <p:cNvPr id="71" name="Shape 69"/>
          <p:cNvSpPr/>
          <p:nvPr/>
        </p:nvSpPr>
        <p:spPr>
          <a:xfrm>
            <a:off x="6126480" y="3200400"/>
            <a:ext cx="2606040" cy="329184"/>
          </a:xfrm>
          <a:prstGeom prst="rect">
            <a:avLst/>
          </a:prstGeom>
          <a:solidFill>
            <a:srgbClr val="F8FAFC"/>
          </a:solidFill>
          <a:ln w="12700">
            <a:solidFill>
              <a:srgbClr val="F8FAFC"/>
            </a:solidFill>
            <a:prstDash val="solid"/>
          </a:ln>
        </p:spPr>
      </p:sp>
      <p:sp>
        <p:nvSpPr>
          <p:cNvPr id="72" name="Text 70"/>
          <p:cNvSpPr/>
          <p:nvPr/>
        </p:nvSpPr>
        <p:spPr>
          <a:xfrm>
            <a:off x="6199632" y="3246120"/>
            <a:ext cx="1005840" cy="237744"/>
          </a:xfrm>
          <a:prstGeom prst="rect">
            <a:avLst/>
          </a:prstGeom>
          <a:noFill/>
          <a:ln/>
        </p:spPr>
        <p:txBody>
          <a:bodyPr wrap="square" lIns="0" tIns="0" rIns="0" bIns="0" rtlCol="0" anchor="ctr"/>
          <a:lstStyle/>
          <a:p>
            <a:pPr indent="0" marL="0">
              <a:buNone/>
            </a:pPr>
            <a:r>
              <a:rPr lang="en-US" sz="900" b="1" dirty="0">
                <a:solidFill>
                  <a:srgbClr val="1E3A5F"/>
                </a:solidFill>
                <a:latin typeface="Calibri" pitchFamily="34" charset="0"/>
                <a:ea typeface="Calibri" pitchFamily="34" charset="-122"/>
                <a:cs typeface="Calibri" pitchFamily="34" charset="-120"/>
              </a:rPr>
              <a:t>TXN-00142</a:t>
            </a:r>
            <a:endParaRPr lang="en-US" sz="900" dirty="0"/>
          </a:p>
        </p:txBody>
      </p:sp>
      <p:sp>
        <p:nvSpPr>
          <p:cNvPr id="73" name="Text 71"/>
          <p:cNvSpPr/>
          <p:nvPr/>
        </p:nvSpPr>
        <p:spPr>
          <a:xfrm>
            <a:off x="7223760" y="3246120"/>
            <a:ext cx="548640" cy="23774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Mobile</a:t>
            </a:r>
            <a:endParaRPr lang="en-US" sz="900" dirty="0"/>
          </a:p>
        </p:txBody>
      </p:sp>
      <p:sp>
        <p:nvSpPr>
          <p:cNvPr id="74" name="Text 72"/>
          <p:cNvSpPr/>
          <p:nvPr/>
        </p:nvSpPr>
        <p:spPr>
          <a:xfrm>
            <a:off x="7790688" y="3246120"/>
            <a:ext cx="914400" cy="237744"/>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 Critique</a:t>
            </a:r>
            <a:endParaRPr lang="en-US" sz="900" dirty="0"/>
          </a:p>
        </p:txBody>
      </p:sp>
      <p:sp>
        <p:nvSpPr>
          <p:cNvPr id="75" name="Shape 73"/>
          <p:cNvSpPr/>
          <p:nvPr/>
        </p:nvSpPr>
        <p:spPr>
          <a:xfrm>
            <a:off x="6126480" y="3547872"/>
            <a:ext cx="2606040" cy="329184"/>
          </a:xfrm>
          <a:prstGeom prst="rect">
            <a:avLst/>
          </a:prstGeom>
          <a:solidFill>
            <a:srgbClr val="FFFFFF"/>
          </a:solidFill>
          <a:ln w="12700">
            <a:solidFill>
              <a:srgbClr val="FFFFFF"/>
            </a:solidFill>
            <a:prstDash val="solid"/>
          </a:ln>
        </p:spPr>
      </p:sp>
      <p:sp>
        <p:nvSpPr>
          <p:cNvPr id="76" name="Text 74"/>
          <p:cNvSpPr/>
          <p:nvPr/>
        </p:nvSpPr>
        <p:spPr>
          <a:xfrm>
            <a:off x="6199632" y="3593592"/>
            <a:ext cx="1005840" cy="237744"/>
          </a:xfrm>
          <a:prstGeom prst="rect">
            <a:avLst/>
          </a:prstGeom>
          <a:noFill/>
          <a:ln/>
        </p:spPr>
        <p:txBody>
          <a:bodyPr wrap="square" lIns="0" tIns="0" rIns="0" bIns="0" rtlCol="0" anchor="ctr"/>
          <a:lstStyle/>
          <a:p>
            <a:pPr indent="0" marL="0">
              <a:buNone/>
            </a:pPr>
            <a:r>
              <a:rPr lang="en-US" sz="900" b="1" dirty="0">
                <a:solidFill>
                  <a:srgbClr val="1E3A5F"/>
                </a:solidFill>
                <a:latin typeface="Calibri" pitchFamily="34" charset="0"/>
                <a:ea typeface="Calibri" pitchFamily="34" charset="-122"/>
                <a:cs typeface="Calibri" pitchFamily="34" charset="-120"/>
              </a:rPr>
              <a:t>TXN-00138</a:t>
            </a:r>
            <a:endParaRPr lang="en-US" sz="900" dirty="0"/>
          </a:p>
        </p:txBody>
      </p:sp>
      <p:sp>
        <p:nvSpPr>
          <p:cNvPr id="77" name="Text 75"/>
          <p:cNvSpPr/>
          <p:nvPr/>
        </p:nvSpPr>
        <p:spPr>
          <a:xfrm>
            <a:off x="7223760" y="3593592"/>
            <a:ext cx="548640" cy="23774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ATM</a:t>
            </a:r>
            <a:endParaRPr lang="en-US" sz="900" dirty="0"/>
          </a:p>
        </p:txBody>
      </p:sp>
      <p:sp>
        <p:nvSpPr>
          <p:cNvPr id="78" name="Text 76"/>
          <p:cNvSpPr/>
          <p:nvPr/>
        </p:nvSpPr>
        <p:spPr>
          <a:xfrm>
            <a:off x="7790688" y="3593592"/>
            <a:ext cx="914400" cy="237744"/>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 Élevé</a:t>
            </a:r>
            <a:endParaRPr lang="en-US" sz="900" dirty="0"/>
          </a:p>
        </p:txBody>
      </p:sp>
      <p:sp>
        <p:nvSpPr>
          <p:cNvPr id="79" name="Shape 77"/>
          <p:cNvSpPr/>
          <p:nvPr/>
        </p:nvSpPr>
        <p:spPr>
          <a:xfrm>
            <a:off x="6126480" y="3895344"/>
            <a:ext cx="2606040" cy="329184"/>
          </a:xfrm>
          <a:prstGeom prst="rect">
            <a:avLst/>
          </a:prstGeom>
          <a:solidFill>
            <a:srgbClr val="F8FAFC"/>
          </a:solidFill>
          <a:ln w="12700">
            <a:solidFill>
              <a:srgbClr val="F8FAFC"/>
            </a:solidFill>
            <a:prstDash val="solid"/>
          </a:ln>
        </p:spPr>
      </p:sp>
      <p:sp>
        <p:nvSpPr>
          <p:cNvPr id="80" name="Text 78"/>
          <p:cNvSpPr/>
          <p:nvPr/>
        </p:nvSpPr>
        <p:spPr>
          <a:xfrm>
            <a:off x="6199632" y="3941064"/>
            <a:ext cx="1005840" cy="237744"/>
          </a:xfrm>
          <a:prstGeom prst="rect">
            <a:avLst/>
          </a:prstGeom>
          <a:noFill/>
          <a:ln/>
        </p:spPr>
        <p:txBody>
          <a:bodyPr wrap="square" lIns="0" tIns="0" rIns="0" bIns="0" rtlCol="0" anchor="ctr"/>
          <a:lstStyle/>
          <a:p>
            <a:pPr indent="0" marL="0">
              <a:buNone/>
            </a:pPr>
            <a:r>
              <a:rPr lang="en-US" sz="900" b="1" dirty="0">
                <a:solidFill>
                  <a:srgbClr val="1E3A5F"/>
                </a:solidFill>
                <a:latin typeface="Calibri" pitchFamily="34" charset="0"/>
                <a:ea typeface="Calibri" pitchFamily="34" charset="-122"/>
                <a:cs typeface="Calibri" pitchFamily="34" charset="-120"/>
              </a:rPr>
              <a:t>TXN-00131</a:t>
            </a:r>
            <a:endParaRPr lang="en-US" sz="900" dirty="0"/>
          </a:p>
        </p:txBody>
      </p:sp>
      <p:sp>
        <p:nvSpPr>
          <p:cNvPr id="81" name="Text 79"/>
          <p:cNvSpPr/>
          <p:nvPr/>
        </p:nvSpPr>
        <p:spPr>
          <a:xfrm>
            <a:off x="7223760" y="3941064"/>
            <a:ext cx="548640" cy="23774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Web</a:t>
            </a:r>
            <a:endParaRPr lang="en-US" sz="900" dirty="0"/>
          </a:p>
        </p:txBody>
      </p:sp>
      <p:sp>
        <p:nvSpPr>
          <p:cNvPr id="82" name="Text 80"/>
          <p:cNvSpPr/>
          <p:nvPr/>
        </p:nvSpPr>
        <p:spPr>
          <a:xfrm>
            <a:off x="7790688" y="3941064"/>
            <a:ext cx="914400" cy="237744"/>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 Moyen</a:t>
            </a:r>
            <a:endParaRPr lang="en-US" sz="900" dirty="0"/>
          </a:p>
        </p:txBody>
      </p:sp>
      <p:sp>
        <p:nvSpPr>
          <p:cNvPr id="83" name="Shape 81"/>
          <p:cNvSpPr/>
          <p:nvPr/>
        </p:nvSpPr>
        <p:spPr>
          <a:xfrm>
            <a:off x="6126480" y="4242816"/>
            <a:ext cx="2606040" cy="329184"/>
          </a:xfrm>
          <a:prstGeom prst="rect">
            <a:avLst/>
          </a:prstGeom>
          <a:solidFill>
            <a:srgbClr val="FFFFFF"/>
          </a:solidFill>
          <a:ln w="12700">
            <a:solidFill>
              <a:srgbClr val="FFFFFF"/>
            </a:solidFill>
            <a:prstDash val="solid"/>
          </a:ln>
        </p:spPr>
      </p:sp>
      <p:sp>
        <p:nvSpPr>
          <p:cNvPr id="84" name="Text 82"/>
          <p:cNvSpPr/>
          <p:nvPr/>
        </p:nvSpPr>
        <p:spPr>
          <a:xfrm>
            <a:off x="6199632" y="4288536"/>
            <a:ext cx="1005840" cy="237744"/>
          </a:xfrm>
          <a:prstGeom prst="rect">
            <a:avLst/>
          </a:prstGeom>
          <a:noFill/>
          <a:ln/>
        </p:spPr>
        <p:txBody>
          <a:bodyPr wrap="square" lIns="0" tIns="0" rIns="0" bIns="0" rtlCol="0" anchor="ctr"/>
          <a:lstStyle/>
          <a:p>
            <a:pPr indent="0" marL="0">
              <a:buNone/>
            </a:pPr>
            <a:r>
              <a:rPr lang="en-US" sz="900" b="1" dirty="0">
                <a:solidFill>
                  <a:srgbClr val="1E3A5F"/>
                </a:solidFill>
                <a:latin typeface="Calibri" pitchFamily="34" charset="0"/>
                <a:ea typeface="Calibri" pitchFamily="34" charset="-122"/>
                <a:cs typeface="Calibri" pitchFamily="34" charset="-120"/>
              </a:rPr>
              <a:t>TXN-00129</a:t>
            </a:r>
            <a:endParaRPr lang="en-US" sz="900" dirty="0"/>
          </a:p>
        </p:txBody>
      </p:sp>
      <p:sp>
        <p:nvSpPr>
          <p:cNvPr id="85" name="Text 83"/>
          <p:cNvSpPr/>
          <p:nvPr/>
        </p:nvSpPr>
        <p:spPr>
          <a:xfrm>
            <a:off x="7223760" y="4288536"/>
            <a:ext cx="548640" cy="23774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POS</a:t>
            </a:r>
            <a:endParaRPr lang="en-US" sz="900" dirty="0"/>
          </a:p>
        </p:txBody>
      </p:sp>
      <p:sp>
        <p:nvSpPr>
          <p:cNvPr id="86" name="Text 84"/>
          <p:cNvSpPr/>
          <p:nvPr/>
        </p:nvSpPr>
        <p:spPr>
          <a:xfrm>
            <a:off x="7790688" y="4288536"/>
            <a:ext cx="914400" cy="237744"/>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 Légitime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Détection &amp; Gestion des Alertes</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Pipeline de scoring temps réel et workflow de qualification</a:t>
            </a:r>
            <a:endParaRPr lang="en-US" sz="1300" dirty="0"/>
          </a:p>
        </p:txBody>
      </p:sp>
      <p:sp>
        <p:nvSpPr>
          <p:cNvPr id="5" name="Shape 3"/>
          <p:cNvSpPr/>
          <p:nvPr/>
        </p:nvSpPr>
        <p:spPr>
          <a:xfrm>
            <a:off x="320040" y="1481328"/>
            <a:ext cx="3657600" cy="594360"/>
          </a:xfrm>
          <a:prstGeom prst="rect">
            <a:avLst>
              <a:gd name="adj" fmla="val 12308"/>
            </a:avLst>
          </a:prstGeom>
          <a:solidFill>
            <a:srgbClr val="FFFFFF"/>
          </a:solidFill>
          <a:ln w="12700">
            <a:solidFill>
              <a:srgbClr val="1E3A5F"/>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384048" y="1572768"/>
            <a:ext cx="384048" cy="384048"/>
          </a:xfrm>
          <a:prstGeom prst="ellipse">
            <a:avLst/>
          </a:prstGeom>
          <a:solidFill>
            <a:srgbClr val="1E3A5F"/>
          </a:solidFill>
          <a:ln w="12700">
            <a:solidFill>
              <a:srgbClr val="1E3A5F"/>
            </a:solidFill>
            <a:prstDash val="solid"/>
          </a:ln>
        </p:spPr>
      </p:sp>
      <p:sp>
        <p:nvSpPr>
          <p:cNvPr id="7" name="Text 5"/>
          <p:cNvSpPr/>
          <p:nvPr/>
        </p:nvSpPr>
        <p:spPr>
          <a:xfrm>
            <a:off x="384048" y="1563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41248" y="1554480"/>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234440" y="1527048"/>
            <a:ext cx="2560320" cy="25603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Transaction reçue</a:t>
            </a:r>
            <a:endParaRPr lang="en-US" sz="1300" dirty="0"/>
          </a:p>
        </p:txBody>
      </p:sp>
      <p:sp>
        <p:nvSpPr>
          <p:cNvPr id="10" name="Text 8"/>
          <p:cNvSpPr/>
          <p:nvPr/>
        </p:nvSpPr>
        <p:spPr>
          <a:xfrm>
            <a:off x="1234440" y="1783080"/>
            <a:ext cx="256032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API /fraud/score</a:t>
            </a:r>
            <a:endParaRPr lang="en-US" sz="1050" dirty="0"/>
          </a:p>
        </p:txBody>
      </p:sp>
      <p:sp>
        <p:nvSpPr>
          <p:cNvPr id="11" name="Text 9"/>
          <p:cNvSpPr/>
          <p:nvPr/>
        </p:nvSpPr>
        <p:spPr>
          <a:xfrm>
            <a:off x="1371600" y="2075688"/>
            <a:ext cx="457200" cy="18288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320040" y="2185416"/>
            <a:ext cx="3657600" cy="594360"/>
          </a:xfrm>
          <a:prstGeom prst="rect">
            <a:avLst>
              <a:gd name="adj" fmla="val 12308"/>
            </a:avLst>
          </a:prstGeom>
          <a:solidFill>
            <a:srgbClr val="FFFFFF"/>
          </a:solidFill>
          <a:ln w="12700">
            <a:solidFill>
              <a:srgbClr val="2D5282"/>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384048" y="2276856"/>
            <a:ext cx="384048" cy="384048"/>
          </a:xfrm>
          <a:prstGeom prst="ellipse">
            <a:avLst/>
          </a:prstGeom>
          <a:solidFill>
            <a:srgbClr val="2D5282"/>
          </a:solidFill>
          <a:ln w="12700">
            <a:solidFill>
              <a:srgbClr val="2D5282"/>
            </a:solidFill>
            <a:prstDash val="solid"/>
          </a:ln>
        </p:spPr>
      </p:sp>
      <p:sp>
        <p:nvSpPr>
          <p:cNvPr id="14" name="Text 12"/>
          <p:cNvSpPr/>
          <p:nvPr/>
        </p:nvSpPr>
        <p:spPr>
          <a:xfrm>
            <a:off x="384048"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841248" y="2258568"/>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1234440" y="2231136"/>
            <a:ext cx="2560320" cy="25603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Extraction features</a:t>
            </a:r>
            <a:endParaRPr lang="en-US" sz="1300" dirty="0"/>
          </a:p>
        </p:txBody>
      </p:sp>
      <p:sp>
        <p:nvSpPr>
          <p:cNvPr id="17" name="Text 15"/>
          <p:cNvSpPr/>
          <p:nvPr/>
        </p:nvSpPr>
        <p:spPr>
          <a:xfrm>
            <a:off x="1234440" y="2487168"/>
            <a:ext cx="256032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30 variables comportementales</a:t>
            </a:r>
            <a:endParaRPr lang="en-US" sz="1050" dirty="0"/>
          </a:p>
        </p:txBody>
      </p:sp>
      <p:sp>
        <p:nvSpPr>
          <p:cNvPr id="18" name="Text 16"/>
          <p:cNvSpPr/>
          <p:nvPr/>
        </p:nvSpPr>
        <p:spPr>
          <a:xfrm>
            <a:off x="1371600" y="2779776"/>
            <a:ext cx="457200" cy="18288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320040" y="2889504"/>
            <a:ext cx="3657600" cy="594360"/>
          </a:xfrm>
          <a:prstGeom prst="rect">
            <a:avLst>
              <a:gd name="adj" fmla="val 12308"/>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384048" y="2980944"/>
            <a:ext cx="384048" cy="384048"/>
          </a:xfrm>
          <a:prstGeom prst="ellipse">
            <a:avLst/>
          </a:prstGeom>
          <a:solidFill>
            <a:srgbClr val="0EA5E9"/>
          </a:solidFill>
          <a:ln w="12700">
            <a:solidFill>
              <a:srgbClr val="0EA5E9"/>
            </a:solidFill>
            <a:prstDash val="solid"/>
          </a:ln>
        </p:spPr>
      </p:sp>
      <p:sp>
        <p:nvSpPr>
          <p:cNvPr id="21" name="Text 19"/>
          <p:cNvSpPr/>
          <p:nvPr/>
        </p:nvSpPr>
        <p:spPr>
          <a:xfrm>
            <a:off x="384048"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41248" y="2962656"/>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1234440" y="2935224"/>
            <a:ext cx="2560320" cy="25603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Scoring IA</a:t>
            </a:r>
            <a:endParaRPr lang="en-US" sz="1300" dirty="0"/>
          </a:p>
        </p:txBody>
      </p:sp>
      <p:sp>
        <p:nvSpPr>
          <p:cNvPr id="24" name="Text 22"/>
          <p:cNvSpPr/>
          <p:nvPr/>
        </p:nvSpPr>
        <p:spPr>
          <a:xfrm>
            <a:off x="1234440" y="3191256"/>
            <a:ext cx="256032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LightGBM &lt; 50ms</a:t>
            </a:r>
            <a:endParaRPr lang="en-US" sz="1050" dirty="0"/>
          </a:p>
        </p:txBody>
      </p:sp>
      <p:sp>
        <p:nvSpPr>
          <p:cNvPr id="25" name="Text 23"/>
          <p:cNvSpPr/>
          <p:nvPr/>
        </p:nvSpPr>
        <p:spPr>
          <a:xfrm>
            <a:off x="1371600" y="3483864"/>
            <a:ext cx="457200" cy="18288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320040" y="3593592"/>
            <a:ext cx="3657600" cy="594360"/>
          </a:xfrm>
          <a:prstGeom prst="rect">
            <a:avLst>
              <a:gd name="adj" fmla="val 12308"/>
            </a:avLst>
          </a:prstGeom>
          <a:solidFill>
            <a:srgbClr val="FFFFFF"/>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27" name="Shape 25"/>
          <p:cNvSpPr/>
          <p:nvPr/>
        </p:nvSpPr>
        <p:spPr>
          <a:xfrm>
            <a:off x="384048" y="3685032"/>
            <a:ext cx="384048" cy="384048"/>
          </a:xfrm>
          <a:prstGeom prst="ellipse">
            <a:avLst/>
          </a:prstGeom>
          <a:solidFill>
            <a:srgbClr val="F59E0B"/>
          </a:solidFill>
          <a:ln w="12700">
            <a:solidFill>
              <a:srgbClr val="F59E0B"/>
            </a:solidFill>
            <a:prstDash val="solid"/>
          </a:ln>
        </p:spPr>
      </p:sp>
      <p:sp>
        <p:nvSpPr>
          <p:cNvPr id="28" name="Text 26"/>
          <p:cNvSpPr/>
          <p:nvPr/>
        </p:nvSpPr>
        <p:spPr>
          <a:xfrm>
            <a:off x="384048"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841248" y="3666744"/>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30" name="Text 28"/>
          <p:cNvSpPr/>
          <p:nvPr/>
        </p:nvSpPr>
        <p:spPr>
          <a:xfrm>
            <a:off x="1234440" y="3639312"/>
            <a:ext cx="2560320" cy="25603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Résultat + Alerte</a:t>
            </a:r>
            <a:endParaRPr lang="en-US" sz="1300" dirty="0"/>
          </a:p>
        </p:txBody>
      </p:sp>
      <p:sp>
        <p:nvSpPr>
          <p:cNvPr id="31" name="Text 29"/>
          <p:cNvSpPr/>
          <p:nvPr/>
        </p:nvSpPr>
        <p:spPr>
          <a:xfrm>
            <a:off x="1234440" y="3895344"/>
            <a:ext cx="256032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Persistance + SSE push</a:t>
            </a:r>
            <a:endParaRPr lang="en-US" sz="1050" dirty="0"/>
          </a:p>
        </p:txBody>
      </p:sp>
      <p:sp>
        <p:nvSpPr>
          <p:cNvPr id="32" name="Text 30"/>
          <p:cNvSpPr/>
          <p:nvPr/>
        </p:nvSpPr>
        <p:spPr>
          <a:xfrm>
            <a:off x="1371600" y="4187952"/>
            <a:ext cx="457200" cy="18288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a:t>
            </a:r>
            <a:endParaRPr lang="en-US" sz="1400" dirty="0"/>
          </a:p>
        </p:txBody>
      </p:sp>
      <p:sp>
        <p:nvSpPr>
          <p:cNvPr id="33" name="Shape 31"/>
          <p:cNvSpPr/>
          <p:nvPr/>
        </p:nvSpPr>
        <p:spPr>
          <a:xfrm>
            <a:off x="320040" y="4297680"/>
            <a:ext cx="3657600" cy="594360"/>
          </a:xfrm>
          <a:prstGeom prst="rect">
            <a:avLst>
              <a:gd name="adj" fmla="val 12308"/>
            </a:avLst>
          </a:prstGeom>
          <a:solidFill>
            <a:srgbClr val="FFFFFF"/>
          </a:solidFill>
          <a:ln w="12700">
            <a:solidFill>
              <a:srgbClr val="10B981"/>
            </a:solidFill>
            <a:prstDash val="solid"/>
          </a:ln>
          <a:effectLst>
            <a:outerShdw sx="100000" sy="100000" kx="0" ky="0" algn="bl" rotWithShape="0" blurRad="101600" dist="38100" dir="2700000">
              <a:srgbClr val="000000">
                <a:alpha val="12000"/>
              </a:srgbClr>
            </a:outerShdw>
          </a:effectLst>
        </p:spPr>
      </p:sp>
      <p:sp>
        <p:nvSpPr>
          <p:cNvPr id="34" name="Shape 32"/>
          <p:cNvSpPr/>
          <p:nvPr/>
        </p:nvSpPr>
        <p:spPr>
          <a:xfrm>
            <a:off x="384048" y="4389120"/>
            <a:ext cx="384048" cy="384048"/>
          </a:xfrm>
          <a:prstGeom prst="ellipse">
            <a:avLst/>
          </a:prstGeom>
          <a:solidFill>
            <a:srgbClr val="10B981"/>
          </a:solidFill>
          <a:ln w="12700">
            <a:solidFill>
              <a:srgbClr val="10B981"/>
            </a:solidFill>
            <a:prstDash val="solid"/>
          </a:ln>
        </p:spPr>
      </p:sp>
      <p:sp>
        <p:nvSpPr>
          <p:cNvPr id="35" name="Text 33"/>
          <p:cNvSpPr/>
          <p:nvPr/>
        </p:nvSpPr>
        <p:spPr>
          <a:xfrm>
            <a:off x="384048"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34"/>
          <p:cNvSpPr/>
          <p:nvPr/>
        </p:nvSpPr>
        <p:spPr>
          <a:xfrm>
            <a:off x="841248" y="4370832"/>
            <a:ext cx="365760" cy="36576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37" name="Text 35"/>
          <p:cNvSpPr/>
          <p:nvPr/>
        </p:nvSpPr>
        <p:spPr>
          <a:xfrm>
            <a:off x="1234440" y="4343400"/>
            <a:ext cx="2560320" cy="256032"/>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Notification temps réel</a:t>
            </a:r>
            <a:endParaRPr lang="en-US" sz="1300" dirty="0"/>
          </a:p>
        </p:txBody>
      </p:sp>
      <p:sp>
        <p:nvSpPr>
          <p:cNvPr id="38" name="Text 36"/>
          <p:cNvSpPr/>
          <p:nvPr/>
        </p:nvSpPr>
        <p:spPr>
          <a:xfrm>
            <a:off x="1234440" y="4599432"/>
            <a:ext cx="2560320" cy="2286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Dashboard admin alerté</a:t>
            </a:r>
            <a:endParaRPr lang="en-US" sz="1050" dirty="0"/>
          </a:p>
        </p:txBody>
      </p:sp>
      <p:sp>
        <p:nvSpPr>
          <p:cNvPr id="39" name="Shape 37"/>
          <p:cNvSpPr/>
          <p:nvPr/>
        </p:nvSpPr>
        <p:spPr>
          <a:xfrm>
            <a:off x="4343400" y="1417320"/>
            <a:ext cx="4572000" cy="3566160"/>
          </a:xfrm>
          <a:prstGeom prst="rect">
            <a:avLst>
              <a:gd name="adj" fmla="val 2564"/>
            </a:avLst>
          </a:prstGeom>
          <a:solidFill>
            <a:srgbClr val="FFFFFF"/>
          </a:solidFill>
          <a:ln w="12700">
            <a:solidFill>
              <a:srgbClr val="CBD5E1"/>
            </a:solidFill>
            <a:prstDash val="solid"/>
          </a:ln>
          <a:effectLst>
            <a:outerShdw sx="100000" sy="100000" kx="0" ky="0" algn="bl" rotWithShape="0" blurRad="203200" dist="76200" dir="2700000">
              <a:srgbClr val="000000">
                <a:alpha val="18000"/>
              </a:srgbClr>
            </a:outerShdw>
          </a:effectLst>
        </p:spPr>
      </p:sp>
      <p:sp>
        <p:nvSpPr>
          <p:cNvPr id="40" name="Shape 38"/>
          <p:cNvSpPr/>
          <p:nvPr/>
        </p:nvSpPr>
        <p:spPr>
          <a:xfrm>
            <a:off x="4343400" y="1417320"/>
            <a:ext cx="4572000" cy="594360"/>
          </a:xfrm>
          <a:prstGeom prst="rect">
            <a:avLst>
              <a:gd name="adj" fmla="val 15385"/>
            </a:avLst>
          </a:prstGeom>
          <a:solidFill>
            <a:srgbClr val="0A1628"/>
          </a:solidFill>
          <a:ln w="12700">
            <a:solidFill>
              <a:srgbClr val="0A1628"/>
            </a:solidFill>
            <a:prstDash val="solid"/>
          </a:ln>
        </p:spPr>
      </p:sp>
      <p:sp>
        <p:nvSpPr>
          <p:cNvPr id="41" name="Shape 39"/>
          <p:cNvSpPr/>
          <p:nvPr/>
        </p:nvSpPr>
        <p:spPr>
          <a:xfrm>
            <a:off x="4343400" y="1783080"/>
            <a:ext cx="4572000" cy="228600"/>
          </a:xfrm>
          <a:prstGeom prst="rect">
            <a:avLst/>
          </a:prstGeom>
          <a:solidFill>
            <a:srgbClr val="0A1628"/>
          </a:solidFill>
          <a:ln w="12700">
            <a:solidFill>
              <a:srgbClr val="0A1628"/>
            </a:solidFill>
            <a:prstDash val="solid"/>
          </a:ln>
        </p:spPr>
      </p:sp>
      <p:sp>
        <p:nvSpPr>
          <p:cNvPr id="42" name="Text 40"/>
          <p:cNvSpPr/>
          <p:nvPr/>
        </p:nvSpPr>
        <p:spPr>
          <a:xfrm>
            <a:off x="4480560" y="1444752"/>
            <a:ext cx="4206240"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  Alerte #1247 — TXN-00142</a:t>
            </a:r>
            <a:endParaRPr lang="en-US" sz="1300" dirty="0"/>
          </a:p>
        </p:txBody>
      </p:sp>
      <p:sp>
        <p:nvSpPr>
          <p:cNvPr id="43" name="Text 41"/>
          <p:cNvSpPr/>
          <p:nvPr/>
        </p:nvSpPr>
        <p:spPr>
          <a:xfrm>
            <a:off x="4480560" y="2121408"/>
            <a:ext cx="146304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Transaction ID</a:t>
            </a:r>
            <a:endParaRPr lang="en-US" sz="1100" dirty="0"/>
          </a:p>
        </p:txBody>
      </p:sp>
      <p:sp>
        <p:nvSpPr>
          <p:cNvPr id="44" name="Text 42"/>
          <p:cNvSpPr/>
          <p:nvPr/>
        </p:nvSpPr>
        <p:spPr>
          <a:xfrm>
            <a:off x="5989320" y="2121408"/>
            <a:ext cx="2743200" cy="2743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TXN-00142-CI-2026</a:t>
            </a:r>
            <a:endParaRPr lang="en-US" sz="1100" dirty="0"/>
          </a:p>
        </p:txBody>
      </p:sp>
      <p:sp>
        <p:nvSpPr>
          <p:cNvPr id="45" name="Shape 43"/>
          <p:cNvSpPr/>
          <p:nvPr/>
        </p:nvSpPr>
        <p:spPr>
          <a:xfrm>
            <a:off x="4462272" y="2423160"/>
            <a:ext cx="4315968" cy="0"/>
          </a:xfrm>
          <a:prstGeom prst="LINE">
            <a:avLst/>
          </a:prstGeom>
          <a:noFill/>
          <a:ln w="12700">
            <a:solidFill>
              <a:srgbClr val="E2E8F0"/>
            </a:solidFill>
            <a:prstDash val="solid"/>
          </a:ln>
        </p:spPr>
      </p:sp>
      <p:sp>
        <p:nvSpPr>
          <p:cNvPr id="46" name="Text 44"/>
          <p:cNvSpPr/>
          <p:nvPr/>
        </p:nvSpPr>
        <p:spPr>
          <a:xfrm>
            <a:off x="4480560" y="2487168"/>
            <a:ext cx="146304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Score de risque</a:t>
            </a:r>
            <a:endParaRPr lang="en-US" sz="1100" dirty="0"/>
          </a:p>
        </p:txBody>
      </p:sp>
      <p:sp>
        <p:nvSpPr>
          <p:cNvPr id="47" name="Text 45"/>
          <p:cNvSpPr/>
          <p:nvPr/>
        </p:nvSpPr>
        <p:spPr>
          <a:xfrm>
            <a:off x="5989320" y="2487168"/>
            <a:ext cx="2743200" cy="27432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94% — CRITIQUE</a:t>
            </a:r>
            <a:endParaRPr lang="en-US" sz="1100" dirty="0"/>
          </a:p>
        </p:txBody>
      </p:sp>
      <p:sp>
        <p:nvSpPr>
          <p:cNvPr id="48" name="Shape 46"/>
          <p:cNvSpPr/>
          <p:nvPr/>
        </p:nvSpPr>
        <p:spPr>
          <a:xfrm>
            <a:off x="4462272" y="2788920"/>
            <a:ext cx="4315968" cy="0"/>
          </a:xfrm>
          <a:prstGeom prst="LINE">
            <a:avLst/>
          </a:prstGeom>
          <a:noFill/>
          <a:ln w="12700">
            <a:solidFill>
              <a:srgbClr val="E2E8F0"/>
            </a:solidFill>
            <a:prstDash val="solid"/>
          </a:ln>
        </p:spPr>
      </p:sp>
      <p:sp>
        <p:nvSpPr>
          <p:cNvPr id="49" name="Text 47"/>
          <p:cNvSpPr/>
          <p:nvPr/>
        </p:nvSpPr>
        <p:spPr>
          <a:xfrm>
            <a:off x="4480560" y="2852928"/>
            <a:ext cx="146304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Montant</a:t>
            </a:r>
            <a:endParaRPr lang="en-US" sz="1100" dirty="0"/>
          </a:p>
        </p:txBody>
      </p:sp>
      <p:sp>
        <p:nvSpPr>
          <p:cNvPr id="50" name="Text 48"/>
          <p:cNvSpPr/>
          <p:nvPr/>
        </p:nvSpPr>
        <p:spPr>
          <a:xfrm>
            <a:off x="5989320" y="2852928"/>
            <a:ext cx="2743200" cy="2743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2 450 000 XOF</a:t>
            </a:r>
            <a:endParaRPr lang="en-US" sz="1100" dirty="0"/>
          </a:p>
        </p:txBody>
      </p:sp>
      <p:sp>
        <p:nvSpPr>
          <p:cNvPr id="51" name="Shape 49"/>
          <p:cNvSpPr/>
          <p:nvPr/>
        </p:nvSpPr>
        <p:spPr>
          <a:xfrm>
            <a:off x="4462272" y="3154680"/>
            <a:ext cx="4315968" cy="0"/>
          </a:xfrm>
          <a:prstGeom prst="LINE">
            <a:avLst/>
          </a:prstGeom>
          <a:noFill/>
          <a:ln w="12700">
            <a:solidFill>
              <a:srgbClr val="E2E8F0"/>
            </a:solidFill>
            <a:prstDash val="solid"/>
          </a:ln>
        </p:spPr>
      </p:sp>
      <p:sp>
        <p:nvSpPr>
          <p:cNvPr id="52" name="Text 50"/>
          <p:cNvSpPr/>
          <p:nvPr/>
        </p:nvSpPr>
        <p:spPr>
          <a:xfrm>
            <a:off x="4480560" y="3218688"/>
            <a:ext cx="146304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Canal</a:t>
            </a:r>
            <a:endParaRPr lang="en-US" sz="1100" dirty="0"/>
          </a:p>
        </p:txBody>
      </p:sp>
      <p:sp>
        <p:nvSpPr>
          <p:cNvPr id="53" name="Text 51"/>
          <p:cNvSpPr/>
          <p:nvPr/>
        </p:nvSpPr>
        <p:spPr>
          <a:xfrm>
            <a:off x="5989320" y="3218688"/>
            <a:ext cx="2743200" cy="2743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Mobile Money</a:t>
            </a:r>
            <a:endParaRPr lang="en-US" sz="1100" dirty="0"/>
          </a:p>
        </p:txBody>
      </p:sp>
      <p:sp>
        <p:nvSpPr>
          <p:cNvPr id="54" name="Shape 52"/>
          <p:cNvSpPr/>
          <p:nvPr/>
        </p:nvSpPr>
        <p:spPr>
          <a:xfrm>
            <a:off x="4462272" y="3520440"/>
            <a:ext cx="4315968" cy="0"/>
          </a:xfrm>
          <a:prstGeom prst="LINE">
            <a:avLst/>
          </a:prstGeom>
          <a:noFill/>
          <a:ln w="12700">
            <a:solidFill>
              <a:srgbClr val="E2E8F0"/>
            </a:solidFill>
            <a:prstDash val="solid"/>
          </a:ln>
        </p:spPr>
      </p:sp>
      <p:sp>
        <p:nvSpPr>
          <p:cNvPr id="55" name="Text 53"/>
          <p:cNvSpPr/>
          <p:nvPr/>
        </p:nvSpPr>
        <p:spPr>
          <a:xfrm>
            <a:off x="4480560" y="3584448"/>
            <a:ext cx="146304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Pays</a:t>
            </a:r>
            <a:endParaRPr lang="en-US" sz="1100" dirty="0"/>
          </a:p>
        </p:txBody>
      </p:sp>
      <p:sp>
        <p:nvSpPr>
          <p:cNvPr id="56" name="Text 54"/>
          <p:cNvSpPr/>
          <p:nvPr/>
        </p:nvSpPr>
        <p:spPr>
          <a:xfrm>
            <a:off x="5989320" y="3584448"/>
            <a:ext cx="2743200" cy="2743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Côte d'Ivoire</a:t>
            </a:r>
            <a:endParaRPr lang="en-US" sz="1100" dirty="0"/>
          </a:p>
        </p:txBody>
      </p:sp>
      <p:sp>
        <p:nvSpPr>
          <p:cNvPr id="57" name="Shape 55"/>
          <p:cNvSpPr/>
          <p:nvPr/>
        </p:nvSpPr>
        <p:spPr>
          <a:xfrm>
            <a:off x="4462272" y="3886200"/>
            <a:ext cx="4315968" cy="0"/>
          </a:xfrm>
          <a:prstGeom prst="LINE">
            <a:avLst/>
          </a:prstGeom>
          <a:noFill/>
          <a:ln w="12700">
            <a:solidFill>
              <a:srgbClr val="E2E8F0"/>
            </a:solidFill>
            <a:prstDash val="solid"/>
          </a:ln>
        </p:spPr>
      </p:sp>
      <p:sp>
        <p:nvSpPr>
          <p:cNvPr id="58" name="Text 56"/>
          <p:cNvSpPr/>
          <p:nvPr/>
        </p:nvSpPr>
        <p:spPr>
          <a:xfrm>
            <a:off x="4480560" y="3950208"/>
            <a:ext cx="146304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Heure</a:t>
            </a:r>
            <a:endParaRPr lang="en-US" sz="1100" dirty="0"/>
          </a:p>
        </p:txBody>
      </p:sp>
      <p:sp>
        <p:nvSpPr>
          <p:cNvPr id="59" name="Text 57"/>
          <p:cNvSpPr/>
          <p:nvPr/>
        </p:nvSpPr>
        <p:spPr>
          <a:xfrm>
            <a:off x="5989320" y="3950208"/>
            <a:ext cx="2743200" cy="27432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14:32:07 UTC</a:t>
            </a:r>
            <a:endParaRPr lang="en-US" sz="1100" dirty="0"/>
          </a:p>
        </p:txBody>
      </p:sp>
      <p:sp>
        <p:nvSpPr>
          <p:cNvPr id="60" name="Shape 58"/>
          <p:cNvSpPr/>
          <p:nvPr/>
        </p:nvSpPr>
        <p:spPr>
          <a:xfrm>
            <a:off x="4462272" y="4251960"/>
            <a:ext cx="4315968" cy="0"/>
          </a:xfrm>
          <a:prstGeom prst="LINE">
            <a:avLst/>
          </a:prstGeom>
          <a:noFill/>
          <a:ln w="12700">
            <a:solidFill>
              <a:srgbClr val="E2E8F0"/>
            </a:solidFill>
            <a:prstDash val="solid"/>
          </a:ln>
        </p:spPr>
      </p:sp>
      <p:sp>
        <p:nvSpPr>
          <p:cNvPr id="61" name="Shape 59"/>
          <p:cNvSpPr/>
          <p:nvPr/>
        </p:nvSpPr>
        <p:spPr>
          <a:xfrm>
            <a:off x="4434840" y="4681728"/>
            <a:ext cx="1417320" cy="256032"/>
          </a:xfrm>
          <a:prstGeom prst="rect">
            <a:avLst>
              <a:gd name="adj" fmla="val 21429"/>
            </a:avLst>
          </a:prstGeom>
          <a:solidFill>
            <a:srgbClr val="EF4444"/>
          </a:solidFill>
          <a:ln w="12700">
            <a:solidFill>
              <a:srgbClr val="EF4444"/>
            </a:solidFill>
            <a:prstDash val="solid"/>
          </a:ln>
        </p:spPr>
      </p:sp>
      <p:sp>
        <p:nvSpPr>
          <p:cNvPr id="62" name="Text 60"/>
          <p:cNvSpPr/>
          <p:nvPr/>
        </p:nvSpPr>
        <p:spPr>
          <a:xfrm>
            <a:off x="4434840" y="4681728"/>
            <a:ext cx="14173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Confirmer fraude</a:t>
            </a:r>
            <a:endParaRPr lang="en-US" sz="950" dirty="0"/>
          </a:p>
        </p:txBody>
      </p:sp>
      <p:sp>
        <p:nvSpPr>
          <p:cNvPr id="63" name="Shape 61"/>
          <p:cNvSpPr/>
          <p:nvPr/>
        </p:nvSpPr>
        <p:spPr>
          <a:xfrm>
            <a:off x="5943600" y="4681728"/>
            <a:ext cx="1417320" cy="256032"/>
          </a:xfrm>
          <a:prstGeom prst="rect">
            <a:avLst>
              <a:gd name="adj" fmla="val 21429"/>
            </a:avLst>
          </a:prstGeom>
          <a:solidFill>
            <a:srgbClr val="F59E0B"/>
          </a:solidFill>
          <a:ln w="12700">
            <a:solidFill>
              <a:srgbClr val="F59E0B"/>
            </a:solidFill>
            <a:prstDash val="solid"/>
          </a:ln>
        </p:spPr>
      </p:sp>
      <p:sp>
        <p:nvSpPr>
          <p:cNvPr id="64" name="Text 62"/>
          <p:cNvSpPr/>
          <p:nvPr/>
        </p:nvSpPr>
        <p:spPr>
          <a:xfrm>
            <a:off x="5943600" y="4681728"/>
            <a:ext cx="14173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Mettre en attente</a:t>
            </a:r>
            <a:endParaRPr lang="en-US" sz="950" dirty="0"/>
          </a:p>
        </p:txBody>
      </p:sp>
      <p:sp>
        <p:nvSpPr>
          <p:cNvPr id="65" name="Shape 63"/>
          <p:cNvSpPr/>
          <p:nvPr/>
        </p:nvSpPr>
        <p:spPr>
          <a:xfrm>
            <a:off x="7452360" y="4681728"/>
            <a:ext cx="1417320" cy="256032"/>
          </a:xfrm>
          <a:prstGeom prst="rect">
            <a:avLst>
              <a:gd name="adj" fmla="val 21429"/>
            </a:avLst>
          </a:prstGeom>
          <a:solidFill>
            <a:srgbClr val="10B981"/>
          </a:solidFill>
          <a:ln w="12700">
            <a:solidFill>
              <a:srgbClr val="10B981"/>
            </a:solidFill>
            <a:prstDash val="solid"/>
          </a:ln>
        </p:spPr>
      </p:sp>
      <p:sp>
        <p:nvSpPr>
          <p:cNvPr id="66" name="Text 64"/>
          <p:cNvSpPr/>
          <p:nvPr/>
        </p:nvSpPr>
        <p:spPr>
          <a:xfrm>
            <a:off x="7452360" y="4681728"/>
            <a:ext cx="14173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Faux positif</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Notifications Temps Réel</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Server-Sent Events (SSE) — alertes instantanées sans rechargement de page</a:t>
            </a:r>
            <a:endParaRPr lang="en-US" sz="1300" dirty="0"/>
          </a:p>
        </p:txBody>
      </p:sp>
      <p:sp>
        <p:nvSpPr>
          <p:cNvPr id="5" name="Shape 3"/>
          <p:cNvSpPr/>
          <p:nvPr/>
        </p:nvSpPr>
        <p:spPr>
          <a:xfrm>
            <a:off x="320040" y="1417320"/>
            <a:ext cx="3840480" cy="1005840"/>
          </a:xfrm>
          <a:prstGeom prst="rect">
            <a:avLst>
              <a:gd name="adj" fmla="val 9091"/>
            </a:avLst>
          </a:prstGeom>
          <a:solidFill>
            <a:srgbClr val="1E3A5F"/>
          </a:solidFill>
          <a:ln w="12700">
            <a:solidFill>
              <a:srgbClr val="1E3A5F"/>
            </a:solidFill>
            <a:prstDash val="solid"/>
          </a:ln>
        </p:spPr>
      </p:sp>
      <p:sp>
        <p:nvSpPr>
          <p:cNvPr id="6" name="Text 4"/>
          <p:cNvSpPr/>
          <p:nvPr/>
        </p:nvSpPr>
        <p:spPr>
          <a:xfrm>
            <a:off x="457200" y="1508760"/>
            <a:ext cx="35661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Serveur Backend (FastAPI)</a:t>
            </a:r>
            <a:endParaRPr lang="en-US" sz="1400" dirty="0"/>
          </a:p>
        </p:txBody>
      </p:sp>
      <p:sp>
        <p:nvSpPr>
          <p:cNvPr id="7" name="Text 5"/>
          <p:cNvSpPr/>
          <p:nvPr/>
        </p:nvSpPr>
        <p:spPr>
          <a:xfrm>
            <a:off x="457200" y="1920240"/>
            <a:ext cx="3566160" cy="320040"/>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Redis Pub/Sub · fraud:tenant:{id}</a:t>
            </a:r>
            <a:endParaRPr lang="en-US" sz="1100" dirty="0"/>
          </a:p>
        </p:txBody>
      </p:sp>
      <p:sp>
        <p:nvSpPr>
          <p:cNvPr id="8" name="Shape 6"/>
          <p:cNvSpPr/>
          <p:nvPr/>
        </p:nvSpPr>
        <p:spPr>
          <a:xfrm>
            <a:off x="320040" y="3794760"/>
            <a:ext cx="3840480" cy="868680"/>
          </a:xfrm>
          <a:prstGeom prst="rect">
            <a:avLst>
              <a:gd name="adj" fmla="val 10526"/>
            </a:avLst>
          </a:prstGeom>
          <a:solidFill>
            <a:srgbClr val="0EA5E9"/>
          </a:solidFill>
          <a:ln w="12700">
            <a:solidFill>
              <a:srgbClr val="0EA5E9"/>
            </a:solidFill>
            <a:prstDash val="solid"/>
          </a:ln>
        </p:spPr>
      </p:sp>
      <p:sp>
        <p:nvSpPr>
          <p:cNvPr id="9" name="Text 7"/>
          <p:cNvSpPr/>
          <p:nvPr/>
        </p:nvSpPr>
        <p:spPr>
          <a:xfrm>
            <a:off x="457200" y="3886200"/>
            <a:ext cx="3566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Client Next.js (EventSource)</a:t>
            </a:r>
            <a:endParaRPr lang="en-US" sz="1300" dirty="0"/>
          </a:p>
        </p:txBody>
      </p:sp>
      <p:sp>
        <p:nvSpPr>
          <p:cNvPr id="10" name="Text 8"/>
          <p:cNvSpPr/>
          <p:nvPr/>
        </p:nvSpPr>
        <p:spPr>
          <a:xfrm>
            <a:off x="457200" y="4206240"/>
            <a:ext cx="3566160" cy="320040"/>
          </a:xfrm>
          <a:prstGeom prst="rect">
            <a:avLst/>
          </a:prstGeom>
          <a:noFill/>
          <a:ln/>
        </p:spPr>
        <p:txBody>
          <a:bodyPr wrap="square" lIns="0" tIns="0" rIns="0" bIns="0" rtlCol="0" anchor="ctr"/>
          <a:lstStyle/>
          <a:p>
            <a:pPr algn="ctr" indent="0" marL="0">
              <a:buNone/>
            </a:pPr>
            <a:r>
              <a:rPr lang="en-US" sz="1000" dirty="0">
                <a:solidFill>
                  <a:srgbClr val="F0F6FF"/>
                </a:solidFill>
                <a:latin typeface="Calibri" pitchFamily="34" charset="0"/>
                <a:ea typeface="Calibri" pitchFamily="34" charset="-122"/>
                <a:cs typeface="Calibri" pitchFamily="34" charset="-120"/>
              </a:rPr>
              <a:t>/api/v1/events/stream?token=…&amp;tenant_id=…</a:t>
            </a:r>
            <a:endParaRPr lang="en-US" sz="1000" dirty="0"/>
          </a:p>
        </p:txBody>
      </p:sp>
      <p:sp>
        <p:nvSpPr>
          <p:cNvPr id="11" name="Shape 9"/>
          <p:cNvSpPr/>
          <p:nvPr/>
        </p:nvSpPr>
        <p:spPr>
          <a:xfrm>
            <a:off x="2240280" y="2423160"/>
            <a:ext cx="0" cy="1371600"/>
          </a:xfrm>
          <a:prstGeom prst="LINE">
            <a:avLst/>
          </a:prstGeom>
          <a:noFill/>
          <a:ln w="12700">
            <a:solidFill>
              <a:srgbClr val="F59E0B"/>
            </a:solidFill>
            <a:prstDash val="solid"/>
          </a:ln>
        </p:spPr>
      </p:sp>
      <p:sp>
        <p:nvSpPr>
          <p:cNvPr id="12" name="Text 10"/>
          <p:cNvSpPr/>
          <p:nvPr/>
        </p:nvSpPr>
        <p:spPr>
          <a:xfrm>
            <a:off x="2084832" y="3566160"/>
            <a:ext cx="320040" cy="274320"/>
          </a:xfrm>
          <a:prstGeom prst="rect">
            <a:avLst/>
          </a:prstGeom>
          <a:noFill/>
          <a:ln/>
        </p:spPr>
        <p:txBody>
          <a:bodyPr wrap="square" lIns="0" tIns="0" rIns="0" bIns="0" rtlCol="0" anchor="ctr"/>
          <a:lstStyle/>
          <a:p>
            <a:pPr indent="0" marL="0">
              <a:buNone/>
            </a:pPr>
            <a:r>
              <a:rPr lang="en-US" sz="1800" dirty="0">
                <a:solidFill>
                  <a:srgbClr val="F59E0B"/>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2514600" y="2651760"/>
            <a:ext cx="2286000" cy="548640"/>
          </a:xfrm>
          <a:prstGeom prst="rect">
            <a:avLst/>
          </a:prstGeom>
          <a:noFill/>
          <a:ln/>
        </p:spPr>
        <p:txBody>
          <a:bodyPr wrap="square" lIns="0" tIns="0" rIns="0" bIns="0" rtlCol="0" anchor="ctr"/>
          <a:lstStyle/>
          <a:p>
            <a:pPr indent="0" marL="0">
              <a:buNone/>
            </a:pPr>
            <a:r>
              <a:rPr lang="en-US" sz="1000" dirty="0">
                <a:solidFill>
                  <a:srgbClr val="1E3A5F"/>
                </a:solidFill>
                <a:latin typeface="Courier New" pitchFamily="34" charset="0"/>
                <a:ea typeface="Courier New" pitchFamily="34" charset="-122"/>
                <a:cs typeface="Courier New" pitchFamily="34" charset="-120"/>
              </a:rPr>
              <a:t>event: new_alert</a:t>
            </a:r>
            <a:endParaRPr lang="en-US" sz="1000" dirty="0"/>
          </a:p>
          <a:p>
            <a:pPr indent="0" marL="0">
              <a:buNone/>
            </a:pPr>
            <a:r>
              <a:rPr lang="en-US" sz="1000" dirty="0">
                <a:solidFill>
                  <a:srgbClr val="1E3A5F"/>
                </a:solidFill>
                <a:latin typeface="Courier New" pitchFamily="34" charset="0"/>
                <a:ea typeface="Courier New" pitchFamily="34" charset="-122"/>
                <a:cs typeface="Courier New" pitchFamily="34" charset="-120"/>
              </a:rPr>
              <a:t>data: {score, amount, risk_level…}</a:t>
            </a:r>
            <a:endParaRPr lang="en-US" sz="1000" dirty="0"/>
          </a:p>
        </p:txBody>
      </p:sp>
      <p:sp>
        <p:nvSpPr>
          <p:cNvPr id="14" name="Shape 12"/>
          <p:cNvSpPr/>
          <p:nvPr/>
        </p:nvSpPr>
        <p:spPr>
          <a:xfrm>
            <a:off x="4480560" y="1417320"/>
            <a:ext cx="4389120" cy="822960"/>
          </a:xfrm>
          <a:prstGeom prst="rect">
            <a:avLst>
              <a:gd name="adj" fmla="val 1111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4617720" y="1581912"/>
            <a:ext cx="41148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6" name="Text 14"/>
          <p:cNvSpPr/>
          <p:nvPr/>
        </p:nvSpPr>
        <p:spPr>
          <a:xfrm>
            <a:off x="5074920" y="1508760"/>
            <a:ext cx="356616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Reconnexion auto</a:t>
            </a:r>
            <a:endParaRPr lang="en-US" sz="1300" dirty="0"/>
          </a:p>
        </p:txBody>
      </p:sp>
      <p:sp>
        <p:nvSpPr>
          <p:cNvPr id="17" name="Text 15"/>
          <p:cNvSpPr/>
          <p:nvPr/>
        </p:nvSpPr>
        <p:spPr>
          <a:xfrm>
            <a:off x="5074920" y="1801368"/>
            <a:ext cx="35661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Backoff exponentiel 1s → 30s en cas de coupure réseau</a:t>
            </a:r>
            <a:endParaRPr lang="en-US" sz="1100" dirty="0"/>
          </a:p>
        </p:txBody>
      </p:sp>
      <p:sp>
        <p:nvSpPr>
          <p:cNvPr id="18" name="Shape 16"/>
          <p:cNvSpPr/>
          <p:nvPr/>
        </p:nvSpPr>
        <p:spPr>
          <a:xfrm>
            <a:off x="4480560" y="2377440"/>
            <a:ext cx="4389120" cy="822960"/>
          </a:xfrm>
          <a:prstGeom prst="rect">
            <a:avLst>
              <a:gd name="adj" fmla="val 1111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4617720" y="2542032"/>
            <a:ext cx="41148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0" name="Text 18"/>
          <p:cNvSpPr/>
          <p:nvPr/>
        </p:nvSpPr>
        <p:spPr>
          <a:xfrm>
            <a:off x="5074920" y="2468880"/>
            <a:ext cx="356616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Auth par token</a:t>
            </a:r>
            <a:endParaRPr lang="en-US" sz="1300" dirty="0"/>
          </a:p>
        </p:txBody>
      </p:sp>
      <p:sp>
        <p:nvSpPr>
          <p:cNvPr id="21" name="Text 19"/>
          <p:cNvSpPr/>
          <p:nvPr/>
        </p:nvSpPr>
        <p:spPr>
          <a:xfrm>
            <a:off x="5074920" y="2761488"/>
            <a:ext cx="35661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JWT Bearer passé en query param (EventSource ne supporte pas les headers)</a:t>
            </a:r>
            <a:endParaRPr lang="en-US" sz="1100" dirty="0"/>
          </a:p>
        </p:txBody>
      </p:sp>
      <p:sp>
        <p:nvSpPr>
          <p:cNvPr id="22" name="Shape 20"/>
          <p:cNvSpPr/>
          <p:nvPr/>
        </p:nvSpPr>
        <p:spPr>
          <a:xfrm>
            <a:off x="4480560" y="3337560"/>
            <a:ext cx="4389120" cy="822960"/>
          </a:xfrm>
          <a:prstGeom prst="rect">
            <a:avLst>
              <a:gd name="adj" fmla="val 1111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4617720" y="3502152"/>
            <a:ext cx="41148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4" name="Text 22"/>
          <p:cNvSpPr/>
          <p:nvPr/>
        </p:nvSpPr>
        <p:spPr>
          <a:xfrm>
            <a:off x="5074920" y="3429000"/>
            <a:ext cx="356616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Heartbeat 25s</a:t>
            </a:r>
            <a:endParaRPr lang="en-US" sz="1300" dirty="0"/>
          </a:p>
        </p:txBody>
      </p:sp>
      <p:sp>
        <p:nvSpPr>
          <p:cNvPr id="25" name="Text 23"/>
          <p:cNvSpPr/>
          <p:nvPr/>
        </p:nvSpPr>
        <p:spPr>
          <a:xfrm>
            <a:off x="5074920" y="3721608"/>
            <a:ext cx="35661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Keep-alive pour maintenir la connexion à travers les proxies</a:t>
            </a:r>
            <a:endParaRPr lang="en-US" sz="1100" dirty="0"/>
          </a:p>
        </p:txBody>
      </p:sp>
      <p:sp>
        <p:nvSpPr>
          <p:cNvPr id="26" name="Shape 24"/>
          <p:cNvSpPr/>
          <p:nvPr/>
        </p:nvSpPr>
        <p:spPr>
          <a:xfrm>
            <a:off x="4480560" y="4297680"/>
            <a:ext cx="4389120" cy="822960"/>
          </a:xfrm>
          <a:prstGeom prst="rect">
            <a:avLst>
              <a:gd name="adj" fmla="val 1111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7" name="Text 25"/>
          <p:cNvSpPr/>
          <p:nvPr/>
        </p:nvSpPr>
        <p:spPr>
          <a:xfrm>
            <a:off x="4617720" y="4462272"/>
            <a:ext cx="41148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8" name="Text 26"/>
          <p:cNvSpPr/>
          <p:nvPr/>
        </p:nvSpPr>
        <p:spPr>
          <a:xfrm>
            <a:off x="5074920" y="4389120"/>
            <a:ext cx="356616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Fan-out Redis</a:t>
            </a:r>
            <a:endParaRPr lang="en-US" sz="1300" dirty="0"/>
          </a:p>
        </p:txBody>
      </p:sp>
      <p:sp>
        <p:nvSpPr>
          <p:cNvPr id="29" name="Text 27"/>
          <p:cNvSpPr/>
          <p:nvPr/>
        </p:nvSpPr>
        <p:spPr>
          <a:xfrm>
            <a:off x="5074920" y="4681728"/>
            <a:ext cx="35661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Un message publié → tous les onglets du même tenant reçoivent l'alerte</a:t>
            </a:r>
            <a:endParaRPr lang="en-US" sz="1100" dirty="0"/>
          </a:p>
        </p:txBody>
      </p:sp>
      <p:sp>
        <p:nvSpPr>
          <p:cNvPr id="30" name="Shape 28"/>
          <p:cNvSpPr/>
          <p:nvPr/>
        </p:nvSpPr>
        <p:spPr>
          <a:xfrm>
            <a:off x="4480560" y="4663440"/>
            <a:ext cx="4389120" cy="365760"/>
          </a:xfrm>
          <a:prstGeom prst="rect">
            <a:avLst>
              <a:gd name="adj" fmla="val 20000"/>
            </a:avLst>
          </a:prstGeom>
          <a:solidFill>
            <a:srgbClr val="1E3A5F"/>
          </a:solidFill>
          <a:ln w="12700">
            <a:solidFill>
              <a:srgbClr val="1E3A5F"/>
            </a:solidFill>
            <a:prstDash val="solid"/>
          </a:ln>
        </p:spPr>
      </p:sp>
      <p:sp>
        <p:nvSpPr>
          <p:cNvPr id="31" name="Text 29"/>
          <p:cNvSpPr/>
          <p:nvPr/>
        </p:nvSpPr>
        <p:spPr>
          <a:xfrm>
            <a:off x="4617720" y="4690872"/>
            <a:ext cx="4114800" cy="2926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Cloche topbar : badge rouge avec compteur non-lus · Dropdown 5 dernières alertes · Lien → page Alertes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Export &amp; Conformité BCEAO</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Instruction 008-05-2015 — Données traçables, exportables, conservées 5 ans</a:t>
            </a:r>
            <a:endParaRPr lang="en-US" sz="1300" dirty="0"/>
          </a:p>
        </p:txBody>
      </p:sp>
      <p:sp>
        <p:nvSpPr>
          <p:cNvPr id="5" name="Shape 3"/>
          <p:cNvSpPr/>
          <p:nvPr/>
        </p:nvSpPr>
        <p:spPr>
          <a:xfrm>
            <a:off x="320040" y="1417320"/>
            <a:ext cx="8503920" cy="548640"/>
          </a:xfrm>
          <a:prstGeom prst="rect">
            <a:avLst>
              <a:gd name="adj" fmla="val 13333"/>
            </a:avLst>
          </a:prstGeom>
          <a:solidFill>
            <a:srgbClr val="EFF6FF"/>
          </a:solidFill>
          <a:ln w="12700">
            <a:solidFill>
              <a:srgbClr val="0EA5E9"/>
            </a:solidFill>
            <a:prstDash val="solid"/>
          </a:ln>
        </p:spPr>
      </p:sp>
      <p:sp>
        <p:nvSpPr>
          <p:cNvPr id="6" name="Text 4"/>
          <p:cNvSpPr/>
          <p:nvPr/>
        </p:nvSpPr>
        <p:spPr>
          <a:xfrm>
            <a:off x="502920" y="1463040"/>
            <a:ext cx="8138160" cy="41148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  Référence réglementaire : BCEAO Instruction N° 008-05-2015 — Conservation des données de transactions pendant 5 ans · Déclaration mensuelle des transactions suspectes</a:t>
            </a:r>
            <a:endParaRPr lang="en-US" sz="1100" dirty="0"/>
          </a:p>
        </p:txBody>
      </p:sp>
      <p:sp>
        <p:nvSpPr>
          <p:cNvPr id="7" name="Shape 5"/>
          <p:cNvSpPr/>
          <p:nvPr/>
        </p:nvSpPr>
        <p:spPr>
          <a:xfrm>
            <a:off x="320040" y="2103120"/>
            <a:ext cx="4754880" cy="822960"/>
          </a:xfrm>
          <a:prstGeom prst="rect">
            <a:avLst>
              <a:gd name="adj" fmla="val 11111"/>
            </a:avLst>
          </a:prstGeom>
          <a:solidFill>
            <a:srgbClr val="FFFFFF"/>
          </a:solidFill>
          <a:ln w="12700">
            <a:solidFill>
              <a:srgbClr val="1E3A5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57200" y="2267712"/>
            <a:ext cx="45720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960120" y="2157984"/>
            <a:ext cx="3200400" cy="274320"/>
          </a:xfrm>
          <a:prstGeom prst="rect">
            <a:avLst/>
          </a:prstGeom>
          <a:noFill/>
          <a:ln/>
        </p:spPr>
        <p:txBody>
          <a:bodyPr wrap="square" lIns="0" tIns="0" rIns="0" bIns="0" rtlCol="0" anchor="ctr"/>
          <a:lstStyle/>
          <a:p>
            <a:pPr indent="0" marL="0">
              <a:buNone/>
            </a:pPr>
            <a:r>
              <a:rPr lang="en-US" sz="1400" b="1" dirty="0">
                <a:solidFill>
                  <a:srgbClr val="1E3A5F"/>
                </a:solidFill>
                <a:latin typeface="Cambria" pitchFamily="34" charset="0"/>
                <a:ea typeface="Cambria" pitchFamily="34" charset="-122"/>
                <a:cs typeface="Cambria" pitchFamily="34" charset="-120"/>
              </a:rPr>
              <a:t>Transactions</a:t>
            </a:r>
            <a:endParaRPr lang="en-US" sz="1400" dirty="0"/>
          </a:p>
        </p:txBody>
      </p:sp>
      <p:sp>
        <p:nvSpPr>
          <p:cNvPr id="10" name="Text 8"/>
          <p:cNvSpPr/>
          <p:nvPr/>
        </p:nvSpPr>
        <p:spPr>
          <a:xfrm>
            <a:off x="960120" y="2423160"/>
            <a:ext cx="3931920" cy="228600"/>
          </a:xfrm>
          <a:prstGeom prst="rect">
            <a:avLst/>
          </a:prstGeom>
          <a:noFill/>
          <a:ln/>
        </p:spPr>
        <p:txBody>
          <a:bodyPr wrap="square" lIns="0" tIns="0" rIns="0" bIns="0" rtlCol="0" anchor="ctr"/>
          <a:lstStyle/>
          <a:p>
            <a:pPr indent="0" marL="0">
              <a:buNone/>
            </a:pPr>
            <a:r>
              <a:rPr lang="en-US" sz="1000" dirty="0">
                <a:solidFill>
                  <a:srgbClr val="475569"/>
                </a:solidFill>
                <a:latin typeface="Courier New" pitchFamily="34" charset="0"/>
                <a:ea typeface="Courier New" pitchFamily="34" charset="-122"/>
                <a:cs typeface="Courier New" pitchFamily="34" charset="-120"/>
              </a:rPr>
              <a:t>GET /tenants/{id}/export/transactions</a:t>
            </a:r>
            <a:endParaRPr lang="en-US" sz="1000" dirty="0"/>
          </a:p>
        </p:txBody>
      </p:sp>
      <p:sp>
        <p:nvSpPr>
          <p:cNvPr id="11" name="Text 9"/>
          <p:cNvSpPr/>
          <p:nvPr/>
        </p:nvSpPr>
        <p:spPr>
          <a:xfrm>
            <a:off x="960120" y="2651760"/>
            <a:ext cx="393192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Filtres : Période · Fraude · Risque · Canal · Pays</a:t>
            </a:r>
            <a:endParaRPr lang="en-US" sz="1000" dirty="0"/>
          </a:p>
        </p:txBody>
      </p:sp>
      <p:sp>
        <p:nvSpPr>
          <p:cNvPr id="12" name="Shape 10"/>
          <p:cNvSpPr/>
          <p:nvPr/>
        </p:nvSpPr>
        <p:spPr>
          <a:xfrm>
            <a:off x="320040" y="3063240"/>
            <a:ext cx="4754880" cy="822960"/>
          </a:xfrm>
          <a:prstGeom prst="rect">
            <a:avLst>
              <a:gd name="adj" fmla="val 11111"/>
            </a:avLst>
          </a:prstGeom>
          <a:solidFill>
            <a:srgbClr val="FFFFFF"/>
          </a:solidFill>
          <a:ln w="12700">
            <a:solidFill>
              <a:srgbClr val="EF4444"/>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57200" y="3227832"/>
            <a:ext cx="45720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960120" y="3118104"/>
            <a:ext cx="3200400" cy="274320"/>
          </a:xfrm>
          <a:prstGeom prst="rect">
            <a:avLst/>
          </a:prstGeom>
          <a:noFill/>
          <a:ln/>
        </p:spPr>
        <p:txBody>
          <a:bodyPr wrap="square" lIns="0" tIns="0" rIns="0" bIns="0" rtlCol="0" anchor="ctr"/>
          <a:lstStyle/>
          <a:p>
            <a:pPr indent="0" marL="0">
              <a:buNone/>
            </a:pPr>
            <a:r>
              <a:rPr lang="en-US" sz="1400" b="1" dirty="0">
                <a:solidFill>
                  <a:srgbClr val="EF4444"/>
                </a:solidFill>
                <a:latin typeface="Cambria" pitchFamily="34" charset="0"/>
                <a:ea typeface="Cambria" pitchFamily="34" charset="-122"/>
                <a:cs typeface="Cambria" pitchFamily="34" charset="-120"/>
              </a:rPr>
              <a:t>Alertes fraude</a:t>
            </a:r>
            <a:endParaRPr lang="en-US" sz="1400" dirty="0"/>
          </a:p>
        </p:txBody>
      </p:sp>
      <p:sp>
        <p:nvSpPr>
          <p:cNvPr id="15" name="Text 13"/>
          <p:cNvSpPr/>
          <p:nvPr/>
        </p:nvSpPr>
        <p:spPr>
          <a:xfrm>
            <a:off x="960120" y="3383280"/>
            <a:ext cx="3931920" cy="228600"/>
          </a:xfrm>
          <a:prstGeom prst="rect">
            <a:avLst/>
          </a:prstGeom>
          <a:noFill/>
          <a:ln/>
        </p:spPr>
        <p:txBody>
          <a:bodyPr wrap="square" lIns="0" tIns="0" rIns="0" bIns="0" rtlCol="0" anchor="ctr"/>
          <a:lstStyle/>
          <a:p>
            <a:pPr indent="0" marL="0">
              <a:buNone/>
            </a:pPr>
            <a:r>
              <a:rPr lang="en-US" sz="1000" dirty="0">
                <a:solidFill>
                  <a:srgbClr val="475569"/>
                </a:solidFill>
                <a:latin typeface="Courier New" pitchFamily="34" charset="0"/>
                <a:ea typeface="Courier New" pitchFamily="34" charset="-122"/>
                <a:cs typeface="Courier New" pitchFamily="34" charset="-120"/>
              </a:rPr>
              <a:t>GET /tenants/{id}/export/alerts</a:t>
            </a:r>
            <a:endParaRPr lang="en-US" sz="1000" dirty="0"/>
          </a:p>
        </p:txBody>
      </p:sp>
      <p:sp>
        <p:nvSpPr>
          <p:cNvPr id="16" name="Text 14"/>
          <p:cNvSpPr/>
          <p:nvPr/>
        </p:nvSpPr>
        <p:spPr>
          <a:xfrm>
            <a:off x="960120" y="3611880"/>
            <a:ext cx="393192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Filtres : Période · Statut de traitement</a:t>
            </a:r>
            <a:endParaRPr lang="en-US" sz="1000" dirty="0"/>
          </a:p>
        </p:txBody>
      </p:sp>
      <p:sp>
        <p:nvSpPr>
          <p:cNvPr id="17" name="Shape 15"/>
          <p:cNvSpPr/>
          <p:nvPr/>
        </p:nvSpPr>
        <p:spPr>
          <a:xfrm>
            <a:off x="320040" y="4023360"/>
            <a:ext cx="4754880" cy="822960"/>
          </a:xfrm>
          <a:prstGeom prst="rect">
            <a:avLst>
              <a:gd name="adj" fmla="val 11111"/>
            </a:avLst>
          </a:prstGeom>
          <a:solidFill>
            <a:srgbClr val="FFFFFF"/>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457200" y="4187952"/>
            <a:ext cx="45720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960120" y="4078224"/>
            <a:ext cx="3200400" cy="274320"/>
          </a:xfrm>
          <a:prstGeom prst="rect">
            <a:avLst/>
          </a:prstGeom>
          <a:noFill/>
          <a:ln/>
        </p:spPr>
        <p:txBody>
          <a:bodyPr wrap="square" lIns="0" tIns="0" rIns="0" bIns="0" rtlCol="0" anchor="ctr"/>
          <a:lstStyle/>
          <a:p>
            <a:pPr indent="0" marL="0">
              <a:buNone/>
            </a:pPr>
            <a:r>
              <a:rPr lang="en-US" sz="1400" b="1" dirty="0">
                <a:solidFill>
                  <a:srgbClr val="F59E0B"/>
                </a:solidFill>
                <a:latin typeface="Cambria" pitchFamily="34" charset="0"/>
                <a:ea typeface="Cambria" pitchFamily="34" charset="-122"/>
                <a:cs typeface="Cambria" pitchFamily="34" charset="-120"/>
              </a:rPr>
              <a:t>Journal d'audit</a:t>
            </a:r>
            <a:endParaRPr lang="en-US" sz="1400" dirty="0"/>
          </a:p>
        </p:txBody>
      </p:sp>
      <p:sp>
        <p:nvSpPr>
          <p:cNvPr id="20" name="Text 18"/>
          <p:cNvSpPr/>
          <p:nvPr/>
        </p:nvSpPr>
        <p:spPr>
          <a:xfrm>
            <a:off x="960120" y="4343400"/>
            <a:ext cx="3931920" cy="228600"/>
          </a:xfrm>
          <a:prstGeom prst="rect">
            <a:avLst/>
          </a:prstGeom>
          <a:noFill/>
          <a:ln/>
        </p:spPr>
        <p:txBody>
          <a:bodyPr wrap="square" lIns="0" tIns="0" rIns="0" bIns="0" rtlCol="0" anchor="ctr"/>
          <a:lstStyle/>
          <a:p>
            <a:pPr indent="0" marL="0">
              <a:buNone/>
            </a:pPr>
            <a:r>
              <a:rPr lang="en-US" sz="1000" dirty="0">
                <a:solidFill>
                  <a:srgbClr val="475569"/>
                </a:solidFill>
                <a:latin typeface="Courier New" pitchFamily="34" charset="0"/>
                <a:ea typeface="Courier New" pitchFamily="34" charset="-122"/>
                <a:cs typeface="Courier New" pitchFamily="34" charset="-120"/>
              </a:rPr>
              <a:t>GET /export/audit-log</a:t>
            </a:r>
            <a:endParaRPr lang="en-US" sz="1000" dirty="0"/>
          </a:p>
        </p:txBody>
      </p:sp>
      <p:sp>
        <p:nvSpPr>
          <p:cNvPr id="21" name="Text 19"/>
          <p:cNvSpPr/>
          <p:nvPr/>
        </p:nvSpPr>
        <p:spPr>
          <a:xfrm>
            <a:off x="960120" y="4572000"/>
            <a:ext cx="393192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Filtres : Période · Type d'action · Tenant</a:t>
            </a:r>
            <a:endParaRPr lang="en-US" sz="1000" dirty="0"/>
          </a:p>
        </p:txBody>
      </p:sp>
      <p:sp>
        <p:nvSpPr>
          <p:cNvPr id="22" name="Shape 20"/>
          <p:cNvSpPr/>
          <p:nvPr/>
        </p:nvSpPr>
        <p:spPr>
          <a:xfrm>
            <a:off x="5303520" y="2057400"/>
            <a:ext cx="3520440" cy="2880360"/>
          </a:xfrm>
          <a:prstGeom prst="rect">
            <a:avLst>
              <a:gd name="adj" fmla="val 3175"/>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5440680" y="2130552"/>
            <a:ext cx="3246120" cy="320040"/>
          </a:xfrm>
          <a:prstGeom prst="rect">
            <a:avLst/>
          </a:prstGeom>
          <a:noFill/>
          <a:ln/>
        </p:spPr>
        <p:txBody>
          <a:bodyPr wrap="square" lIns="0" tIns="0" rIns="0" bIns="0" rtlCol="0" anchor="ctr"/>
          <a:lstStyle/>
          <a:p>
            <a:pPr indent="0" marL="0">
              <a:buNone/>
            </a:pPr>
            <a:r>
              <a:rPr lang="en-US" sz="1300" b="1" dirty="0">
                <a:solidFill>
                  <a:srgbClr val="1E3A5F"/>
                </a:solidFill>
                <a:latin typeface="Cambria" pitchFamily="34" charset="0"/>
                <a:ea typeface="Cambria" pitchFamily="34" charset="-122"/>
                <a:cs typeface="Cambria" pitchFamily="34" charset="-120"/>
              </a:rPr>
              <a:t>🛠️  Caractéristiques techniques</a:t>
            </a:r>
            <a:endParaRPr lang="en-US" sz="1300" dirty="0"/>
          </a:p>
        </p:txBody>
      </p:sp>
      <p:sp>
        <p:nvSpPr>
          <p:cNvPr id="24" name="Text 22"/>
          <p:cNvSpPr/>
          <p:nvPr/>
        </p:nvSpPr>
        <p:spPr>
          <a:xfrm>
            <a:off x="5440680" y="2542032"/>
            <a:ext cx="320040" cy="320040"/>
          </a:xfrm>
          <a:prstGeom prst="rect">
            <a:avLst/>
          </a:prstGeom>
          <a:noFill/>
          <a:ln/>
        </p:spPr>
        <p:txBody>
          <a:bodyPr wrap="square" lIns="0" tIns="0" rIns="0" bIns="0" rtlCol="0" anchor="ctr"/>
          <a:lstStyle/>
          <a:p>
            <a:pP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5" name="Text 23"/>
          <p:cNvSpPr/>
          <p:nvPr/>
        </p:nvSpPr>
        <p:spPr>
          <a:xfrm>
            <a:off x="5806440" y="2542032"/>
            <a:ext cx="2880360" cy="237744"/>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Streaming sans limite</a:t>
            </a:r>
            <a:endParaRPr lang="en-US" sz="1100" dirty="0"/>
          </a:p>
        </p:txBody>
      </p:sp>
      <p:sp>
        <p:nvSpPr>
          <p:cNvPr id="26" name="Text 24"/>
          <p:cNvSpPr/>
          <p:nvPr/>
        </p:nvSpPr>
        <p:spPr>
          <a:xfrm>
            <a:off x="5806440" y="2788920"/>
            <a:ext cx="28803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SQLAlchemy yield_per(500) — pas de saturation mémoire même sur 500k lignes</a:t>
            </a:r>
            <a:endParaRPr lang="en-US" sz="1050" dirty="0"/>
          </a:p>
        </p:txBody>
      </p:sp>
      <p:sp>
        <p:nvSpPr>
          <p:cNvPr id="27" name="Text 25"/>
          <p:cNvSpPr/>
          <p:nvPr/>
        </p:nvSpPr>
        <p:spPr>
          <a:xfrm>
            <a:off x="5440680" y="3136392"/>
            <a:ext cx="320040" cy="320040"/>
          </a:xfrm>
          <a:prstGeom prst="rect">
            <a:avLst/>
          </a:prstGeom>
          <a:noFill/>
          <a:ln/>
        </p:spPr>
        <p:txBody>
          <a:bodyPr wrap="square" lIns="0" tIns="0" rIns="0" bIns="0" rtlCol="0" anchor="ctr"/>
          <a:lstStyle/>
          <a:p>
            <a:pP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8" name="Text 26"/>
          <p:cNvSpPr/>
          <p:nvPr/>
        </p:nvSpPr>
        <p:spPr>
          <a:xfrm>
            <a:off x="5806440" y="3136392"/>
            <a:ext cx="2880360" cy="237744"/>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BOM UTF-8 (utf-8-sig)</a:t>
            </a:r>
            <a:endParaRPr lang="en-US" sz="1100" dirty="0"/>
          </a:p>
        </p:txBody>
      </p:sp>
      <p:sp>
        <p:nvSpPr>
          <p:cNvPr id="29" name="Text 27"/>
          <p:cNvSpPr/>
          <p:nvPr/>
        </p:nvSpPr>
        <p:spPr>
          <a:xfrm>
            <a:off x="5806440" y="3383280"/>
            <a:ext cx="28803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Compatibilité Excel directe, sans problème d'encodage des caractères africains</a:t>
            </a:r>
            <a:endParaRPr lang="en-US" sz="1050" dirty="0"/>
          </a:p>
        </p:txBody>
      </p:sp>
      <p:sp>
        <p:nvSpPr>
          <p:cNvPr id="30" name="Text 28"/>
          <p:cNvSpPr/>
          <p:nvPr/>
        </p:nvSpPr>
        <p:spPr>
          <a:xfrm>
            <a:off x="5440680" y="3730752"/>
            <a:ext cx="320040" cy="320040"/>
          </a:xfrm>
          <a:prstGeom prst="rect">
            <a:avLst/>
          </a:prstGeom>
          <a:noFill/>
          <a:ln/>
        </p:spPr>
        <p:txBody>
          <a:bodyPr wrap="square" lIns="0" tIns="0" rIns="0" bIns="0" rtlCol="0" anchor="ctr"/>
          <a:lstStyle/>
          <a:p>
            <a:pP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1" name="Text 29"/>
          <p:cNvSpPr/>
          <p:nvPr/>
        </p:nvSpPr>
        <p:spPr>
          <a:xfrm>
            <a:off x="5806440" y="3730752"/>
            <a:ext cx="2880360" cy="237744"/>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Traçabilité complète</a:t>
            </a:r>
            <a:endParaRPr lang="en-US" sz="1100" dirty="0"/>
          </a:p>
        </p:txBody>
      </p:sp>
      <p:sp>
        <p:nvSpPr>
          <p:cNvPr id="32" name="Text 30"/>
          <p:cNvSpPr/>
          <p:nvPr/>
        </p:nvSpPr>
        <p:spPr>
          <a:xfrm>
            <a:off x="5806440" y="3977640"/>
            <a:ext cx="28803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Chaque export génère une entrée dans le journal d'audit (EXPORT_*)</a:t>
            </a:r>
            <a:endParaRPr lang="en-US" sz="1050" dirty="0"/>
          </a:p>
        </p:txBody>
      </p:sp>
      <p:sp>
        <p:nvSpPr>
          <p:cNvPr id="33" name="Text 31"/>
          <p:cNvSpPr/>
          <p:nvPr/>
        </p:nvSpPr>
        <p:spPr>
          <a:xfrm>
            <a:off x="5440680" y="4325112"/>
            <a:ext cx="320040" cy="320040"/>
          </a:xfrm>
          <a:prstGeom prst="rect">
            <a:avLst/>
          </a:prstGeom>
          <a:noFill/>
          <a:ln/>
        </p:spPr>
        <p:txBody>
          <a:bodyPr wrap="square" lIns="0" tIns="0" rIns="0" bIns="0" rtlCol="0" anchor="ctr"/>
          <a:lstStyle/>
          <a:p>
            <a:pP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4" name="Text 32"/>
          <p:cNvSpPr/>
          <p:nvPr/>
        </p:nvSpPr>
        <p:spPr>
          <a:xfrm>
            <a:off x="5806440" y="4325112"/>
            <a:ext cx="2880360" cy="237744"/>
          </a:xfrm>
          <a:prstGeom prst="rect">
            <a:avLst/>
          </a:prstGeom>
          <a:noFill/>
          <a:ln/>
        </p:spPr>
        <p:txBody>
          <a:bodyPr wrap="square" lIns="0" tIns="0" rIns="0" bIns="0" rtlCol="0" anchor="ctr"/>
          <a:lstStyle/>
          <a:p>
            <a:pPr indent="0" marL="0">
              <a:buNone/>
            </a:pPr>
            <a:r>
              <a:rPr lang="en-US" sz="1100" b="1" dirty="0">
                <a:solidFill>
                  <a:srgbClr val="1E3A5F"/>
                </a:solidFill>
                <a:latin typeface="Calibri" pitchFamily="34" charset="0"/>
                <a:ea typeface="Calibri" pitchFamily="34" charset="-122"/>
                <a:cs typeface="Calibri" pitchFamily="34" charset="-120"/>
              </a:rPr>
              <a:t>Contrôle d'accès</a:t>
            </a:r>
            <a:endParaRPr lang="en-US" sz="1100" dirty="0"/>
          </a:p>
        </p:txBody>
      </p:sp>
      <p:sp>
        <p:nvSpPr>
          <p:cNvPr id="35" name="Text 33"/>
          <p:cNvSpPr/>
          <p:nvPr/>
        </p:nvSpPr>
        <p:spPr>
          <a:xfrm>
            <a:off x="5806440" y="4572000"/>
            <a:ext cx="28803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Admin voit tout · Tenant admin scopé à son seul établissement</a:t>
            </a:r>
            <a:endParaRPr lang="en-US" sz="1050" dirty="0"/>
          </a:p>
        </p:txBody>
      </p:sp>
      <p:sp>
        <p:nvSpPr>
          <p:cNvPr id="36" name="Shape 34"/>
          <p:cNvSpPr/>
          <p:nvPr/>
        </p:nvSpPr>
        <p:spPr>
          <a:xfrm>
            <a:off x="320040" y="4956048"/>
            <a:ext cx="8503920" cy="0"/>
          </a:xfrm>
          <a:prstGeom prst="rect">
            <a:avLst/>
          </a:prstGeom>
          <a:solidFill>
            <a:srgbClr val="E2E8F0"/>
          </a:solidFill>
          <a:ln w="12700">
            <a:solidFill>
              <a:srgbClr val="E2E8F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Portail Client Dédié</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Interface séparée pour les établissements financiers (Tenant Admin)</a:t>
            </a:r>
            <a:endParaRPr lang="en-US" sz="1300" dirty="0"/>
          </a:p>
        </p:txBody>
      </p:sp>
      <p:sp>
        <p:nvSpPr>
          <p:cNvPr id="5" name="Shape 3"/>
          <p:cNvSpPr/>
          <p:nvPr/>
        </p:nvSpPr>
        <p:spPr>
          <a:xfrm>
            <a:off x="320040" y="1417320"/>
            <a:ext cx="4114800" cy="3611880"/>
          </a:xfrm>
          <a:prstGeom prst="rect">
            <a:avLst>
              <a:gd name="adj" fmla="val 2532"/>
            </a:avLst>
          </a:prstGeom>
          <a:solidFill>
            <a:srgbClr val="FFFFFF"/>
          </a:solidFill>
          <a:ln w="12700">
            <a:solidFill>
              <a:srgbClr val="CBD5E1"/>
            </a:solidFill>
            <a:prstDash val="solid"/>
          </a:ln>
          <a:effectLst>
            <a:outerShdw sx="100000" sy="100000" kx="0" ky="0" algn="bl" rotWithShape="0" blurRad="203200" dist="76200" dir="2700000">
              <a:srgbClr val="000000">
                <a:alpha val="18000"/>
              </a:srgbClr>
            </a:outerShdw>
          </a:effectLst>
        </p:spPr>
      </p:sp>
      <p:sp>
        <p:nvSpPr>
          <p:cNvPr id="6" name="Shape 4"/>
          <p:cNvSpPr/>
          <p:nvPr/>
        </p:nvSpPr>
        <p:spPr>
          <a:xfrm>
            <a:off x="320040" y="1417320"/>
            <a:ext cx="4114800" cy="384048"/>
          </a:xfrm>
          <a:prstGeom prst="rect">
            <a:avLst>
              <a:gd name="adj" fmla="val 23810"/>
            </a:avLst>
          </a:prstGeom>
          <a:solidFill>
            <a:srgbClr val="F1F5F9"/>
          </a:solidFill>
          <a:ln w="12700">
            <a:solidFill>
              <a:srgbClr val="E2E8F0"/>
            </a:solidFill>
            <a:prstDash val="solid"/>
          </a:ln>
        </p:spPr>
      </p:sp>
      <p:sp>
        <p:nvSpPr>
          <p:cNvPr id="7" name="Shape 5"/>
          <p:cNvSpPr/>
          <p:nvPr/>
        </p:nvSpPr>
        <p:spPr>
          <a:xfrm>
            <a:off x="320040" y="1664208"/>
            <a:ext cx="4114800" cy="137160"/>
          </a:xfrm>
          <a:prstGeom prst="rect">
            <a:avLst/>
          </a:prstGeom>
          <a:solidFill>
            <a:srgbClr val="F1F5F9"/>
          </a:solidFill>
          <a:ln w="12700">
            <a:solidFill>
              <a:srgbClr val="F1F5F9"/>
            </a:solidFill>
            <a:prstDash val="solid"/>
          </a:ln>
        </p:spPr>
      </p:sp>
      <p:sp>
        <p:nvSpPr>
          <p:cNvPr id="8" name="Shape 6"/>
          <p:cNvSpPr/>
          <p:nvPr/>
        </p:nvSpPr>
        <p:spPr>
          <a:xfrm>
            <a:off x="502920" y="1490472"/>
            <a:ext cx="128016" cy="128016"/>
          </a:xfrm>
          <a:prstGeom prst="ellipse">
            <a:avLst/>
          </a:prstGeom>
          <a:solidFill>
            <a:srgbClr val="EF4444"/>
          </a:solidFill>
          <a:ln w="12700">
            <a:solidFill>
              <a:srgbClr val="EF4444"/>
            </a:solidFill>
            <a:prstDash val="solid"/>
          </a:ln>
        </p:spPr>
      </p:sp>
      <p:sp>
        <p:nvSpPr>
          <p:cNvPr id="9" name="Shape 7"/>
          <p:cNvSpPr/>
          <p:nvPr/>
        </p:nvSpPr>
        <p:spPr>
          <a:xfrm>
            <a:off x="731520" y="1490472"/>
            <a:ext cx="128016" cy="128016"/>
          </a:xfrm>
          <a:prstGeom prst="ellipse">
            <a:avLst/>
          </a:prstGeom>
          <a:solidFill>
            <a:srgbClr val="F59E0B"/>
          </a:solidFill>
          <a:ln w="12700">
            <a:solidFill>
              <a:srgbClr val="F59E0B"/>
            </a:solidFill>
            <a:prstDash val="solid"/>
          </a:ln>
        </p:spPr>
      </p:sp>
      <p:sp>
        <p:nvSpPr>
          <p:cNvPr id="10" name="Shape 8"/>
          <p:cNvSpPr/>
          <p:nvPr/>
        </p:nvSpPr>
        <p:spPr>
          <a:xfrm>
            <a:off x="960120" y="1490472"/>
            <a:ext cx="128016" cy="128016"/>
          </a:xfrm>
          <a:prstGeom prst="ellipse">
            <a:avLst/>
          </a:prstGeom>
          <a:solidFill>
            <a:srgbClr val="22C55E"/>
          </a:solidFill>
          <a:ln w="12700">
            <a:solidFill>
              <a:srgbClr val="22C55E"/>
            </a:solidFill>
            <a:prstDash val="solid"/>
          </a:ln>
        </p:spPr>
      </p:sp>
      <p:sp>
        <p:nvSpPr>
          <p:cNvPr id="11" name="Text 9"/>
          <p:cNvSpPr/>
          <p:nvPr/>
        </p:nvSpPr>
        <p:spPr>
          <a:xfrm>
            <a:off x="1188720" y="1481328"/>
            <a:ext cx="228600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localhost:3000/portal</a:t>
            </a:r>
            <a:endParaRPr lang="en-US" sz="850" dirty="0"/>
          </a:p>
        </p:txBody>
      </p:sp>
      <p:sp>
        <p:nvSpPr>
          <p:cNvPr id="12" name="Shape 10"/>
          <p:cNvSpPr/>
          <p:nvPr/>
        </p:nvSpPr>
        <p:spPr>
          <a:xfrm>
            <a:off x="320040" y="1801368"/>
            <a:ext cx="1097280" cy="3227832"/>
          </a:xfrm>
          <a:prstGeom prst="rect">
            <a:avLst/>
          </a:prstGeom>
          <a:solidFill>
            <a:srgbClr val="1D4ED8"/>
          </a:solidFill>
          <a:ln w="12700">
            <a:solidFill>
              <a:srgbClr val="1D4ED8"/>
            </a:solidFill>
            <a:prstDash val="solid"/>
          </a:ln>
        </p:spPr>
      </p:sp>
      <p:sp>
        <p:nvSpPr>
          <p:cNvPr id="13" name="Text 11"/>
          <p:cNvSpPr/>
          <p:nvPr/>
        </p:nvSpPr>
        <p:spPr>
          <a:xfrm>
            <a:off x="320040" y="1847088"/>
            <a:ext cx="1097280" cy="5029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Portail</a:t>
            </a:r>
            <a:endParaRPr lang="en-US" sz="850" dirty="0"/>
          </a:p>
        </p:txBody>
      </p:sp>
      <p:sp>
        <p:nvSpPr>
          <p:cNvPr id="14" name="Shape 12"/>
          <p:cNvSpPr/>
          <p:nvPr/>
        </p:nvSpPr>
        <p:spPr>
          <a:xfrm>
            <a:off x="320040" y="2487168"/>
            <a:ext cx="1097280" cy="329184"/>
          </a:xfrm>
          <a:prstGeom prst="rect">
            <a:avLst/>
          </a:prstGeom>
          <a:solidFill>
            <a:srgbClr val="2563EB"/>
          </a:solidFill>
          <a:ln w="12700">
            <a:solidFill>
              <a:srgbClr val="2563EB"/>
            </a:solidFill>
            <a:prstDash val="solid"/>
          </a:ln>
        </p:spPr>
      </p:sp>
      <p:sp>
        <p:nvSpPr>
          <p:cNvPr id="15" name="Text 13"/>
          <p:cNvSpPr/>
          <p:nvPr/>
        </p:nvSpPr>
        <p:spPr>
          <a:xfrm>
            <a:off x="365760" y="2514600"/>
            <a:ext cx="1005840" cy="25603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Tableau bord</a:t>
            </a:r>
            <a:endParaRPr lang="en-US" sz="800" dirty="0"/>
          </a:p>
        </p:txBody>
      </p:sp>
      <p:sp>
        <p:nvSpPr>
          <p:cNvPr id="16" name="Text 14"/>
          <p:cNvSpPr/>
          <p:nvPr/>
        </p:nvSpPr>
        <p:spPr>
          <a:xfrm>
            <a:off x="365760" y="2926080"/>
            <a:ext cx="1005840" cy="256032"/>
          </a:xfrm>
          <a:prstGeom prst="rect">
            <a:avLst/>
          </a:prstGeom>
          <a:noFill/>
          <a:ln/>
        </p:spPr>
        <p:txBody>
          <a:bodyPr wrap="square" lIns="0" tIns="0" rIns="0" bIns="0" rtlCol="0" anchor="ctr"/>
          <a:lstStyle/>
          <a:p>
            <a:pPr indent="0" marL="0">
              <a:buNone/>
            </a:pPr>
            <a:r>
              <a:rPr lang="en-US" sz="800" dirty="0">
                <a:solidFill>
                  <a:srgbClr val="BFDBFE"/>
                </a:solidFill>
                <a:latin typeface="Calibri" pitchFamily="34" charset="0"/>
                <a:ea typeface="Calibri" pitchFamily="34" charset="-122"/>
                <a:cs typeface="Calibri" pitchFamily="34" charset="-120"/>
              </a:rPr>
              <a:t>💳 Transactions</a:t>
            </a:r>
            <a:endParaRPr lang="en-US" sz="800" dirty="0"/>
          </a:p>
        </p:txBody>
      </p:sp>
      <p:sp>
        <p:nvSpPr>
          <p:cNvPr id="17" name="Text 15"/>
          <p:cNvSpPr/>
          <p:nvPr/>
        </p:nvSpPr>
        <p:spPr>
          <a:xfrm>
            <a:off x="365760" y="3337560"/>
            <a:ext cx="1005840" cy="256032"/>
          </a:xfrm>
          <a:prstGeom prst="rect">
            <a:avLst/>
          </a:prstGeom>
          <a:noFill/>
          <a:ln/>
        </p:spPr>
        <p:txBody>
          <a:bodyPr wrap="square" lIns="0" tIns="0" rIns="0" bIns="0" rtlCol="0" anchor="ctr"/>
          <a:lstStyle/>
          <a:p>
            <a:pPr indent="0" marL="0">
              <a:buNone/>
            </a:pPr>
            <a:r>
              <a:rPr lang="en-US" sz="800" dirty="0">
                <a:solidFill>
                  <a:srgbClr val="BFDBFE"/>
                </a:solidFill>
                <a:latin typeface="Calibri" pitchFamily="34" charset="0"/>
                <a:ea typeface="Calibri" pitchFamily="34" charset="-122"/>
                <a:cs typeface="Calibri" pitchFamily="34" charset="-120"/>
              </a:rPr>
              <a:t>🚨 Alertes</a:t>
            </a:r>
            <a:endParaRPr lang="en-US" sz="800" dirty="0"/>
          </a:p>
        </p:txBody>
      </p:sp>
      <p:sp>
        <p:nvSpPr>
          <p:cNvPr id="18" name="Text 16"/>
          <p:cNvSpPr/>
          <p:nvPr/>
        </p:nvSpPr>
        <p:spPr>
          <a:xfrm>
            <a:off x="365760" y="3749040"/>
            <a:ext cx="1005840" cy="256032"/>
          </a:xfrm>
          <a:prstGeom prst="rect">
            <a:avLst/>
          </a:prstGeom>
          <a:noFill/>
          <a:ln/>
        </p:spPr>
        <p:txBody>
          <a:bodyPr wrap="square" lIns="0" tIns="0" rIns="0" bIns="0" rtlCol="0" anchor="ctr"/>
          <a:lstStyle/>
          <a:p>
            <a:pPr indent="0" marL="0">
              <a:buNone/>
            </a:pPr>
            <a:r>
              <a:rPr lang="en-US" sz="800" dirty="0">
                <a:solidFill>
                  <a:srgbClr val="BFDBFE"/>
                </a:solidFill>
                <a:latin typeface="Calibri" pitchFamily="34" charset="0"/>
                <a:ea typeface="Calibri" pitchFamily="34" charset="-122"/>
                <a:cs typeface="Calibri" pitchFamily="34" charset="-120"/>
              </a:rPr>
              <a:t>📊 Analytique</a:t>
            </a:r>
            <a:endParaRPr lang="en-US" sz="800" dirty="0"/>
          </a:p>
        </p:txBody>
      </p:sp>
      <p:sp>
        <p:nvSpPr>
          <p:cNvPr id="19" name="Text 17"/>
          <p:cNvSpPr/>
          <p:nvPr/>
        </p:nvSpPr>
        <p:spPr>
          <a:xfrm>
            <a:off x="365760" y="4160520"/>
            <a:ext cx="1005840" cy="256032"/>
          </a:xfrm>
          <a:prstGeom prst="rect">
            <a:avLst/>
          </a:prstGeom>
          <a:noFill/>
          <a:ln/>
        </p:spPr>
        <p:txBody>
          <a:bodyPr wrap="square" lIns="0" tIns="0" rIns="0" bIns="0" rtlCol="0" anchor="ctr"/>
          <a:lstStyle/>
          <a:p>
            <a:pPr indent="0" marL="0">
              <a:buNone/>
            </a:pPr>
            <a:r>
              <a:rPr lang="en-US" sz="800" dirty="0">
                <a:solidFill>
                  <a:srgbClr val="BFDBFE"/>
                </a:solidFill>
                <a:latin typeface="Calibri" pitchFamily="34" charset="0"/>
                <a:ea typeface="Calibri" pitchFamily="34" charset="-122"/>
                <a:cs typeface="Calibri" pitchFamily="34" charset="-120"/>
              </a:rPr>
              <a:t>⚖️ Conformité</a:t>
            </a:r>
            <a:endParaRPr lang="en-US" sz="800" dirty="0"/>
          </a:p>
        </p:txBody>
      </p:sp>
      <p:sp>
        <p:nvSpPr>
          <p:cNvPr id="20" name="Text 18"/>
          <p:cNvSpPr/>
          <p:nvPr/>
        </p:nvSpPr>
        <p:spPr>
          <a:xfrm>
            <a:off x="365760" y="4572000"/>
            <a:ext cx="1005840" cy="256032"/>
          </a:xfrm>
          <a:prstGeom prst="rect">
            <a:avLst/>
          </a:prstGeom>
          <a:noFill/>
          <a:ln/>
        </p:spPr>
        <p:txBody>
          <a:bodyPr wrap="square" lIns="0" tIns="0" rIns="0" bIns="0" rtlCol="0" anchor="ctr"/>
          <a:lstStyle/>
          <a:p>
            <a:pPr indent="0" marL="0">
              <a:buNone/>
            </a:pPr>
            <a:r>
              <a:rPr lang="en-US" sz="800" dirty="0">
                <a:solidFill>
                  <a:srgbClr val="BFDBFE"/>
                </a:solidFill>
                <a:latin typeface="Calibri" pitchFamily="34" charset="0"/>
                <a:ea typeface="Calibri" pitchFamily="34" charset="-122"/>
                <a:cs typeface="Calibri" pitchFamily="34" charset="-120"/>
              </a:rPr>
              <a:t>⚙️ Config</a:t>
            </a:r>
            <a:endParaRPr lang="en-US" sz="800" dirty="0"/>
          </a:p>
        </p:txBody>
      </p:sp>
      <p:sp>
        <p:nvSpPr>
          <p:cNvPr id="21" name="Shape 19"/>
          <p:cNvSpPr/>
          <p:nvPr/>
        </p:nvSpPr>
        <p:spPr>
          <a:xfrm>
            <a:off x="1508760" y="1874520"/>
            <a:ext cx="868680" cy="713232"/>
          </a:xfrm>
          <a:prstGeom prst="rect">
            <a:avLst>
              <a:gd name="adj" fmla="val 897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1554480" y="1920240"/>
            <a:ext cx="777240" cy="329184"/>
          </a:xfrm>
          <a:prstGeom prst="rect">
            <a:avLst/>
          </a:prstGeom>
          <a:noFill/>
          <a:ln/>
        </p:spPr>
        <p:txBody>
          <a:bodyPr wrap="square" lIns="0" tIns="0" rIns="0" bIns="0" rtlCol="0" anchor="ctr"/>
          <a:lstStyle/>
          <a:p>
            <a:pPr algn="ctr" indent="0" marL="0">
              <a:buNone/>
            </a:pPr>
            <a:r>
              <a:rPr lang="en-US" sz="1700" b="1" dirty="0">
                <a:solidFill>
                  <a:srgbClr val="2563EB"/>
                </a:solidFill>
                <a:latin typeface="Cambria" pitchFamily="34" charset="0"/>
                <a:ea typeface="Cambria" pitchFamily="34" charset="-122"/>
                <a:cs typeface="Cambria" pitchFamily="34" charset="-120"/>
              </a:rPr>
              <a:t>3 247</a:t>
            </a:r>
            <a:endParaRPr lang="en-US" sz="1700" dirty="0"/>
          </a:p>
        </p:txBody>
      </p:sp>
      <p:sp>
        <p:nvSpPr>
          <p:cNvPr id="23" name="Text 21"/>
          <p:cNvSpPr/>
          <p:nvPr/>
        </p:nvSpPr>
        <p:spPr>
          <a:xfrm>
            <a:off x="1554480" y="2240280"/>
            <a:ext cx="777240" cy="22860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Txn ce mois</a:t>
            </a:r>
            <a:endParaRPr lang="en-US" sz="850" dirty="0"/>
          </a:p>
        </p:txBody>
      </p:sp>
      <p:sp>
        <p:nvSpPr>
          <p:cNvPr id="24" name="Shape 22"/>
          <p:cNvSpPr/>
          <p:nvPr/>
        </p:nvSpPr>
        <p:spPr>
          <a:xfrm>
            <a:off x="2468880" y="1874520"/>
            <a:ext cx="868680" cy="713232"/>
          </a:xfrm>
          <a:prstGeom prst="rect">
            <a:avLst>
              <a:gd name="adj" fmla="val 897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5" name="Text 23"/>
          <p:cNvSpPr/>
          <p:nvPr/>
        </p:nvSpPr>
        <p:spPr>
          <a:xfrm>
            <a:off x="2514600" y="1920240"/>
            <a:ext cx="777240" cy="329184"/>
          </a:xfrm>
          <a:prstGeom prst="rect">
            <a:avLst/>
          </a:prstGeom>
          <a:noFill/>
          <a:ln/>
        </p:spPr>
        <p:txBody>
          <a:bodyPr wrap="square" lIns="0" tIns="0" rIns="0" bIns="0" rtlCol="0" anchor="ctr"/>
          <a:lstStyle/>
          <a:p>
            <a:pPr algn="ctr" indent="0" marL="0">
              <a:buNone/>
            </a:pPr>
            <a:r>
              <a:rPr lang="en-US" sz="1700" b="1" dirty="0">
                <a:solidFill>
                  <a:srgbClr val="EF4444"/>
                </a:solidFill>
                <a:latin typeface="Cambria" pitchFamily="34" charset="0"/>
                <a:ea typeface="Cambria" pitchFamily="34" charset="-122"/>
                <a:cs typeface="Cambria" pitchFamily="34" charset="-120"/>
              </a:rPr>
              <a:t>42</a:t>
            </a:r>
            <a:endParaRPr lang="en-US" sz="1700" dirty="0"/>
          </a:p>
        </p:txBody>
      </p:sp>
      <p:sp>
        <p:nvSpPr>
          <p:cNvPr id="26" name="Text 24"/>
          <p:cNvSpPr/>
          <p:nvPr/>
        </p:nvSpPr>
        <p:spPr>
          <a:xfrm>
            <a:off x="2514600" y="2240280"/>
            <a:ext cx="777240" cy="22860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Alertes</a:t>
            </a:r>
            <a:endParaRPr lang="en-US" sz="850" dirty="0"/>
          </a:p>
        </p:txBody>
      </p:sp>
      <p:sp>
        <p:nvSpPr>
          <p:cNvPr id="27" name="Shape 25"/>
          <p:cNvSpPr/>
          <p:nvPr/>
        </p:nvSpPr>
        <p:spPr>
          <a:xfrm>
            <a:off x="3429000" y="1874520"/>
            <a:ext cx="868680" cy="713232"/>
          </a:xfrm>
          <a:prstGeom prst="rect">
            <a:avLst>
              <a:gd name="adj" fmla="val 897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8" name="Text 26"/>
          <p:cNvSpPr/>
          <p:nvPr/>
        </p:nvSpPr>
        <p:spPr>
          <a:xfrm>
            <a:off x="3474720" y="1920240"/>
            <a:ext cx="777240" cy="329184"/>
          </a:xfrm>
          <a:prstGeom prst="rect">
            <a:avLst/>
          </a:prstGeom>
          <a:noFill/>
          <a:ln/>
        </p:spPr>
        <p:txBody>
          <a:bodyPr wrap="square" lIns="0" tIns="0" rIns="0" bIns="0" rtlCol="0" anchor="ctr"/>
          <a:lstStyle/>
          <a:p>
            <a:pPr algn="ctr" indent="0" marL="0">
              <a:buNone/>
            </a:pPr>
            <a:r>
              <a:rPr lang="en-US" sz="1700" b="1" dirty="0">
                <a:solidFill>
                  <a:srgbClr val="F59E0B"/>
                </a:solidFill>
                <a:latin typeface="Cambria" pitchFamily="34" charset="0"/>
                <a:ea typeface="Cambria" pitchFamily="34" charset="-122"/>
                <a:cs typeface="Cambria" pitchFamily="34" charset="-120"/>
              </a:rPr>
              <a:t>1.29%</a:t>
            </a:r>
            <a:endParaRPr lang="en-US" sz="1700" dirty="0"/>
          </a:p>
        </p:txBody>
      </p:sp>
      <p:sp>
        <p:nvSpPr>
          <p:cNvPr id="29" name="Text 27"/>
          <p:cNvSpPr/>
          <p:nvPr/>
        </p:nvSpPr>
        <p:spPr>
          <a:xfrm>
            <a:off x="3474720" y="2240280"/>
            <a:ext cx="777240" cy="228600"/>
          </a:xfrm>
          <a:prstGeom prst="rect">
            <a:avLst/>
          </a:prstGeom>
          <a:noFill/>
          <a:ln/>
        </p:spPr>
        <p:txBody>
          <a:bodyPr wrap="square" lIns="0" tIns="0" rIns="0" bIns="0"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Taux fraude</a:t>
            </a:r>
            <a:endParaRPr lang="en-US" sz="850" dirty="0"/>
          </a:p>
        </p:txBody>
      </p:sp>
      <p:sp>
        <p:nvSpPr>
          <p:cNvPr id="30" name="Shape 28"/>
          <p:cNvSpPr/>
          <p:nvPr/>
        </p:nvSpPr>
        <p:spPr>
          <a:xfrm>
            <a:off x="1508760" y="2697480"/>
            <a:ext cx="2788920" cy="2194560"/>
          </a:xfrm>
          <a:prstGeom prst="rect">
            <a:avLst>
              <a:gd name="adj" fmla="val 3333"/>
            </a:avLst>
          </a:prstGeom>
          <a:solidFill>
            <a:srgbClr val="F0F9FF"/>
          </a:solidFill>
          <a:ln w="12700">
            <a:solidFill>
              <a:srgbClr val="BAE6FD"/>
            </a:solidFill>
            <a:prstDash val="solid"/>
          </a:ln>
        </p:spPr>
      </p:sp>
      <p:sp>
        <p:nvSpPr>
          <p:cNvPr id="31" name="Text 29"/>
          <p:cNvSpPr/>
          <p:nvPr/>
        </p:nvSpPr>
        <p:spPr>
          <a:xfrm>
            <a:off x="1600200" y="2761488"/>
            <a:ext cx="2606040" cy="274320"/>
          </a:xfrm>
          <a:prstGeom prst="rect">
            <a:avLst/>
          </a:prstGeom>
          <a:noFill/>
          <a:ln/>
        </p:spPr>
        <p:txBody>
          <a:bodyPr wrap="square" lIns="0" tIns="0" rIns="0" bIns="0" rtlCol="0" anchor="ctr"/>
          <a:lstStyle/>
          <a:p>
            <a:pPr indent="0" marL="0">
              <a:buNone/>
            </a:pPr>
            <a:r>
              <a:rPr lang="en-US" sz="1100" b="1" dirty="0">
                <a:solidFill>
                  <a:srgbClr val="1D4ED8"/>
                </a:solidFill>
                <a:latin typeface="Calibri" pitchFamily="34" charset="0"/>
                <a:ea typeface="Calibri" pitchFamily="34" charset="-122"/>
                <a:cs typeface="Calibri" pitchFamily="34" charset="-120"/>
              </a:rPr>
              <a:t>⚖️  Exports Conformité BCEAO</a:t>
            </a:r>
            <a:endParaRPr lang="en-US" sz="1100" dirty="0"/>
          </a:p>
        </p:txBody>
      </p:sp>
      <p:sp>
        <p:nvSpPr>
          <p:cNvPr id="32" name="Shape 30"/>
          <p:cNvSpPr/>
          <p:nvPr/>
        </p:nvSpPr>
        <p:spPr>
          <a:xfrm>
            <a:off x="1600200" y="3108960"/>
            <a:ext cx="2606040" cy="502920"/>
          </a:xfrm>
          <a:prstGeom prst="rect">
            <a:avLst>
              <a:gd name="adj" fmla="val 10909"/>
            </a:avLst>
          </a:prstGeom>
          <a:solidFill>
            <a:srgbClr val="FFFFFF"/>
          </a:solidFill>
          <a:ln w="12700">
            <a:solidFill>
              <a:srgbClr val="BAE6FD"/>
            </a:solidFill>
            <a:prstDash val="solid"/>
          </a:ln>
        </p:spPr>
      </p:sp>
      <p:sp>
        <p:nvSpPr>
          <p:cNvPr id="33" name="Text 31"/>
          <p:cNvSpPr/>
          <p:nvPr/>
        </p:nvSpPr>
        <p:spPr>
          <a:xfrm>
            <a:off x="1691640" y="3182112"/>
            <a:ext cx="2377440" cy="27432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01/05/2026  →  31/05/2026</a:t>
            </a:r>
            <a:endParaRPr lang="en-US" sz="1000" dirty="0"/>
          </a:p>
        </p:txBody>
      </p:sp>
      <p:sp>
        <p:nvSpPr>
          <p:cNvPr id="34" name="Shape 32"/>
          <p:cNvSpPr/>
          <p:nvPr/>
        </p:nvSpPr>
        <p:spPr>
          <a:xfrm>
            <a:off x="1600200" y="3721608"/>
            <a:ext cx="2606040" cy="292608"/>
          </a:xfrm>
          <a:prstGeom prst="rect">
            <a:avLst>
              <a:gd name="adj" fmla="val 18750"/>
            </a:avLst>
          </a:prstGeom>
          <a:solidFill>
            <a:srgbClr val="FFFFFF"/>
          </a:solidFill>
          <a:ln w="12700">
            <a:solidFill>
              <a:srgbClr val="BAE6FD"/>
            </a:solidFill>
            <a:prstDash val="solid"/>
          </a:ln>
        </p:spPr>
      </p:sp>
      <p:sp>
        <p:nvSpPr>
          <p:cNvPr id="35" name="Text 33"/>
          <p:cNvSpPr/>
          <p:nvPr/>
        </p:nvSpPr>
        <p:spPr>
          <a:xfrm>
            <a:off x="1691640" y="3749040"/>
            <a:ext cx="2423160" cy="228600"/>
          </a:xfrm>
          <a:prstGeom prst="rect">
            <a:avLst/>
          </a:prstGeom>
          <a:noFill/>
          <a:ln/>
        </p:spPr>
        <p:txBody>
          <a:bodyPr wrap="square" lIns="0" tIns="0" rIns="0" bIns="0" rtlCol="0" anchor="ctr"/>
          <a:lstStyle/>
          <a:p>
            <a:pPr indent="0" marL="0">
              <a:buNone/>
            </a:pPr>
            <a:r>
              <a:rPr lang="en-US" sz="1000" dirty="0">
                <a:solidFill>
                  <a:srgbClr val="1D4ED8"/>
                </a:solidFill>
                <a:latin typeface="Calibri" pitchFamily="34" charset="0"/>
                <a:ea typeface="Calibri" pitchFamily="34" charset="-122"/>
                <a:cs typeface="Calibri" pitchFamily="34" charset="-120"/>
              </a:rPr>
              <a:t>📊 Toutes transactions  ⬇</a:t>
            </a:r>
            <a:endParaRPr lang="en-US" sz="1000" dirty="0"/>
          </a:p>
        </p:txBody>
      </p:sp>
      <p:sp>
        <p:nvSpPr>
          <p:cNvPr id="36" name="Shape 34"/>
          <p:cNvSpPr/>
          <p:nvPr/>
        </p:nvSpPr>
        <p:spPr>
          <a:xfrm>
            <a:off x="1600200" y="4087368"/>
            <a:ext cx="2606040" cy="292608"/>
          </a:xfrm>
          <a:prstGeom prst="rect">
            <a:avLst>
              <a:gd name="adj" fmla="val 18750"/>
            </a:avLst>
          </a:prstGeom>
          <a:solidFill>
            <a:srgbClr val="FFFFFF"/>
          </a:solidFill>
          <a:ln w="12700">
            <a:solidFill>
              <a:srgbClr val="BAE6FD"/>
            </a:solidFill>
            <a:prstDash val="solid"/>
          </a:ln>
        </p:spPr>
      </p:sp>
      <p:sp>
        <p:nvSpPr>
          <p:cNvPr id="37" name="Text 35"/>
          <p:cNvSpPr/>
          <p:nvPr/>
        </p:nvSpPr>
        <p:spPr>
          <a:xfrm>
            <a:off x="1691640" y="4114800"/>
            <a:ext cx="2423160" cy="228600"/>
          </a:xfrm>
          <a:prstGeom prst="rect">
            <a:avLst/>
          </a:prstGeom>
          <a:noFill/>
          <a:ln/>
        </p:spPr>
        <p:txBody>
          <a:bodyPr wrap="square" lIns="0" tIns="0" rIns="0" bIns="0" rtlCol="0" anchor="ctr"/>
          <a:lstStyle/>
          <a:p>
            <a:pPr indent="0" marL="0">
              <a:buNone/>
            </a:pPr>
            <a:r>
              <a:rPr lang="en-US" sz="1000" dirty="0">
                <a:solidFill>
                  <a:srgbClr val="1D4ED8"/>
                </a:solidFill>
                <a:latin typeface="Calibri" pitchFamily="34" charset="0"/>
                <a:ea typeface="Calibri" pitchFamily="34" charset="-122"/>
                <a:cs typeface="Calibri" pitchFamily="34" charset="-120"/>
              </a:rPr>
              <a:t>🚨 Fraudes uniquement  ⬇</a:t>
            </a:r>
            <a:endParaRPr lang="en-US" sz="1000" dirty="0"/>
          </a:p>
        </p:txBody>
      </p:sp>
      <p:sp>
        <p:nvSpPr>
          <p:cNvPr id="38" name="Shape 36"/>
          <p:cNvSpPr/>
          <p:nvPr/>
        </p:nvSpPr>
        <p:spPr>
          <a:xfrm>
            <a:off x="1600200" y="4453128"/>
            <a:ext cx="2606040" cy="292608"/>
          </a:xfrm>
          <a:prstGeom prst="rect">
            <a:avLst>
              <a:gd name="adj" fmla="val 18750"/>
            </a:avLst>
          </a:prstGeom>
          <a:solidFill>
            <a:srgbClr val="FFFFFF"/>
          </a:solidFill>
          <a:ln w="12700">
            <a:solidFill>
              <a:srgbClr val="BAE6FD"/>
            </a:solidFill>
            <a:prstDash val="solid"/>
          </a:ln>
        </p:spPr>
      </p:sp>
      <p:sp>
        <p:nvSpPr>
          <p:cNvPr id="39" name="Text 37"/>
          <p:cNvSpPr/>
          <p:nvPr/>
        </p:nvSpPr>
        <p:spPr>
          <a:xfrm>
            <a:off x="1691640" y="4480560"/>
            <a:ext cx="2423160" cy="228600"/>
          </a:xfrm>
          <a:prstGeom prst="rect">
            <a:avLst/>
          </a:prstGeom>
          <a:noFill/>
          <a:ln/>
        </p:spPr>
        <p:txBody>
          <a:bodyPr wrap="square" lIns="0" tIns="0" rIns="0" bIns="0" rtlCol="0" anchor="ctr"/>
          <a:lstStyle/>
          <a:p>
            <a:pPr indent="0" marL="0">
              <a:buNone/>
            </a:pPr>
            <a:r>
              <a:rPr lang="en-US" sz="1000" dirty="0">
                <a:solidFill>
                  <a:srgbClr val="1D4ED8"/>
                </a:solidFill>
                <a:latin typeface="Calibri" pitchFamily="34" charset="0"/>
                <a:ea typeface="Calibri" pitchFamily="34" charset="-122"/>
                <a:cs typeface="Calibri" pitchFamily="34" charset="-120"/>
              </a:rPr>
              <a:t>✓ Alertes confirmées  ⬇</a:t>
            </a:r>
            <a:endParaRPr lang="en-US" sz="1000" dirty="0"/>
          </a:p>
        </p:txBody>
      </p:sp>
      <p:sp>
        <p:nvSpPr>
          <p:cNvPr id="40" name="Shape 38"/>
          <p:cNvSpPr/>
          <p:nvPr/>
        </p:nvSpPr>
        <p:spPr>
          <a:xfrm>
            <a:off x="4754880" y="1417320"/>
            <a:ext cx="4160520" cy="3611880"/>
          </a:xfrm>
          <a:prstGeom prst="rect">
            <a:avLst>
              <a:gd name="adj" fmla="val 253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1" name="Text 39"/>
          <p:cNvSpPr/>
          <p:nvPr/>
        </p:nvSpPr>
        <p:spPr>
          <a:xfrm>
            <a:off x="4892040" y="1508760"/>
            <a:ext cx="3840480" cy="347472"/>
          </a:xfrm>
          <a:prstGeom prst="rect">
            <a:avLst/>
          </a:prstGeom>
          <a:noFill/>
          <a:ln/>
        </p:spPr>
        <p:txBody>
          <a:bodyPr wrap="square" lIns="0" tIns="0" rIns="0" bIns="0" rtlCol="0" anchor="ctr"/>
          <a:lstStyle/>
          <a:p>
            <a:pPr indent="0" marL="0">
              <a:buNone/>
            </a:pPr>
            <a:r>
              <a:rPr lang="en-US" sz="1400" b="1" dirty="0">
                <a:solidFill>
                  <a:srgbClr val="1E3A5F"/>
                </a:solidFill>
                <a:latin typeface="Cambria" pitchFamily="34" charset="0"/>
                <a:ea typeface="Cambria" pitchFamily="34" charset="-122"/>
                <a:cs typeface="Cambria" pitchFamily="34" charset="-120"/>
              </a:rPr>
              <a:t>✦  Ce qui différencie le portail client</a:t>
            </a:r>
            <a:endParaRPr lang="en-US" sz="1400" dirty="0"/>
          </a:p>
        </p:txBody>
      </p:sp>
      <p:sp>
        <p:nvSpPr>
          <p:cNvPr id="42" name="Shape 40"/>
          <p:cNvSpPr/>
          <p:nvPr/>
        </p:nvSpPr>
        <p:spPr>
          <a:xfrm>
            <a:off x="4846320" y="1993392"/>
            <a:ext cx="3931920" cy="521208"/>
          </a:xfrm>
          <a:prstGeom prst="rect">
            <a:avLst>
              <a:gd name="adj" fmla="val 12281"/>
            </a:avLst>
          </a:prstGeom>
          <a:solidFill>
            <a:srgbClr val="F8FAFC"/>
          </a:solidFill>
          <a:ln w="12700">
            <a:solidFill>
              <a:srgbClr val="E2E8F0"/>
            </a:solidFill>
            <a:prstDash val="solid"/>
          </a:ln>
        </p:spPr>
      </p:sp>
      <p:sp>
        <p:nvSpPr>
          <p:cNvPr id="43" name="Text 41"/>
          <p:cNvSpPr/>
          <p:nvPr/>
        </p:nvSpPr>
        <p:spPr>
          <a:xfrm>
            <a:off x="4919472" y="2084832"/>
            <a:ext cx="347472" cy="347472"/>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44" name="Text 42"/>
          <p:cNvSpPr/>
          <p:nvPr/>
        </p:nvSpPr>
        <p:spPr>
          <a:xfrm>
            <a:off x="5303520" y="2029968"/>
            <a:ext cx="3291840" cy="237744"/>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Isolation totale</a:t>
            </a:r>
            <a:endParaRPr lang="en-US" sz="1200" dirty="0"/>
          </a:p>
        </p:txBody>
      </p:sp>
      <p:sp>
        <p:nvSpPr>
          <p:cNvPr id="45" name="Text 43"/>
          <p:cNvSpPr/>
          <p:nvPr/>
        </p:nvSpPr>
        <p:spPr>
          <a:xfrm>
            <a:off x="5303520" y="2267712"/>
            <a:ext cx="3291840" cy="21945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Un tenant ne voit jamais les données d'un autre établissement</a:t>
            </a:r>
            <a:endParaRPr lang="en-US" sz="1050" dirty="0"/>
          </a:p>
        </p:txBody>
      </p:sp>
      <p:sp>
        <p:nvSpPr>
          <p:cNvPr id="46" name="Shape 44"/>
          <p:cNvSpPr/>
          <p:nvPr/>
        </p:nvSpPr>
        <p:spPr>
          <a:xfrm>
            <a:off x="4846320" y="2606040"/>
            <a:ext cx="3931920" cy="521208"/>
          </a:xfrm>
          <a:prstGeom prst="rect">
            <a:avLst>
              <a:gd name="adj" fmla="val 12281"/>
            </a:avLst>
          </a:prstGeom>
          <a:solidFill>
            <a:srgbClr val="FFFFFF"/>
          </a:solidFill>
          <a:ln w="12700">
            <a:solidFill>
              <a:srgbClr val="E2E8F0"/>
            </a:solidFill>
            <a:prstDash val="solid"/>
          </a:ln>
        </p:spPr>
      </p:sp>
      <p:sp>
        <p:nvSpPr>
          <p:cNvPr id="47" name="Text 45"/>
          <p:cNvSpPr/>
          <p:nvPr/>
        </p:nvSpPr>
        <p:spPr>
          <a:xfrm>
            <a:off x="4919472" y="2697480"/>
            <a:ext cx="347472" cy="347472"/>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48" name="Text 46"/>
          <p:cNvSpPr/>
          <p:nvPr/>
        </p:nvSpPr>
        <p:spPr>
          <a:xfrm>
            <a:off x="5303520" y="2642616"/>
            <a:ext cx="3291840" cy="237744"/>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URL dédiée</a:t>
            </a:r>
            <a:endParaRPr lang="en-US" sz="1200" dirty="0"/>
          </a:p>
        </p:txBody>
      </p:sp>
      <p:sp>
        <p:nvSpPr>
          <p:cNvPr id="49" name="Text 47"/>
          <p:cNvSpPr/>
          <p:nvPr/>
        </p:nvSpPr>
        <p:spPr>
          <a:xfrm>
            <a:off x="5303520" y="2880360"/>
            <a:ext cx="3291840" cy="21945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/portal — layout distinct, branding bleu, accès direct par lien</a:t>
            </a:r>
            <a:endParaRPr lang="en-US" sz="1050" dirty="0"/>
          </a:p>
        </p:txBody>
      </p:sp>
      <p:sp>
        <p:nvSpPr>
          <p:cNvPr id="50" name="Shape 48"/>
          <p:cNvSpPr/>
          <p:nvPr/>
        </p:nvSpPr>
        <p:spPr>
          <a:xfrm>
            <a:off x="4846320" y="3218688"/>
            <a:ext cx="3931920" cy="521208"/>
          </a:xfrm>
          <a:prstGeom prst="rect">
            <a:avLst>
              <a:gd name="adj" fmla="val 12281"/>
            </a:avLst>
          </a:prstGeom>
          <a:solidFill>
            <a:srgbClr val="F8FAFC"/>
          </a:solidFill>
          <a:ln w="12700">
            <a:solidFill>
              <a:srgbClr val="E2E8F0"/>
            </a:solidFill>
            <a:prstDash val="solid"/>
          </a:ln>
        </p:spPr>
      </p:sp>
      <p:sp>
        <p:nvSpPr>
          <p:cNvPr id="51" name="Text 49"/>
          <p:cNvSpPr/>
          <p:nvPr/>
        </p:nvSpPr>
        <p:spPr>
          <a:xfrm>
            <a:off x="4919472" y="3310128"/>
            <a:ext cx="347472" cy="347472"/>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52" name="Text 50"/>
          <p:cNvSpPr/>
          <p:nvPr/>
        </p:nvSpPr>
        <p:spPr>
          <a:xfrm>
            <a:off x="5303520" y="3255264"/>
            <a:ext cx="3291840" cy="237744"/>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Export autonome</a:t>
            </a:r>
            <a:endParaRPr lang="en-US" sz="1200" dirty="0"/>
          </a:p>
        </p:txBody>
      </p:sp>
      <p:sp>
        <p:nvSpPr>
          <p:cNvPr id="53" name="Text 51"/>
          <p:cNvSpPr/>
          <p:nvPr/>
        </p:nvSpPr>
        <p:spPr>
          <a:xfrm>
            <a:off x="5303520" y="3493008"/>
            <a:ext cx="3291840" cy="21945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Le responsable génère ses CSV BCEAO sans solliciter l'équipe IT</a:t>
            </a:r>
            <a:endParaRPr lang="en-US" sz="1050" dirty="0"/>
          </a:p>
        </p:txBody>
      </p:sp>
      <p:sp>
        <p:nvSpPr>
          <p:cNvPr id="54" name="Shape 52"/>
          <p:cNvSpPr/>
          <p:nvPr/>
        </p:nvSpPr>
        <p:spPr>
          <a:xfrm>
            <a:off x="4846320" y="3831336"/>
            <a:ext cx="3931920" cy="521208"/>
          </a:xfrm>
          <a:prstGeom prst="rect">
            <a:avLst>
              <a:gd name="adj" fmla="val 12281"/>
            </a:avLst>
          </a:prstGeom>
          <a:solidFill>
            <a:srgbClr val="FFFFFF"/>
          </a:solidFill>
          <a:ln w="12700">
            <a:solidFill>
              <a:srgbClr val="E2E8F0"/>
            </a:solidFill>
            <a:prstDash val="solid"/>
          </a:ln>
        </p:spPr>
      </p:sp>
      <p:sp>
        <p:nvSpPr>
          <p:cNvPr id="55" name="Text 53"/>
          <p:cNvSpPr/>
          <p:nvPr/>
        </p:nvSpPr>
        <p:spPr>
          <a:xfrm>
            <a:off x="4919472" y="3922776"/>
            <a:ext cx="347472" cy="347472"/>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56" name="Text 54"/>
          <p:cNvSpPr/>
          <p:nvPr/>
        </p:nvSpPr>
        <p:spPr>
          <a:xfrm>
            <a:off x="5303520" y="3867912"/>
            <a:ext cx="3291840" cy="237744"/>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Analytique propre</a:t>
            </a:r>
            <a:endParaRPr lang="en-US" sz="1200" dirty="0"/>
          </a:p>
        </p:txBody>
      </p:sp>
      <p:sp>
        <p:nvSpPr>
          <p:cNvPr id="57" name="Text 55"/>
          <p:cNvSpPr/>
          <p:nvPr/>
        </p:nvSpPr>
        <p:spPr>
          <a:xfrm>
            <a:off x="5303520" y="4105656"/>
            <a:ext cx="3291840" cy="21945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Scoring, canaux, pays — filtré exclusivement sur son propre tenant</a:t>
            </a:r>
            <a:endParaRPr lang="en-US" sz="1050" dirty="0"/>
          </a:p>
        </p:txBody>
      </p:sp>
      <p:sp>
        <p:nvSpPr>
          <p:cNvPr id="58" name="Shape 56"/>
          <p:cNvSpPr/>
          <p:nvPr/>
        </p:nvSpPr>
        <p:spPr>
          <a:xfrm>
            <a:off x="4846320" y="4443984"/>
            <a:ext cx="3931920" cy="521208"/>
          </a:xfrm>
          <a:prstGeom prst="rect">
            <a:avLst>
              <a:gd name="adj" fmla="val 12281"/>
            </a:avLst>
          </a:prstGeom>
          <a:solidFill>
            <a:srgbClr val="F8FAFC"/>
          </a:solidFill>
          <a:ln w="12700">
            <a:solidFill>
              <a:srgbClr val="E2E8F0"/>
            </a:solidFill>
            <a:prstDash val="solid"/>
          </a:ln>
        </p:spPr>
      </p:sp>
      <p:sp>
        <p:nvSpPr>
          <p:cNvPr id="59" name="Text 57"/>
          <p:cNvSpPr/>
          <p:nvPr/>
        </p:nvSpPr>
        <p:spPr>
          <a:xfrm>
            <a:off x="4919472" y="4535424"/>
            <a:ext cx="347472" cy="347472"/>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60" name="Text 58"/>
          <p:cNvSpPr/>
          <p:nvPr/>
        </p:nvSpPr>
        <p:spPr>
          <a:xfrm>
            <a:off x="5303520" y="4480560"/>
            <a:ext cx="3291840" cy="237744"/>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Alertes temps réel</a:t>
            </a:r>
            <a:endParaRPr lang="en-US" sz="1200" dirty="0"/>
          </a:p>
        </p:txBody>
      </p:sp>
      <p:sp>
        <p:nvSpPr>
          <p:cNvPr id="61" name="Text 59"/>
          <p:cNvSpPr/>
          <p:nvPr/>
        </p:nvSpPr>
        <p:spPr>
          <a:xfrm>
            <a:off x="5303520" y="4718304"/>
            <a:ext cx="3291840" cy="21945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Notifications SSE identiques à l'interface admin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Sécurité &amp; Protection des Données</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Défense en profondeur — 11 contrôles de sécurité implémentés</a:t>
            </a:r>
            <a:endParaRPr lang="en-US" sz="1300" dirty="0"/>
          </a:p>
        </p:txBody>
      </p:sp>
      <p:sp>
        <p:nvSpPr>
          <p:cNvPr id="5" name="Shape 3"/>
          <p:cNvSpPr/>
          <p:nvPr/>
        </p:nvSpPr>
        <p:spPr>
          <a:xfrm>
            <a:off x="320040" y="1417320"/>
            <a:ext cx="2788920" cy="1097280"/>
          </a:xfrm>
          <a:prstGeom prst="rect">
            <a:avLst>
              <a:gd name="adj" fmla="val 8333"/>
            </a:avLst>
          </a:prstGeom>
          <a:solidFill>
            <a:srgbClr val="FFFFFF"/>
          </a:solidFill>
          <a:ln w="12700">
            <a:solidFill>
              <a:srgbClr val="1E3A5F"/>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57200" y="1581912"/>
            <a:ext cx="475488" cy="475488"/>
          </a:xfrm>
          <a:prstGeom prst="ellipse">
            <a:avLst/>
          </a:prstGeom>
          <a:solidFill>
            <a:srgbClr val="1E3A5F">
              <a:alpha val="20000"/>
            </a:srgbClr>
          </a:solidFill>
          <a:ln w="12700">
            <a:solidFill>
              <a:srgbClr val="1E3A5F"/>
            </a:solidFill>
            <a:prstDash val="solid"/>
          </a:ln>
        </p:spPr>
      </p:sp>
      <p:sp>
        <p:nvSpPr>
          <p:cNvPr id="7" name="Text 5"/>
          <p:cNvSpPr/>
          <p:nvPr/>
        </p:nvSpPr>
        <p:spPr>
          <a:xfrm>
            <a:off x="429768" y="1545336"/>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1033272" y="1508760"/>
            <a:ext cx="1965960" cy="27432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Auth RS256 / JWKS</a:t>
            </a:r>
            <a:endParaRPr lang="en-US" sz="1200" dirty="0"/>
          </a:p>
        </p:txBody>
      </p:sp>
      <p:sp>
        <p:nvSpPr>
          <p:cNvPr id="9" name="Text 7"/>
          <p:cNvSpPr/>
          <p:nvPr/>
        </p:nvSpPr>
        <p:spPr>
          <a:xfrm>
            <a:off x="1033272" y="1801368"/>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JWT Keycloak vérifié avec clé publique JWKS. Cache 1h avec fallback sur cache périmé en cas de panne Keycloak.</a:t>
            </a:r>
            <a:endParaRPr lang="en-US" sz="1000" dirty="0"/>
          </a:p>
        </p:txBody>
      </p:sp>
      <p:sp>
        <p:nvSpPr>
          <p:cNvPr id="10" name="Shape 8"/>
          <p:cNvSpPr/>
          <p:nvPr/>
        </p:nvSpPr>
        <p:spPr>
          <a:xfrm>
            <a:off x="3264408" y="1417320"/>
            <a:ext cx="2788920" cy="1097280"/>
          </a:xfrm>
          <a:prstGeom prst="rect">
            <a:avLst>
              <a:gd name="adj" fmla="val 8333"/>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3401568" y="1581912"/>
            <a:ext cx="475488" cy="475488"/>
          </a:xfrm>
          <a:prstGeom prst="ellipse">
            <a:avLst/>
          </a:prstGeom>
          <a:solidFill>
            <a:srgbClr val="0EA5E9">
              <a:alpha val="20000"/>
            </a:srgbClr>
          </a:solidFill>
          <a:ln w="12700">
            <a:solidFill>
              <a:srgbClr val="0EA5E9"/>
            </a:solidFill>
            <a:prstDash val="solid"/>
          </a:ln>
        </p:spPr>
      </p:sp>
      <p:sp>
        <p:nvSpPr>
          <p:cNvPr id="12" name="Text 10"/>
          <p:cNvSpPr/>
          <p:nvPr/>
        </p:nvSpPr>
        <p:spPr>
          <a:xfrm>
            <a:off x="3374136" y="1545336"/>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3977640" y="1508760"/>
            <a:ext cx="19659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Rate Limiting</a:t>
            </a:r>
            <a:endParaRPr lang="en-US" sz="1200" dirty="0"/>
          </a:p>
        </p:txBody>
      </p:sp>
      <p:sp>
        <p:nvSpPr>
          <p:cNvPr id="14" name="Text 12"/>
          <p:cNvSpPr/>
          <p:nvPr/>
        </p:nvSpPr>
        <p:spPr>
          <a:xfrm>
            <a:off x="3977640" y="1801368"/>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100 req/min par IP. Fallback en mémoire si Redis indisponible — jamais fail-open.</a:t>
            </a:r>
            <a:endParaRPr lang="en-US" sz="1000" dirty="0"/>
          </a:p>
        </p:txBody>
      </p:sp>
      <p:sp>
        <p:nvSpPr>
          <p:cNvPr id="15" name="Shape 13"/>
          <p:cNvSpPr/>
          <p:nvPr/>
        </p:nvSpPr>
        <p:spPr>
          <a:xfrm>
            <a:off x="6208776" y="1417320"/>
            <a:ext cx="2788920" cy="1097280"/>
          </a:xfrm>
          <a:prstGeom prst="rect">
            <a:avLst>
              <a:gd name="adj" fmla="val 8333"/>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6345936" y="1581912"/>
            <a:ext cx="475488" cy="475488"/>
          </a:xfrm>
          <a:prstGeom prst="ellipse">
            <a:avLst/>
          </a:prstGeom>
          <a:solidFill>
            <a:srgbClr val="7C3AED">
              <a:alpha val="20000"/>
            </a:srgbClr>
          </a:solidFill>
          <a:ln w="12700">
            <a:solidFill>
              <a:srgbClr val="7C3AED"/>
            </a:solidFill>
            <a:prstDash val="solid"/>
          </a:ln>
        </p:spPr>
      </p:sp>
      <p:sp>
        <p:nvSpPr>
          <p:cNvPr id="17" name="Text 15"/>
          <p:cNvSpPr/>
          <p:nvPr/>
        </p:nvSpPr>
        <p:spPr>
          <a:xfrm>
            <a:off x="6318504" y="1545336"/>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6922008" y="1508760"/>
            <a:ext cx="1965960" cy="274320"/>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Blacklist JWT (JTI)</a:t>
            </a:r>
            <a:endParaRPr lang="en-US" sz="1200" dirty="0"/>
          </a:p>
        </p:txBody>
      </p:sp>
      <p:sp>
        <p:nvSpPr>
          <p:cNvPr id="19" name="Text 17"/>
          <p:cNvSpPr/>
          <p:nvPr/>
        </p:nvSpPr>
        <p:spPr>
          <a:xfrm>
            <a:off x="6922008" y="1801368"/>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Invalidation immédiate des tokens après logout ou révocation. Stockée dans Redis.</a:t>
            </a:r>
            <a:endParaRPr lang="en-US" sz="1000" dirty="0"/>
          </a:p>
        </p:txBody>
      </p:sp>
      <p:sp>
        <p:nvSpPr>
          <p:cNvPr id="20" name="Shape 18"/>
          <p:cNvSpPr/>
          <p:nvPr/>
        </p:nvSpPr>
        <p:spPr>
          <a:xfrm>
            <a:off x="320040" y="2679192"/>
            <a:ext cx="2788920" cy="1097280"/>
          </a:xfrm>
          <a:prstGeom prst="rect">
            <a:avLst>
              <a:gd name="adj" fmla="val 8333"/>
            </a:avLst>
          </a:prstGeom>
          <a:solidFill>
            <a:srgbClr val="FFFFFF"/>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57200" y="2843784"/>
            <a:ext cx="475488" cy="475488"/>
          </a:xfrm>
          <a:prstGeom prst="ellipse">
            <a:avLst/>
          </a:prstGeom>
          <a:solidFill>
            <a:srgbClr val="F59E0B">
              <a:alpha val="20000"/>
            </a:srgbClr>
          </a:solidFill>
          <a:ln w="12700">
            <a:solidFill>
              <a:srgbClr val="F59E0B"/>
            </a:solidFill>
            <a:prstDash val="solid"/>
          </a:ln>
        </p:spPr>
      </p:sp>
      <p:sp>
        <p:nvSpPr>
          <p:cNvPr id="22" name="Text 20"/>
          <p:cNvSpPr/>
          <p:nvPr/>
        </p:nvSpPr>
        <p:spPr>
          <a:xfrm>
            <a:off x="429768" y="2807208"/>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1033272" y="2770632"/>
            <a:ext cx="19659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Journal d'audit</a:t>
            </a:r>
            <a:endParaRPr lang="en-US" sz="1200" dirty="0"/>
          </a:p>
        </p:txBody>
      </p:sp>
      <p:sp>
        <p:nvSpPr>
          <p:cNvPr id="24" name="Text 22"/>
          <p:cNvSpPr/>
          <p:nvPr/>
        </p:nvSpPr>
        <p:spPr>
          <a:xfrm>
            <a:off x="1033272" y="3063240"/>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Chaque action (alerte, export, login) tracée avec tenant_id, acteur, horodatage et résultat.</a:t>
            </a:r>
            <a:endParaRPr lang="en-US" sz="1000" dirty="0"/>
          </a:p>
        </p:txBody>
      </p:sp>
      <p:sp>
        <p:nvSpPr>
          <p:cNvPr id="25" name="Shape 23"/>
          <p:cNvSpPr/>
          <p:nvPr/>
        </p:nvSpPr>
        <p:spPr>
          <a:xfrm>
            <a:off x="3264408" y="2679192"/>
            <a:ext cx="2788920" cy="1097280"/>
          </a:xfrm>
          <a:prstGeom prst="rect">
            <a:avLst>
              <a:gd name="adj" fmla="val 8333"/>
            </a:avLst>
          </a:prstGeom>
          <a:solidFill>
            <a:srgbClr val="FFFFFF"/>
          </a:solidFill>
          <a:ln w="12700">
            <a:solidFill>
              <a:srgbClr val="EF4444"/>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3401568" y="2843784"/>
            <a:ext cx="475488" cy="475488"/>
          </a:xfrm>
          <a:prstGeom prst="ellipse">
            <a:avLst/>
          </a:prstGeom>
          <a:solidFill>
            <a:srgbClr val="EF4444">
              <a:alpha val="20000"/>
            </a:srgbClr>
          </a:solidFill>
          <a:ln w="12700">
            <a:solidFill>
              <a:srgbClr val="EF4444"/>
            </a:solidFill>
            <a:prstDash val="solid"/>
          </a:ln>
        </p:spPr>
      </p:sp>
      <p:sp>
        <p:nvSpPr>
          <p:cNvPr id="27" name="Text 25"/>
          <p:cNvSpPr/>
          <p:nvPr/>
        </p:nvSpPr>
        <p:spPr>
          <a:xfrm>
            <a:off x="3374136" y="2807208"/>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8" name="Text 26"/>
          <p:cNvSpPr/>
          <p:nvPr/>
        </p:nvSpPr>
        <p:spPr>
          <a:xfrm>
            <a:off x="3977640" y="2770632"/>
            <a:ext cx="196596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Validation config</a:t>
            </a:r>
            <a:endParaRPr lang="en-US" sz="1200" dirty="0"/>
          </a:p>
        </p:txBody>
      </p:sp>
      <p:sp>
        <p:nvSpPr>
          <p:cNvPr id="29" name="Text 27"/>
          <p:cNvSpPr/>
          <p:nvPr/>
        </p:nvSpPr>
        <p:spPr>
          <a:xfrm>
            <a:off x="3977640" y="3063240"/>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Clé secrète faible ou CORS=* → erreur au démarrage en production. Jamais de secrets par défaut.</a:t>
            </a:r>
            <a:endParaRPr lang="en-US" sz="1000" dirty="0"/>
          </a:p>
        </p:txBody>
      </p:sp>
      <p:sp>
        <p:nvSpPr>
          <p:cNvPr id="30" name="Shape 28"/>
          <p:cNvSpPr/>
          <p:nvPr/>
        </p:nvSpPr>
        <p:spPr>
          <a:xfrm>
            <a:off x="6208776" y="2679192"/>
            <a:ext cx="2788920" cy="1097280"/>
          </a:xfrm>
          <a:prstGeom prst="rect">
            <a:avLst>
              <a:gd name="adj" fmla="val 8333"/>
            </a:avLst>
          </a:prstGeom>
          <a:solidFill>
            <a:srgbClr val="FFFFFF"/>
          </a:solidFill>
          <a:ln w="12700">
            <a:solidFill>
              <a:srgbClr val="10B981"/>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6345936" y="2843784"/>
            <a:ext cx="475488" cy="475488"/>
          </a:xfrm>
          <a:prstGeom prst="ellipse">
            <a:avLst/>
          </a:prstGeom>
          <a:solidFill>
            <a:srgbClr val="10B981">
              <a:alpha val="20000"/>
            </a:srgbClr>
          </a:solidFill>
          <a:ln w="12700">
            <a:solidFill>
              <a:srgbClr val="10B981"/>
            </a:solidFill>
            <a:prstDash val="solid"/>
          </a:ln>
        </p:spPr>
      </p:sp>
      <p:sp>
        <p:nvSpPr>
          <p:cNvPr id="32" name="Text 30"/>
          <p:cNvSpPr/>
          <p:nvPr/>
        </p:nvSpPr>
        <p:spPr>
          <a:xfrm>
            <a:off x="6318504" y="2807208"/>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33" name="Text 31"/>
          <p:cNvSpPr/>
          <p:nvPr/>
        </p:nvSpPr>
        <p:spPr>
          <a:xfrm>
            <a:off x="6922008" y="2770632"/>
            <a:ext cx="19659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Headers sécurité</a:t>
            </a:r>
            <a:endParaRPr lang="en-US" sz="1200" dirty="0"/>
          </a:p>
        </p:txBody>
      </p:sp>
      <p:sp>
        <p:nvSpPr>
          <p:cNvPr id="34" name="Text 32"/>
          <p:cNvSpPr/>
          <p:nvPr/>
        </p:nvSpPr>
        <p:spPr>
          <a:xfrm>
            <a:off x="6922008" y="3063240"/>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CSP, X-Frame-Options DENY, HSTS (prod), X-Content-Type-Options sur toutes les réponses.</a:t>
            </a:r>
            <a:endParaRPr lang="en-US" sz="1000" dirty="0"/>
          </a:p>
        </p:txBody>
      </p:sp>
      <p:sp>
        <p:nvSpPr>
          <p:cNvPr id="35" name="Shape 33"/>
          <p:cNvSpPr/>
          <p:nvPr/>
        </p:nvSpPr>
        <p:spPr>
          <a:xfrm>
            <a:off x="320040" y="3941064"/>
            <a:ext cx="2788920" cy="1097280"/>
          </a:xfrm>
          <a:prstGeom prst="rect">
            <a:avLst>
              <a:gd name="adj" fmla="val 8333"/>
            </a:avLst>
          </a:prstGeom>
          <a:solidFill>
            <a:srgbClr val="FFFFFF"/>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36" name="Shape 34"/>
          <p:cNvSpPr/>
          <p:nvPr/>
        </p:nvSpPr>
        <p:spPr>
          <a:xfrm>
            <a:off x="457200" y="4105656"/>
            <a:ext cx="475488" cy="475488"/>
          </a:xfrm>
          <a:prstGeom prst="ellipse">
            <a:avLst/>
          </a:prstGeom>
          <a:solidFill>
            <a:srgbClr val="7C3AED">
              <a:alpha val="20000"/>
            </a:srgbClr>
          </a:solidFill>
          <a:ln w="12700">
            <a:solidFill>
              <a:srgbClr val="7C3AED"/>
            </a:solidFill>
            <a:prstDash val="solid"/>
          </a:ln>
        </p:spPr>
      </p:sp>
      <p:sp>
        <p:nvSpPr>
          <p:cNvPr id="37" name="Text 35"/>
          <p:cNvSpPr/>
          <p:nvPr/>
        </p:nvSpPr>
        <p:spPr>
          <a:xfrm>
            <a:off x="429768" y="4069080"/>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38" name="Text 36"/>
          <p:cNvSpPr/>
          <p:nvPr/>
        </p:nvSpPr>
        <p:spPr>
          <a:xfrm>
            <a:off x="1033272" y="4032504"/>
            <a:ext cx="1965960" cy="274320"/>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Isolation tenant</a:t>
            </a:r>
            <a:endParaRPr lang="en-US" sz="1200" dirty="0"/>
          </a:p>
        </p:txBody>
      </p:sp>
      <p:sp>
        <p:nvSpPr>
          <p:cNvPr id="39" name="Text 37"/>
          <p:cNvSpPr/>
          <p:nvPr/>
        </p:nvSpPr>
        <p:spPr>
          <a:xfrm>
            <a:off x="1033272" y="4325112"/>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Chaque requête API filtre par tenant_id. Un tenant ne peut jamais accéder aux données d'un autre.</a:t>
            </a:r>
            <a:endParaRPr lang="en-US" sz="1000" dirty="0"/>
          </a:p>
        </p:txBody>
      </p:sp>
      <p:sp>
        <p:nvSpPr>
          <p:cNvPr id="40" name="Shape 38"/>
          <p:cNvSpPr/>
          <p:nvPr/>
        </p:nvSpPr>
        <p:spPr>
          <a:xfrm>
            <a:off x="3264408" y="3941064"/>
            <a:ext cx="2788920" cy="1097280"/>
          </a:xfrm>
          <a:prstGeom prst="rect">
            <a:avLst>
              <a:gd name="adj" fmla="val 8333"/>
            </a:avLst>
          </a:prstGeom>
          <a:solidFill>
            <a:srgbClr val="FFFFFF"/>
          </a:solidFill>
          <a:ln w="12700">
            <a:solidFill>
              <a:srgbClr val="2D5282"/>
            </a:solidFill>
            <a:prstDash val="solid"/>
          </a:ln>
          <a:effectLst>
            <a:outerShdw sx="100000" sy="100000" kx="0" ky="0" algn="bl" rotWithShape="0" blurRad="101600" dist="38100" dir="2700000">
              <a:srgbClr val="000000">
                <a:alpha val="12000"/>
              </a:srgbClr>
            </a:outerShdw>
          </a:effectLst>
        </p:spPr>
      </p:sp>
      <p:sp>
        <p:nvSpPr>
          <p:cNvPr id="41" name="Shape 39"/>
          <p:cNvSpPr/>
          <p:nvPr/>
        </p:nvSpPr>
        <p:spPr>
          <a:xfrm>
            <a:off x="3401568" y="4105656"/>
            <a:ext cx="475488" cy="475488"/>
          </a:xfrm>
          <a:prstGeom prst="ellipse">
            <a:avLst/>
          </a:prstGeom>
          <a:solidFill>
            <a:srgbClr val="2D5282">
              <a:alpha val="20000"/>
            </a:srgbClr>
          </a:solidFill>
          <a:ln w="12700">
            <a:solidFill>
              <a:srgbClr val="2D5282"/>
            </a:solidFill>
            <a:prstDash val="solid"/>
          </a:ln>
        </p:spPr>
      </p:sp>
      <p:sp>
        <p:nvSpPr>
          <p:cNvPr id="42" name="Text 40"/>
          <p:cNvSpPr/>
          <p:nvPr/>
        </p:nvSpPr>
        <p:spPr>
          <a:xfrm>
            <a:off x="3374136" y="4069080"/>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43" name="Text 41"/>
          <p:cNvSpPr/>
          <p:nvPr/>
        </p:nvSpPr>
        <p:spPr>
          <a:xfrm>
            <a:off x="3977640" y="4032504"/>
            <a:ext cx="1965960" cy="274320"/>
          </a:xfrm>
          <a:prstGeom prst="rect">
            <a:avLst/>
          </a:prstGeom>
          <a:noFill/>
          <a:ln/>
        </p:spPr>
        <p:txBody>
          <a:bodyPr wrap="square" lIns="0" tIns="0" rIns="0" bIns="0" rtlCol="0" anchor="ctr"/>
          <a:lstStyle/>
          <a:p>
            <a:pPr indent="0" marL="0">
              <a:buNone/>
            </a:pPr>
            <a:r>
              <a:rPr lang="en-US" sz="1200" b="1" dirty="0">
                <a:solidFill>
                  <a:srgbClr val="2D5282"/>
                </a:solidFill>
                <a:latin typeface="Calibri" pitchFamily="34" charset="0"/>
                <a:ea typeface="Calibri" pitchFamily="34" charset="-122"/>
                <a:cs typeface="Calibri" pitchFamily="34" charset="-120"/>
              </a:rPr>
              <a:t>Hashage modèle IA</a:t>
            </a:r>
            <a:endParaRPr lang="en-US" sz="1200" dirty="0"/>
          </a:p>
        </p:txBody>
      </p:sp>
      <p:sp>
        <p:nvSpPr>
          <p:cNvPr id="44" name="Text 42"/>
          <p:cNvSpPr/>
          <p:nvPr/>
        </p:nvSpPr>
        <p:spPr>
          <a:xfrm>
            <a:off x="3977640" y="4325112"/>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SHA-256 du fichier .pkl vérifié au démarrage. Détecte toute corruption ou substitution malveillante.</a:t>
            </a:r>
            <a:endParaRPr lang="en-US" sz="1000" dirty="0"/>
          </a:p>
        </p:txBody>
      </p:sp>
      <p:sp>
        <p:nvSpPr>
          <p:cNvPr id="45" name="Shape 43"/>
          <p:cNvSpPr/>
          <p:nvPr/>
        </p:nvSpPr>
        <p:spPr>
          <a:xfrm>
            <a:off x="6208776" y="3941064"/>
            <a:ext cx="2788920" cy="1097280"/>
          </a:xfrm>
          <a:prstGeom prst="rect">
            <a:avLst>
              <a:gd name="adj" fmla="val 8333"/>
            </a:avLst>
          </a:prstGeom>
          <a:solidFill>
            <a:srgbClr val="FFFFFF"/>
          </a:solidFill>
          <a:ln w="12700">
            <a:solidFill>
              <a:srgbClr val="0891B2"/>
            </a:solidFill>
            <a:prstDash val="solid"/>
          </a:ln>
          <a:effectLst>
            <a:outerShdw sx="100000" sy="100000" kx="0" ky="0" algn="bl" rotWithShape="0" blurRad="101600" dist="38100" dir="2700000">
              <a:srgbClr val="000000">
                <a:alpha val="12000"/>
              </a:srgbClr>
            </a:outerShdw>
          </a:effectLst>
        </p:spPr>
      </p:sp>
      <p:sp>
        <p:nvSpPr>
          <p:cNvPr id="46" name="Shape 44"/>
          <p:cNvSpPr/>
          <p:nvPr/>
        </p:nvSpPr>
        <p:spPr>
          <a:xfrm>
            <a:off x="6345936" y="4105656"/>
            <a:ext cx="475488" cy="475488"/>
          </a:xfrm>
          <a:prstGeom prst="ellipse">
            <a:avLst/>
          </a:prstGeom>
          <a:solidFill>
            <a:srgbClr val="0891B2">
              <a:alpha val="20000"/>
            </a:srgbClr>
          </a:solidFill>
          <a:ln w="12700">
            <a:solidFill>
              <a:srgbClr val="0891B2"/>
            </a:solidFill>
            <a:prstDash val="solid"/>
          </a:ln>
        </p:spPr>
      </p:sp>
      <p:sp>
        <p:nvSpPr>
          <p:cNvPr id="47" name="Text 45"/>
          <p:cNvSpPr/>
          <p:nvPr/>
        </p:nvSpPr>
        <p:spPr>
          <a:xfrm>
            <a:off x="6318504" y="4069080"/>
            <a:ext cx="530352" cy="53035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48" name="Text 46"/>
          <p:cNvSpPr/>
          <p:nvPr/>
        </p:nvSpPr>
        <p:spPr>
          <a:xfrm>
            <a:off x="6922008" y="4032504"/>
            <a:ext cx="1965960" cy="27432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Rotation des secrets</a:t>
            </a:r>
            <a:endParaRPr lang="en-US" sz="1200" dirty="0"/>
          </a:p>
        </p:txBody>
      </p:sp>
      <p:sp>
        <p:nvSpPr>
          <p:cNvPr id="49" name="Text 47"/>
          <p:cNvSpPr/>
          <p:nvPr/>
        </p:nvSpPr>
        <p:spPr>
          <a:xfrm>
            <a:off x="6922008" y="4325112"/>
            <a:ext cx="1965960" cy="62179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JWKS rechargé toutes les heures. Token JWT expiration courte (15min). Refresh token séparé.</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Récapitulatif des Fonctionnalités</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Couverture complète du cycle de vie de la fraude — de la détection à la conformité</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417320"/>
          <a:ext cx="8503920" cy="3611880"/>
        </p:xfrm>
        <a:graphic>
          <a:graphicData uri="http://schemas.openxmlformats.org/drawingml/2006/table">
            <a:tbl>
              <a:tblPr/>
              <a:tblGrid>
                <a:gridCol w="3200400"/>
                <a:gridCol w="1097280"/>
                <a:gridCol w="1097280"/>
                <a:gridCol w="1325880"/>
                <a:gridCol w="1097280"/>
              </a:tblGrid>
              <a:tr h="301752">
                <a:tc>
                  <a:txBody>
                    <a:bodyPr/>
                    <a:lstStyle/>
                    <a:p>
                      <a:pPr indent="0" marL="0">
                        <a:buNone/>
                      </a:pPr>
                      <a:r>
                        <a:rPr lang="en-US" sz="1100" b="1" dirty="0">
                          <a:solidFill>
                            <a:srgbClr val="FFFFFF"/>
                          </a:solidFill>
                        </a:rPr>
                        <a:t>Fonctionnalité</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Admin</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Compliance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Tenant Admin</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rPr>
                        <a:t>Analyste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301752">
                <a:tc>
                  <a:txBody>
                    <a:bodyPr/>
                    <a:lstStyle/>
                    <a:p>
                      <a:pPr indent="0" marL="0">
                        <a:buNone/>
                      </a:pPr>
                      <a:r>
                        <a:rPr lang="en-US" sz="1100" dirty="0">
                          <a:solidFill>
                            <a:srgbClr val="1E3A5F"/>
                          </a:solidFill>
                        </a:rPr>
                        <a:t>Tableau de bord temps réel</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3A5F"/>
                          </a:solidFill>
                        </a:rPr>
                        <a:t>Scoring IA des transactions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r>
              <a:tr h="301752">
                <a:tc>
                  <a:txBody>
                    <a:bodyPr/>
                    <a:lstStyle/>
                    <a:p>
                      <a:pPr indent="0" marL="0">
                        <a:buNone/>
                      </a:pPr>
                      <a:r>
                        <a:rPr lang="en-US" sz="1100" dirty="0">
                          <a:solidFill>
                            <a:srgbClr val="1E3A5F"/>
                          </a:solidFill>
                        </a:rPr>
                        <a:t>Gestion des alertes (qualifier/rejeter)</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3A5F"/>
                          </a:solidFill>
                        </a:rPr>
                        <a:t>Historique transactions paginé</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r>
              <a:tr h="301752">
                <a:tc>
                  <a:txBody>
                    <a:bodyPr/>
                    <a:lstStyle/>
                    <a:p>
                      <a:pPr indent="0" marL="0">
                        <a:buNone/>
                      </a:pPr>
                      <a:r>
                        <a:rPr lang="en-US" sz="1100" dirty="0">
                          <a:solidFill>
                            <a:srgbClr val="1E3A5F"/>
                          </a:solidFill>
                        </a:rPr>
                        <a:t>Notifications SSE temps réel</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3A5F"/>
                          </a:solidFill>
                        </a:rPr>
                        <a:t>Export CSV transactions (BCEAO)</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r>
              <a:tr h="301752">
                <a:tc>
                  <a:txBody>
                    <a:bodyPr/>
                    <a:lstStyle/>
                    <a:p>
                      <a:pPr indent="0" marL="0">
                        <a:buNone/>
                      </a:pPr>
                      <a:r>
                        <a:rPr lang="en-US" sz="1100" dirty="0">
                          <a:solidFill>
                            <a:srgbClr val="1E3A5F"/>
                          </a:solidFill>
                        </a:rPr>
                        <a:t>Export CSV alertes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3A5F"/>
                          </a:solidFill>
                        </a:rPr>
                        <a:t>Journal d'audit complet</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r>
              <a:tr h="301752">
                <a:tc>
                  <a:txBody>
                    <a:bodyPr/>
                    <a:lstStyle/>
                    <a:p>
                      <a:pPr indent="0" marL="0">
                        <a:buNone/>
                      </a:pPr>
                      <a:r>
                        <a:rPr lang="en-US" sz="1100" dirty="0">
                          <a:solidFill>
                            <a:srgbClr val="1E3A5F"/>
                          </a:solidFill>
                        </a:rPr>
                        <a:t>Rapport conformité BCEAO</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3A5F"/>
                          </a:solidFill>
                        </a:rPr>
                        <a:t>Gestion tenants &amp; modèles IA</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6FF"/>
                    </a:solidFill>
                  </a:tcPr>
                </a:tc>
              </a:tr>
              <a:tr h="301752">
                <a:tc>
                  <a:txBody>
                    <a:bodyPr/>
                    <a:lstStyle/>
                    <a:p>
                      <a:pPr indent="0" marL="0">
                        <a:buNone/>
                      </a:pPr>
                      <a:r>
                        <a:rPr lang="en-US" sz="1100" dirty="0">
                          <a:solidFill>
                            <a:srgbClr val="1E3A5F"/>
                          </a:solidFill>
                        </a:rPr>
                        <a:t>Portail client dédié (/portal)</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0B981"/>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4A3B8"/>
                          </a:solidFill>
                        </a:rPr>
                        <a:t>—</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0A1628"/>
          </a:solidFill>
          <a:ln/>
        </p:spPr>
      </p:sp>
      <p:sp>
        <p:nvSpPr>
          <p:cNvPr id="3" name="Text 1"/>
          <p:cNvSpPr/>
          <p:nvPr/>
        </p:nvSpPr>
        <p:spPr>
          <a:xfrm>
            <a:off x="457200" y="137160"/>
            <a:ext cx="7772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Feuille de Route</a:t>
            </a:r>
            <a:endParaRPr lang="en-US" sz="2800" dirty="0"/>
          </a:p>
        </p:txBody>
      </p:sp>
      <p:sp>
        <p:nvSpPr>
          <p:cNvPr id="4" name="Text 2"/>
          <p:cNvSpPr/>
          <p:nvPr/>
        </p:nvSpPr>
        <p:spPr>
          <a:xfrm>
            <a:off x="457200" y="713232"/>
            <a:ext cx="7772400" cy="411480"/>
          </a:xfrm>
          <a:prstGeom prst="rect">
            <a:avLst/>
          </a:prstGeom>
          <a:noFill/>
          <a:ln/>
        </p:spPr>
        <p:txBody>
          <a:bodyPr wrap="square" lIns="0" tIns="0" rIns="0" bIns="0" rtlCol="0" anchor="ctr"/>
          <a:lstStyle/>
          <a:p>
            <a:pPr indent="0" marL="0">
              <a:buNone/>
            </a:pPr>
            <a:r>
              <a:rPr lang="en-US" sz="1300" dirty="0">
                <a:solidFill>
                  <a:srgbClr val="38BDF8"/>
                </a:solidFill>
                <a:latin typeface="Calibri" pitchFamily="34" charset="0"/>
                <a:ea typeface="Calibri" pitchFamily="34" charset="-122"/>
                <a:cs typeface="Calibri" pitchFamily="34" charset="-120"/>
              </a:rPr>
              <a:t>Prochaines étapes — Q3/Q4 2026</a:t>
            </a:r>
            <a:endParaRPr lang="en-US" sz="1300" dirty="0"/>
          </a:p>
        </p:txBody>
      </p:sp>
      <p:sp>
        <p:nvSpPr>
          <p:cNvPr id="5" name="Shape 3"/>
          <p:cNvSpPr/>
          <p:nvPr/>
        </p:nvSpPr>
        <p:spPr>
          <a:xfrm>
            <a:off x="777240" y="1417320"/>
            <a:ext cx="1828800" cy="347472"/>
          </a:xfrm>
          <a:prstGeom prst="rect">
            <a:avLst>
              <a:gd name="adj" fmla="val 26316"/>
            </a:avLst>
          </a:prstGeom>
          <a:solidFill>
            <a:srgbClr val="10B981"/>
          </a:solidFill>
          <a:ln w="12700">
            <a:solidFill>
              <a:srgbClr val="10B981"/>
            </a:solidFill>
            <a:prstDash val="solid"/>
          </a:ln>
        </p:spPr>
      </p:sp>
      <p:sp>
        <p:nvSpPr>
          <p:cNvPr id="6" name="Text 4"/>
          <p:cNvSpPr/>
          <p:nvPr/>
        </p:nvSpPr>
        <p:spPr>
          <a:xfrm>
            <a:off x="777240" y="14173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Terminé</a:t>
            </a:r>
            <a:endParaRPr lang="en-US" sz="1100" dirty="0"/>
          </a:p>
        </p:txBody>
      </p:sp>
      <p:sp>
        <p:nvSpPr>
          <p:cNvPr id="7" name="Text 5"/>
          <p:cNvSpPr/>
          <p:nvPr/>
        </p:nvSpPr>
        <p:spPr>
          <a:xfrm>
            <a:off x="320040" y="1874520"/>
            <a:ext cx="2743200" cy="475488"/>
          </a:xfrm>
          <a:prstGeom prst="rect">
            <a:avLst/>
          </a:prstGeom>
          <a:noFill/>
          <a:ln/>
        </p:spPr>
        <p:txBody>
          <a:bodyPr wrap="square" lIns="0" tIns="0" rIns="0" bIns="0" rtlCol="0" anchor="ctr"/>
          <a:lstStyle/>
          <a:p>
            <a:pPr algn="ctr" indent="0" marL="0">
              <a:buNone/>
            </a:pPr>
            <a:r>
              <a:rPr lang="en-US" sz="2800" b="1" dirty="0">
                <a:solidFill>
                  <a:srgbClr val="10B981"/>
                </a:solidFill>
                <a:latin typeface="Cambria" pitchFamily="34" charset="0"/>
                <a:ea typeface="Cambria" pitchFamily="34" charset="-122"/>
                <a:cs typeface="Cambria" pitchFamily="34" charset="-120"/>
              </a:rPr>
              <a:t>Livré</a:t>
            </a:r>
            <a:endParaRPr lang="en-US" sz="2800" dirty="0"/>
          </a:p>
        </p:txBody>
      </p:sp>
      <p:sp>
        <p:nvSpPr>
          <p:cNvPr id="8" name="Shape 6"/>
          <p:cNvSpPr/>
          <p:nvPr/>
        </p:nvSpPr>
        <p:spPr>
          <a:xfrm>
            <a:off x="320040" y="2450592"/>
            <a:ext cx="2788920" cy="2514600"/>
          </a:xfrm>
          <a:prstGeom prst="rect">
            <a:avLst>
              <a:gd name="adj" fmla="val 3636"/>
            </a:avLst>
          </a:prstGeom>
          <a:solidFill>
            <a:srgbClr val="FFFFFF"/>
          </a:solidFill>
          <a:ln w="12700">
            <a:solidFill>
              <a:srgbClr val="10B981"/>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502920" y="2679192"/>
            <a:ext cx="256032" cy="256032"/>
          </a:xfrm>
          <a:prstGeom prst="ellipse">
            <a:avLst/>
          </a:prstGeom>
          <a:solidFill>
            <a:srgbClr val="10B981"/>
          </a:solidFill>
          <a:ln w="12700">
            <a:solidFill>
              <a:srgbClr val="10B981"/>
            </a:solidFill>
            <a:prstDash val="solid"/>
          </a:ln>
        </p:spPr>
      </p:sp>
      <p:sp>
        <p:nvSpPr>
          <p:cNvPr id="10" name="Text 8"/>
          <p:cNvSpPr/>
          <p:nvPr/>
        </p:nvSpPr>
        <p:spPr>
          <a:xfrm>
            <a:off x="850392" y="2606040"/>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Tableau de bord enrichi — KPIs réels &amp; graphiques avancés</a:t>
            </a:r>
            <a:endParaRPr lang="en-US" sz="1100" dirty="0"/>
          </a:p>
        </p:txBody>
      </p:sp>
      <p:sp>
        <p:nvSpPr>
          <p:cNvPr id="11" name="Shape 9"/>
          <p:cNvSpPr/>
          <p:nvPr/>
        </p:nvSpPr>
        <p:spPr>
          <a:xfrm>
            <a:off x="502920" y="3246120"/>
            <a:ext cx="256032" cy="256032"/>
          </a:xfrm>
          <a:prstGeom prst="ellipse">
            <a:avLst/>
          </a:prstGeom>
          <a:solidFill>
            <a:srgbClr val="10B981"/>
          </a:solidFill>
          <a:ln w="12700">
            <a:solidFill>
              <a:srgbClr val="10B981"/>
            </a:solidFill>
            <a:prstDash val="solid"/>
          </a:ln>
        </p:spPr>
      </p:sp>
      <p:sp>
        <p:nvSpPr>
          <p:cNvPr id="12" name="Text 10"/>
          <p:cNvSpPr/>
          <p:nvPr/>
        </p:nvSpPr>
        <p:spPr>
          <a:xfrm>
            <a:off x="850392" y="3172968"/>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Webhooks fraude — déclenchement auto à la détection</a:t>
            </a:r>
            <a:endParaRPr lang="en-US" sz="1100" dirty="0"/>
          </a:p>
        </p:txBody>
      </p:sp>
      <p:sp>
        <p:nvSpPr>
          <p:cNvPr id="13" name="Shape 11"/>
          <p:cNvSpPr/>
          <p:nvPr/>
        </p:nvSpPr>
        <p:spPr>
          <a:xfrm>
            <a:off x="502920" y="3813048"/>
            <a:ext cx="256032" cy="256032"/>
          </a:xfrm>
          <a:prstGeom prst="ellipse">
            <a:avLst/>
          </a:prstGeom>
          <a:solidFill>
            <a:srgbClr val="10B981"/>
          </a:solidFill>
          <a:ln w="12700">
            <a:solidFill>
              <a:srgbClr val="10B981"/>
            </a:solidFill>
            <a:prstDash val="solid"/>
          </a:ln>
        </p:spPr>
      </p:sp>
      <p:sp>
        <p:nvSpPr>
          <p:cNvPr id="14" name="Text 12"/>
          <p:cNvSpPr/>
          <p:nvPr/>
        </p:nvSpPr>
        <p:spPr>
          <a:xfrm>
            <a:off x="850392" y="3739896"/>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Notifications SSE temps réel (bell + badge)</a:t>
            </a:r>
            <a:endParaRPr lang="en-US" sz="1100" dirty="0"/>
          </a:p>
        </p:txBody>
      </p:sp>
      <p:sp>
        <p:nvSpPr>
          <p:cNvPr id="15" name="Shape 13"/>
          <p:cNvSpPr/>
          <p:nvPr/>
        </p:nvSpPr>
        <p:spPr>
          <a:xfrm>
            <a:off x="502920" y="4379976"/>
            <a:ext cx="256032" cy="256032"/>
          </a:xfrm>
          <a:prstGeom prst="ellipse">
            <a:avLst/>
          </a:prstGeom>
          <a:solidFill>
            <a:srgbClr val="10B981"/>
          </a:solidFill>
          <a:ln w="12700">
            <a:solidFill>
              <a:srgbClr val="10B981"/>
            </a:solidFill>
            <a:prstDash val="solid"/>
          </a:ln>
        </p:spPr>
      </p:sp>
      <p:sp>
        <p:nvSpPr>
          <p:cNvPr id="16" name="Text 14"/>
          <p:cNvSpPr/>
          <p:nvPr/>
        </p:nvSpPr>
        <p:spPr>
          <a:xfrm>
            <a:off x="850392" y="4306824"/>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Dark mode &amp; portail conformité export</a:t>
            </a:r>
            <a:endParaRPr lang="en-US" sz="1100" dirty="0"/>
          </a:p>
        </p:txBody>
      </p:sp>
      <p:sp>
        <p:nvSpPr>
          <p:cNvPr id="17" name="Shape 15"/>
          <p:cNvSpPr/>
          <p:nvPr/>
        </p:nvSpPr>
        <p:spPr>
          <a:xfrm>
            <a:off x="3721608" y="1417320"/>
            <a:ext cx="1828800" cy="347472"/>
          </a:xfrm>
          <a:prstGeom prst="rect">
            <a:avLst>
              <a:gd name="adj" fmla="val 26316"/>
            </a:avLst>
          </a:prstGeom>
          <a:solidFill>
            <a:srgbClr val="0EA5E9"/>
          </a:solidFill>
          <a:ln w="12700">
            <a:solidFill>
              <a:srgbClr val="0EA5E9"/>
            </a:solidFill>
            <a:prstDash val="solid"/>
          </a:ln>
        </p:spPr>
      </p:sp>
      <p:sp>
        <p:nvSpPr>
          <p:cNvPr id="18" name="Text 16"/>
          <p:cNvSpPr/>
          <p:nvPr/>
        </p:nvSpPr>
        <p:spPr>
          <a:xfrm>
            <a:off x="3721608" y="14173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 cours</a:t>
            </a:r>
            <a:endParaRPr lang="en-US" sz="1100" dirty="0"/>
          </a:p>
        </p:txBody>
      </p:sp>
      <p:sp>
        <p:nvSpPr>
          <p:cNvPr id="19" name="Text 17"/>
          <p:cNvSpPr/>
          <p:nvPr/>
        </p:nvSpPr>
        <p:spPr>
          <a:xfrm>
            <a:off x="3264408" y="1874520"/>
            <a:ext cx="2743200" cy="475488"/>
          </a:xfrm>
          <a:prstGeom prst="rect">
            <a:avLst/>
          </a:prstGeom>
          <a:noFill/>
          <a:ln/>
        </p:spPr>
        <p:txBody>
          <a:bodyPr wrap="square" lIns="0" tIns="0" rIns="0" bIns="0" rtlCol="0" anchor="ctr"/>
          <a:lstStyle/>
          <a:p>
            <a:pPr algn="ctr" indent="0" marL="0">
              <a:buNone/>
            </a:pPr>
            <a:r>
              <a:rPr lang="en-US" sz="2800" b="1" dirty="0">
                <a:solidFill>
                  <a:srgbClr val="0EA5E9"/>
                </a:solidFill>
                <a:latin typeface="Cambria" pitchFamily="34" charset="0"/>
                <a:ea typeface="Cambria" pitchFamily="34" charset="-122"/>
                <a:cs typeface="Cambria" pitchFamily="34" charset="-120"/>
              </a:rPr>
              <a:t>Q3 2026</a:t>
            </a:r>
            <a:endParaRPr lang="en-US" sz="2800" dirty="0"/>
          </a:p>
        </p:txBody>
      </p:sp>
      <p:sp>
        <p:nvSpPr>
          <p:cNvPr id="20" name="Shape 18"/>
          <p:cNvSpPr/>
          <p:nvPr/>
        </p:nvSpPr>
        <p:spPr>
          <a:xfrm>
            <a:off x="3264408" y="2450592"/>
            <a:ext cx="2788920" cy="2514600"/>
          </a:xfrm>
          <a:prstGeom prst="rect">
            <a:avLst>
              <a:gd name="adj" fmla="val 3636"/>
            </a:avLst>
          </a:prstGeom>
          <a:solidFill>
            <a:srgbClr val="FFFFFF"/>
          </a:solidFill>
          <a:ln w="12700">
            <a:solidFill>
              <a:srgbClr val="0EA5E9"/>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3447288" y="2679192"/>
            <a:ext cx="256032" cy="256032"/>
          </a:xfrm>
          <a:prstGeom prst="ellipse">
            <a:avLst/>
          </a:prstGeom>
          <a:solidFill>
            <a:srgbClr val="0EA5E9"/>
          </a:solidFill>
          <a:ln w="12700">
            <a:solidFill>
              <a:srgbClr val="0EA5E9"/>
            </a:solidFill>
            <a:prstDash val="solid"/>
          </a:ln>
        </p:spPr>
      </p:sp>
      <p:sp>
        <p:nvSpPr>
          <p:cNvPr id="22" name="Text 20"/>
          <p:cNvSpPr/>
          <p:nvPr/>
        </p:nvSpPr>
        <p:spPr>
          <a:xfrm>
            <a:off x="3794760" y="2606040"/>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API Keys — UI génération &amp; révocation</a:t>
            </a:r>
            <a:endParaRPr lang="en-US" sz="1100" dirty="0"/>
          </a:p>
        </p:txBody>
      </p:sp>
      <p:sp>
        <p:nvSpPr>
          <p:cNvPr id="23" name="Shape 21"/>
          <p:cNvSpPr/>
          <p:nvPr/>
        </p:nvSpPr>
        <p:spPr>
          <a:xfrm>
            <a:off x="3447288" y="3246120"/>
            <a:ext cx="256032" cy="256032"/>
          </a:xfrm>
          <a:prstGeom prst="ellipse">
            <a:avLst/>
          </a:prstGeom>
          <a:solidFill>
            <a:srgbClr val="0EA5E9"/>
          </a:solidFill>
          <a:ln w="12700">
            <a:solidFill>
              <a:srgbClr val="0EA5E9"/>
            </a:solidFill>
            <a:prstDash val="solid"/>
          </a:ln>
        </p:spPr>
      </p:sp>
      <p:sp>
        <p:nvSpPr>
          <p:cNvPr id="24" name="Text 22"/>
          <p:cNvSpPr/>
          <p:nvPr/>
        </p:nvSpPr>
        <p:spPr>
          <a:xfrm>
            <a:off x="3794760" y="3172968"/>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Dashboard multi-tenant comparatif (admin)</a:t>
            </a:r>
            <a:endParaRPr lang="en-US" sz="1100" dirty="0"/>
          </a:p>
        </p:txBody>
      </p:sp>
      <p:sp>
        <p:nvSpPr>
          <p:cNvPr id="25" name="Shape 23"/>
          <p:cNvSpPr/>
          <p:nvPr/>
        </p:nvSpPr>
        <p:spPr>
          <a:xfrm>
            <a:off x="3447288" y="3813048"/>
            <a:ext cx="256032" cy="256032"/>
          </a:xfrm>
          <a:prstGeom prst="ellipse">
            <a:avLst/>
          </a:prstGeom>
          <a:solidFill>
            <a:srgbClr val="0EA5E9"/>
          </a:solidFill>
          <a:ln w="12700">
            <a:solidFill>
              <a:srgbClr val="0EA5E9"/>
            </a:solidFill>
            <a:prstDash val="solid"/>
          </a:ln>
        </p:spPr>
      </p:sp>
      <p:sp>
        <p:nvSpPr>
          <p:cNvPr id="26" name="Text 24"/>
          <p:cNvSpPr/>
          <p:nvPr/>
        </p:nvSpPr>
        <p:spPr>
          <a:xfrm>
            <a:off x="3794760" y="3739896"/>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Pages 404 / 500 personnalisées</a:t>
            </a:r>
            <a:endParaRPr lang="en-US" sz="1100" dirty="0"/>
          </a:p>
        </p:txBody>
      </p:sp>
      <p:sp>
        <p:nvSpPr>
          <p:cNvPr id="27" name="Shape 25"/>
          <p:cNvSpPr/>
          <p:nvPr/>
        </p:nvSpPr>
        <p:spPr>
          <a:xfrm>
            <a:off x="3447288" y="4379976"/>
            <a:ext cx="256032" cy="256032"/>
          </a:xfrm>
          <a:prstGeom prst="ellipse">
            <a:avLst/>
          </a:prstGeom>
          <a:solidFill>
            <a:srgbClr val="0EA5E9"/>
          </a:solidFill>
          <a:ln w="12700">
            <a:solidFill>
              <a:srgbClr val="0EA5E9"/>
            </a:solidFill>
            <a:prstDash val="solid"/>
          </a:ln>
        </p:spPr>
      </p:sp>
      <p:sp>
        <p:nvSpPr>
          <p:cNvPr id="28" name="Text 26"/>
          <p:cNvSpPr/>
          <p:nvPr/>
        </p:nvSpPr>
        <p:spPr>
          <a:xfrm>
            <a:off x="3794760" y="4306824"/>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Explainabilité IA (SHAP values sur alertes)</a:t>
            </a:r>
            <a:endParaRPr lang="en-US" sz="1100" dirty="0"/>
          </a:p>
        </p:txBody>
      </p:sp>
      <p:sp>
        <p:nvSpPr>
          <p:cNvPr id="29" name="Shape 27"/>
          <p:cNvSpPr/>
          <p:nvPr/>
        </p:nvSpPr>
        <p:spPr>
          <a:xfrm>
            <a:off x="6665976" y="1417320"/>
            <a:ext cx="1828800" cy="347472"/>
          </a:xfrm>
          <a:prstGeom prst="rect">
            <a:avLst>
              <a:gd name="adj" fmla="val 26316"/>
            </a:avLst>
          </a:prstGeom>
          <a:solidFill>
            <a:srgbClr val="F59E0B"/>
          </a:solidFill>
          <a:ln w="12700">
            <a:solidFill>
              <a:srgbClr val="F59E0B"/>
            </a:solidFill>
            <a:prstDash val="solid"/>
          </a:ln>
        </p:spPr>
      </p:sp>
      <p:sp>
        <p:nvSpPr>
          <p:cNvPr id="30" name="Text 28"/>
          <p:cNvSpPr/>
          <p:nvPr/>
        </p:nvSpPr>
        <p:spPr>
          <a:xfrm>
            <a:off x="6665976" y="14173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Planifié</a:t>
            </a:r>
            <a:endParaRPr lang="en-US" sz="1100" dirty="0"/>
          </a:p>
        </p:txBody>
      </p:sp>
      <p:sp>
        <p:nvSpPr>
          <p:cNvPr id="31" name="Text 29"/>
          <p:cNvSpPr/>
          <p:nvPr/>
        </p:nvSpPr>
        <p:spPr>
          <a:xfrm>
            <a:off x="6208776" y="1874520"/>
            <a:ext cx="2743200" cy="475488"/>
          </a:xfrm>
          <a:prstGeom prst="rect">
            <a:avLst/>
          </a:prstGeom>
          <a:noFill/>
          <a:ln/>
        </p:spPr>
        <p:txBody>
          <a:bodyPr wrap="square" lIns="0" tIns="0" rIns="0" bIns="0" rtlCol="0" anchor="ctr"/>
          <a:lstStyle/>
          <a:p>
            <a:pPr algn="ctr" indent="0" marL="0">
              <a:buNone/>
            </a:pPr>
            <a:r>
              <a:rPr lang="en-US" sz="2800" b="1" dirty="0">
                <a:solidFill>
                  <a:srgbClr val="F59E0B"/>
                </a:solidFill>
                <a:latin typeface="Cambria" pitchFamily="34" charset="0"/>
                <a:ea typeface="Cambria" pitchFamily="34" charset="-122"/>
                <a:cs typeface="Cambria" pitchFamily="34" charset="-120"/>
              </a:rPr>
              <a:t>Q4 2026</a:t>
            </a:r>
            <a:endParaRPr lang="en-US" sz="2800" dirty="0"/>
          </a:p>
        </p:txBody>
      </p:sp>
      <p:sp>
        <p:nvSpPr>
          <p:cNvPr id="32" name="Shape 30"/>
          <p:cNvSpPr/>
          <p:nvPr/>
        </p:nvSpPr>
        <p:spPr>
          <a:xfrm>
            <a:off x="6208776" y="2450592"/>
            <a:ext cx="2788920" cy="2514600"/>
          </a:xfrm>
          <a:prstGeom prst="rect">
            <a:avLst>
              <a:gd name="adj" fmla="val 3636"/>
            </a:avLst>
          </a:prstGeom>
          <a:solidFill>
            <a:srgbClr val="FFFFFF"/>
          </a:solidFill>
          <a:ln w="12700">
            <a:solidFill>
              <a:srgbClr val="F59E0B"/>
            </a:solidFill>
            <a:prstDash val="solid"/>
          </a:ln>
          <a:effectLst>
            <a:outerShdw sx="100000" sy="100000" kx="0" ky="0" algn="bl" rotWithShape="0" blurRad="101600" dist="38100" dir="2700000">
              <a:srgbClr val="000000">
                <a:alpha val="12000"/>
              </a:srgbClr>
            </a:outerShdw>
          </a:effectLst>
        </p:spPr>
      </p:sp>
      <p:sp>
        <p:nvSpPr>
          <p:cNvPr id="33" name="Shape 31"/>
          <p:cNvSpPr/>
          <p:nvPr/>
        </p:nvSpPr>
        <p:spPr>
          <a:xfrm>
            <a:off x="6391656" y="2679192"/>
            <a:ext cx="256032" cy="256032"/>
          </a:xfrm>
          <a:prstGeom prst="ellipse">
            <a:avLst/>
          </a:prstGeom>
          <a:solidFill>
            <a:srgbClr val="F59E0B"/>
          </a:solidFill>
          <a:ln w="12700">
            <a:solidFill>
              <a:srgbClr val="F59E0B"/>
            </a:solidFill>
            <a:prstDash val="solid"/>
          </a:ln>
        </p:spPr>
      </p:sp>
      <p:sp>
        <p:nvSpPr>
          <p:cNvPr id="34" name="Text 32"/>
          <p:cNvSpPr/>
          <p:nvPr/>
        </p:nvSpPr>
        <p:spPr>
          <a:xfrm>
            <a:off x="6739128" y="2606040"/>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Modèle IA v2 (XGBoost + ensemble)</a:t>
            </a:r>
            <a:endParaRPr lang="en-US" sz="1100" dirty="0"/>
          </a:p>
        </p:txBody>
      </p:sp>
      <p:sp>
        <p:nvSpPr>
          <p:cNvPr id="35" name="Shape 33"/>
          <p:cNvSpPr/>
          <p:nvPr/>
        </p:nvSpPr>
        <p:spPr>
          <a:xfrm>
            <a:off x="6391656" y="3246120"/>
            <a:ext cx="256032" cy="256032"/>
          </a:xfrm>
          <a:prstGeom prst="ellipse">
            <a:avLst/>
          </a:prstGeom>
          <a:solidFill>
            <a:srgbClr val="F59E0B"/>
          </a:solidFill>
          <a:ln w="12700">
            <a:solidFill>
              <a:srgbClr val="F59E0B"/>
            </a:solidFill>
            <a:prstDash val="solid"/>
          </a:ln>
        </p:spPr>
      </p:sp>
      <p:sp>
        <p:nvSpPr>
          <p:cNvPr id="36" name="Text 34"/>
          <p:cNvSpPr/>
          <p:nvPr/>
        </p:nvSpPr>
        <p:spPr>
          <a:xfrm>
            <a:off x="6739128" y="3172968"/>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Intégration SWIFT GPI cross-border</a:t>
            </a:r>
            <a:endParaRPr lang="en-US" sz="1100" dirty="0"/>
          </a:p>
        </p:txBody>
      </p:sp>
      <p:sp>
        <p:nvSpPr>
          <p:cNvPr id="37" name="Shape 35"/>
          <p:cNvSpPr/>
          <p:nvPr/>
        </p:nvSpPr>
        <p:spPr>
          <a:xfrm>
            <a:off x="6391656" y="3813048"/>
            <a:ext cx="256032" cy="256032"/>
          </a:xfrm>
          <a:prstGeom prst="ellipse">
            <a:avLst/>
          </a:prstGeom>
          <a:solidFill>
            <a:srgbClr val="F59E0B"/>
          </a:solidFill>
          <a:ln w="12700">
            <a:solidFill>
              <a:srgbClr val="F59E0B"/>
            </a:solidFill>
            <a:prstDash val="solid"/>
          </a:ln>
        </p:spPr>
      </p:sp>
      <p:sp>
        <p:nvSpPr>
          <p:cNvPr id="38" name="Text 36"/>
          <p:cNvSpPr/>
          <p:nvPr/>
        </p:nvSpPr>
        <p:spPr>
          <a:xfrm>
            <a:off x="6739128" y="3739896"/>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Application mobile (React Native)</a:t>
            </a:r>
            <a:endParaRPr lang="en-US" sz="1100" dirty="0"/>
          </a:p>
        </p:txBody>
      </p:sp>
      <p:sp>
        <p:nvSpPr>
          <p:cNvPr id="39" name="Shape 37"/>
          <p:cNvSpPr/>
          <p:nvPr/>
        </p:nvSpPr>
        <p:spPr>
          <a:xfrm>
            <a:off x="6391656" y="4379976"/>
            <a:ext cx="256032" cy="256032"/>
          </a:xfrm>
          <a:prstGeom prst="ellipse">
            <a:avLst/>
          </a:prstGeom>
          <a:solidFill>
            <a:srgbClr val="F59E0B"/>
          </a:solidFill>
          <a:ln w="12700">
            <a:solidFill>
              <a:srgbClr val="F59E0B"/>
            </a:solidFill>
            <a:prstDash val="solid"/>
          </a:ln>
        </p:spPr>
      </p:sp>
      <p:sp>
        <p:nvSpPr>
          <p:cNvPr id="40" name="Text 38"/>
          <p:cNvSpPr/>
          <p:nvPr/>
        </p:nvSpPr>
        <p:spPr>
          <a:xfrm>
            <a:off x="6739128" y="4306824"/>
            <a:ext cx="2148840" cy="457200"/>
          </a:xfrm>
          <a:prstGeom prst="rect">
            <a:avLst/>
          </a:prstGeom>
          <a:noFill/>
          <a:ln/>
        </p:spPr>
        <p:txBody>
          <a:bodyPr wrap="square" lIns="0" tIns="0" rIns="0" bIns="0" rtlCol="0" anchor="ctr"/>
          <a:lstStyle/>
          <a:p>
            <a:pPr indent="0" marL="0">
              <a:buNone/>
            </a:pPr>
            <a:r>
              <a:rPr lang="en-US" sz="1100" dirty="0">
                <a:solidFill>
                  <a:srgbClr val="1E3A5F"/>
                </a:solidFill>
                <a:latin typeface="Calibri" pitchFamily="34" charset="0"/>
                <a:ea typeface="Calibri" pitchFamily="34" charset="-122"/>
                <a:cs typeface="Calibri" pitchFamily="34" charset="-120"/>
              </a:rPr>
              <a:t>Certification ISO 27001 &amp; déploiement UEMOA</a:t>
            </a:r>
            <a:endParaRPr lang="en-US" sz="1100" dirty="0"/>
          </a:p>
        </p:txBody>
      </p:sp>
      <p:sp>
        <p:nvSpPr>
          <p:cNvPr id="41" name="Shape 39"/>
          <p:cNvSpPr/>
          <p:nvPr/>
        </p:nvSpPr>
        <p:spPr>
          <a:xfrm>
            <a:off x="320040" y="4754880"/>
            <a:ext cx="8503920" cy="201168"/>
          </a:xfrm>
          <a:prstGeom prst="rect">
            <a:avLst>
              <a:gd name="adj" fmla="val 22727"/>
            </a:avLst>
          </a:prstGeom>
          <a:solidFill>
            <a:srgbClr val="E2E8F0"/>
          </a:solidFill>
          <a:ln w="12700">
            <a:solidFill>
              <a:srgbClr val="E2E8F0"/>
            </a:solidFill>
            <a:prstDash val="solid"/>
          </a:ln>
        </p:spPr>
      </p:sp>
      <p:sp>
        <p:nvSpPr>
          <p:cNvPr id="42" name="Shape 40"/>
          <p:cNvSpPr/>
          <p:nvPr/>
        </p:nvSpPr>
        <p:spPr>
          <a:xfrm>
            <a:off x="320040" y="4754880"/>
            <a:ext cx="3749040" cy="201168"/>
          </a:xfrm>
          <a:prstGeom prst="rect">
            <a:avLst>
              <a:gd name="adj" fmla="val 22727"/>
            </a:avLst>
          </a:prstGeom>
          <a:solidFill>
            <a:srgbClr val="0EA5E9"/>
          </a:solidFill>
          <a:ln w="12700">
            <a:solidFill>
              <a:srgbClr val="0EA5E9"/>
            </a:solidFill>
            <a:prstDash val="solid"/>
          </a:ln>
        </p:spPr>
      </p:sp>
      <p:sp>
        <p:nvSpPr>
          <p:cNvPr id="43" name="Text 41"/>
          <p:cNvSpPr/>
          <p:nvPr/>
        </p:nvSpPr>
        <p:spPr>
          <a:xfrm>
            <a:off x="320040" y="4956048"/>
            <a:ext cx="8503920" cy="18288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Progression globale : 44%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675120" y="-1280160"/>
            <a:ext cx="4023360" cy="4023360"/>
          </a:xfrm>
          <a:prstGeom prst="ellipse">
            <a:avLst/>
          </a:prstGeom>
          <a:solidFill>
            <a:srgbClr val="2D5282">
              <a:alpha val="35000"/>
            </a:srgbClr>
          </a:solidFill>
          <a:ln w="12700">
            <a:solidFill>
              <a:srgbClr val="0EA5E9">
                <a:alpha val="60000"/>
              </a:srgbClr>
            </a:solidFill>
            <a:prstDash val="solid"/>
          </a:ln>
        </p:spPr>
      </p:sp>
      <p:sp>
        <p:nvSpPr>
          <p:cNvPr id="3" name="Shape 1"/>
          <p:cNvSpPr/>
          <p:nvPr/>
        </p:nvSpPr>
        <p:spPr>
          <a:xfrm>
            <a:off x="7040880" y="2743200"/>
            <a:ext cx="2743200" cy="2743200"/>
          </a:xfrm>
          <a:prstGeom prst="ellipse">
            <a:avLst/>
          </a:prstGeom>
          <a:solidFill>
            <a:srgbClr val="2D5282">
              <a:alpha val="35000"/>
            </a:srgbClr>
          </a:solidFill>
          <a:ln w="12700">
            <a:solidFill>
              <a:srgbClr val="0EA5E9">
                <a:alpha val="60000"/>
              </a:srgbClr>
            </a:solidFill>
            <a:prstDash val="solid"/>
          </a:ln>
        </p:spPr>
      </p:sp>
      <p:sp>
        <p:nvSpPr>
          <p:cNvPr id="4" name="Shape 2"/>
          <p:cNvSpPr/>
          <p:nvPr/>
        </p:nvSpPr>
        <p:spPr>
          <a:xfrm>
            <a:off x="-640080" y="3657600"/>
            <a:ext cx="1828800" cy="1828800"/>
          </a:xfrm>
          <a:prstGeom prst="ellipse">
            <a:avLst/>
          </a:prstGeom>
          <a:solidFill>
            <a:srgbClr val="2D5282">
              <a:alpha val="35000"/>
            </a:srgbClr>
          </a:solidFill>
          <a:ln w="12700">
            <a:solidFill>
              <a:srgbClr val="0EA5E9">
                <a:alpha val="60000"/>
              </a:srgbClr>
            </a:solidFill>
            <a:prstDash val="solid"/>
          </a:ln>
        </p:spPr>
      </p:sp>
      <p:sp>
        <p:nvSpPr>
          <p:cNvPr id="5" name="Text 3"/>
          <p:cNvSpPr/>
          <p:nvPr/>
        </p:nvSpPr>
        <p:spPr>
          <a:xfrm>
            <a:off x="3840480" y="457200"/>
            <a:ext cx="1463040" cy="1097280"/>
          </a:xfrm>
          <a:prstGeom prst="rect">
            <a:avLst/>
          </a:prstGeom>
          <a:noFill/>
          <a:ln/>
        </p:spPr>
        <p:txBody>
          <a:bodyPr wrap="square" lIns="0" tIns="0" rIns="0" bIns="0" rtlCol="0" anchor="ctr"/>
          <a:lstStyle/>
          <a:p>
            <a:pPr algn="ctr" indent="0" marL="0">
              <a:buNone/>
            </a:pPr>
            <a:r>
              <a:rPr lang="en-US" sz="5500" dirty="0">
                <a:solidFill>
                  <a:srgbClr val="000000"/>
                </a:solidFill>
                <a:latin typeface="Arial" pitchFamily="34" charset="0"/>
                <a:ea typeface="Arial" pitchFamily="34" charset="-122"/>
                <a:cs typeface="Arial" pitchFamily="34" charset="-120"/>
              </a:rPr>
              <a:t>🛡️</a:t>
            </a:r>
            <a:endParaRPr lang="en-US" sz="5500" dirty="0"/>
          </a:p>
        </p:txBody>
      </p:sp>
      <p:sp>
        <p:nvSpPr>
          <p:cNvPr id="6" name="Text 4"/>
          <p:cNvSpPr/>
          <p:nvPr/>
        </p:nvSpPr>
        <p:spPr>
          <a:xfrm>
            <a:off x="914400" y="1463040"/>
            <a:ext cx="731520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FraudGuard</a:t>
            </a:r>
            <a:endParaRPr lang="en-US" sz="4800" dirty="0"/>
          </a:p>
        </p:txBody>
      </p:sp>
      <p:sp>
        <p:nvSpPr>
          <p:cNvPr id="7" name="Shape 5"/>
          <p:cNvSpPr/>
          <p:nvPr/>
        </p:nvSpPr>
        <p:spPr>
          <a:xfrm>
            <a:off x="2926080" y="2331720"/>
            <a:ext cx="3291840" cy="64008"/>
          </a:xfrm>
          <a:prstGeom prst="rect">
            <a:avLst/>
          </a:prstGeom>
          <a:solidFill>
            <a:srgbClr val="0EA5E9"/>
          </a:solidFill>
          <a:ln w="12700">
            <a:solidFill>
              <a:srgbClr val="0EA5E9"/>
            </a:solidFill>
            <a:prstDash val="solid"/>
          </a:ln>
        </p:spPr>
      </p:sp>
      <p:sp>
        <p:nvSpPr>
          <p:cNvPr id="8" name="Text 6"/>
          <p:cNvSpPr/>
          <p:nvPr/>
        </p:nvSpPr>
        <p:spPr>
          <a:xfrm>
            <a:off x="457200" y="2487168"/>
            <a:ext cx="8229600" cy="868680"/>
          </a:xfrm>
          <a:prstGeom prst="rect">
            <a:avLst/>
          </a:prstGeom>
          <a:noFill/>
          <a:ln/>
        </p:spPr>
        <p:txBody>
          <a:bodyPr wrap="square" lIns="0" tIns="0" rIns="0" bIns="0" rtlCol="0" anchor="ctr"/>
          <a:lstStyle/>
          <a:p>
            <a:pPr algn="ctr" indent="0" marL="0">
              <a:buNone/>
            </a:pPr>
            <a:r>
              <a:rPr lang="en-US" sz="1900" i="1" dirty="0">
                <a:solidFill>
                  <a:srgbClr val="38BDF8"/>
                </a:solidFill>
                <a:latin typeface="Calibri" pitchFamily="34" charset="0"/>
                <a:ea typeface="Calibri" pitchFamily="34" charset="-122"/>
                <a:cs typeface="Calibri" pitchFamily="34" charset="-120"/>
              </a:rPr>
              <a:t>Protéger chaque transaction.</a:t>
            </a:r>
            <a:endParaRPr lang="en-US" sz="1900" dirty="0"/>
          </a:p>
          <a:p>
            <a:pPr algn="ctr" indent="0" marL="0">
              <a:buNone/>
            </a:pPr>
            <a:r>
              <a:rPr lang="en-US" sz="1900" i="1" dirty="0">
                <a:solidFill>
                  <a:srgbClr val="38BDF8"/>
                </a:solidFill>
                <a:latin typeface="Calibri" pitchFamily="34" charset="0"/>
                <a:ea typeface="Calibri" pitchFamily="34" charset="-122"/>
                <a:cs typeface="Calibri" pitchFamily="34" charset="-120"/>
              </a:rPr>
              <a:t>Conformer chaque rapport.</a:t>
            </a:r>
            <a:endParaRPr lang="en-US" sz="1900" dirty="0"/>
          </a:p>
        </p:txBody>
      </p:sp>
      <p:sp>
        <p:nvSpPr>
          <p:cNvPr id="9" name="Shape 7"/>
          <p:cNvSpPr/>
          <p:nvPr/>
        </p:nvSpPr>
        <p:spPr>
          <a:xfrm>
            <a:off x="2103120" y="3547872"/>
            <a:ext cx="1280160" cy="1280160"/>
          </a:xfrm>
          <a:prstGeom prst="ellipse">
            <a:avLst/>
          </a:prstGeom>
          <a:solidFill>
            <a:srgbClr val="2D5282"/>
          </a:solidFill>
          <a:ln w="12700">
            <a:solidFill>
              <a:srgbClr val="0EA5E9"/>
            </a:solidFill>
            <a:prstDash val="solid"/>
          </a:ln>
        </p:spPr>
      </p:sp>
      <p:sp>
        <p:nvSpPr>
          <p:cNvPr id="10" name="Text 8"/>
          <p:cNvSpPr/>
          <p:nvPr/>
        </p:nvSpPr>
        <p:spPr>
          <a:xfrm>
            <a:off x="2103120" y="3547872"/>
            <a:ext cx="1280160" cy="68580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1" name="Text 9"/>
          <p:cNvSpPr/>
          <p:nvPr/>
        </p:nvSpPr>
        <p:spPr>
          <a:xfrm>
            <a:off x="1920240" y="4206240"/>
            <a:ext cx="1645920" cy="502920"/>
          </a:xfrm>
          <a:prstGeom prst="rect">
            <a:avLst/>
          </a:prstGeom>
          <a:noFill/>
          <a:ln/>
        </p:spPr>
        <p:txBody>
          <a:bodyPr wrap="square" lIns="0" tIns="0" rIns="0" bIns="0" rtlCol="0" anchor="ctr"/>
          <a:lstStyle/>
          <a:p>
            <a:pPr algn="ctr" indent="0" marL="0">
              <a:buNone/>
            </a:pPr>
            <a:r>
              <a:rPr lang="en-US" sz="1200" b="1" dirty="0">
                <a:solidFill>
                  <a:srgbClr val="38BDF8"/>
                </a:solidFill>
                <a:latin typeface="Calibri" pitchFamily="34" charset="0"/>
                <a:ea typeface="Calibri" pitchFamily="34" charset="-122"/>
                <a:cs typeface="Calibri" pitchFamily="34" charset="-120"/>
              </a:rPr>
              <a:t>Détection</a:t>
            </a:r>
            <a:endParaRPr lang="en-US" sz="1200" dirty="0"/>
          </a:p>
          <a:p>
            <a:pPr algn="ctr" indent="0" marL="0">
              <a:buNone/>
            </a:pPr>
            <a:r>
              <a:rPr lang="en-US" sz="1200" b="1" dirty="0">
                <a:solidFill>
                  <a:srgbClr val="38BDF8"/>
                </a:solidFill>
                <a:latin typeface="Calibri" pitchFamily="34" charset="0"/>
                <a:ea typeface="Calibri" pitchFamily="34" charset="-122"/>
                <a:cs typeface="Calibri" pitchFamily="34" charset="-120"/>
              </a:rPr>
              <a:t>&lt; 50ms</a:t>
            </a:r>
            <a:endParaRPr lang="en-US" sz="1200" dirty="0"/>
          </a:p>
        </p:txBody>
      </p:sp>
      <p:sp>
        <p:nvSpPr>
          <p:cNvPr id="12" name="Shape 10"/>
          <p:cNvSpPr/>
          <p:nvPr/>
        </p:nvSpPr>
        <p:spPr>
          <a:xfrm>
            <a:off x="4069080" y="3547872"/>
            <a:ext cx="1280160" cy="1280160"/>
          </a:xfrm>
          <a:prstGeom prst="ellipse">
            <a:avLst/>
          </a:prstGeom>
          <a:solidFill>
            <a:srgbClr val="2D5282"/>
          </a:solidFill>
          <a:ln w="12700">
            <a:solidFill>
              <a:srgbClr val="0EA5E9"/>
            </a:solidFill>
            <a:prstDash val="solid"/>
          </a:ln>
        </p:spPr>
      </p:sp>
      <p:sp>
        <p:nvSpPr>
          <p:cNvPr id="13" name="Text 11"/>
          <p:cNvSpPr/>
          <p:nvPr/>
        </p:nvSpPr>
        <p:spPr>
          <a:xfrm>
            <a:off x="4069080" y="3547872"/>
            <a:ext cx="1280160" cy="68580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4" name="Text 12"/>
          <p:cNvSpPr/>
          <p:nvPr/>
        </p:nvSpPr>
        <p:spPr>
          <a:xfrm>
            <a:off x="3886200" y="4206240"/>
            <a:ext cx="1645920" cy="502920"/>
          </a:xfrm>
          <a:prstGeom prst="rect">
            <a:avLst/>
          </a:prstGeom>
          <a:noFill/>
          <a:ln/>
        </p:spPr>
        <p:txBody>
          <a:bodyPr wrap="square" lIns="0" tIns="0" rIns="0" bIns="0" rtlCol="0" anchor="ctr"/>
          <a:lstStyle/>
          <a:p>
            <a:pPr algn="ctr" indent="0" marL="0">
              <a:buNone/>
            </a:pPr>
            <a:r>
              <a:rPr lang="en-US" sz="1200" b="1" dirty="0">
                <a:solidFill>
                  <a:srgbClr val="38BDF8"/>
                </a:solidFill>
                <a:latin typeface="Calibri" pitchFamily="34" charset="0"/>
                <a:ea typeface="Calibri" pitchFamily="34" charset="-122"/>
                <a:cs typeface="Calibri" pitchFamily="34" charset="-120"/>
              </a:rPr>
              <a:t>Conforme</a:t>
            </a:r>
            <a:endParaRPr lang="en-US" sz="1200" dirty="0"/>
          </a:p>
          <a:p>
            <a:pPr algn="ctr" indent="0" marL="0">
              <a:buNone/>
            </a:pPr>
            <a:r>
              <a:rPr lang="en-US" sz="1200" b="1" dirty="0">
                <a:solidFill>
                  <a:srgbClr val="38BDF8"/>
                </a:solidFill>
                <a:latin typeface="Calibri" pitchFamily="34" charset="0"/>
                <a:ea typeface="Calibri" pitchFamily="34" charset="-122"/>
                <a:cs typeface="Calibri" pitchFamily="34" charset="-120"/>
              </a:rPr>
              <a:t>BCEAO</a:t>
            </a:r>
            <a:endParaRPr lang="en-US" sz="1200" dirty="0"/>
          </a:p>
        </p:txBody>
      </p:sp>
      <p:sp>
        <p:nvSpPr>
          <p:cNvPr id="15" name="Shape 13"/>
          <p:cNvSpPr/>
          <p:nvPr/>
        </p:nvSpPr>
        <p:spPr>
          <a:xfrm>
            <a:off x="6035040" y="3547872"/>
            <a:ext cx="1280160" cy="1280160"/>
          </a:xfrm>
          <a:prstGeom prst="ellipse">
            <a:avLst/>
          </a:prstGeom>
          <a:solidFill>
            <a:srgbClr val="2D5282"/>
          </a:solidFill>
          <a:ln w="12700">
            <a:solidFill>
              <a:srgbClr val="0EA5E9"/>
            </a:solidFill>
            <a:prstDash val="solid"/>
          </a:ln>
        </p:spPr>
      </p:sp>
      <p:sp>
        <p:nvSpPr>
          <p:cNvPr id="16" name="Text 14"/>
          <p:cNvSpPr/>
          <p:nvPr/>
        </p:nvSpPr>
        <p:spPr>
          <a:xfrm>
            <a:off x="6035040" y="3547872"/>
            <a:ext cx="1280160" cy="685800"/>
          </a:xfrm>
          <a:prstGeom prst="rect">
            <a:avLst/>
          </a:prstGeom>
          <a:noFill/>
          <a:ln/>
        </p:spPr>
        <p:txBody>
          <a:bodyPr wrap="square" lIns="0" tIns="0" rIns="0" bIns="0" rtlCol="0" anchor="ctr"/>
          <a:lstStyle/>
          <a:p>
            <a:pPr algn="ctr" indent="0" marL="0">
              <a:buNone/>
            </a:pPr>
            <a:r>
              <a:rPr lang="en-US" sz="2800" dirty="0">
                <a:solidFill>
                  <a:srgbClr val="000000"/>
                </a:solidFill>
                <a:latin typeface="Arial" pitchFamily="34" charset="0"/>
                <a:ea typeface="Arial" pitchFamily="34" charset="-122"/>
                <a:cs typeface="Arial" pitchFamily="34" charset="-120"/>
              </a:rPr>
              <a:t>🔒</a:t>
            </a:r>
            <a:endParaRPr lang="en-US" sz="2800" dirty="0"/>
          </a:p>
        </p:txBody>
      </p:sp>
      <p:sp>
        <p:nvSpPr>
          <p:cNvPr id="17" name="Text 15"/>
          <p:cNvSpPr/>
          <p:nvPr/>
        </p:nvSpPr>
        <p:spPr>
          <a:xfrm>
            <a:off x="5852160" y="4206240"/>
            <a:ext cx="1645920" cy="502920"/>
          </a:xfrm>
          <a:prstGeom prst="rect">
            <a:avLst/>
          </a:prstGeom>
          <a:noFill/>
          <a:ln/>
        </p:spPr>
        <p:txBody>
          <a:bodyPr wrap="square" lIns="0" tIns="0" rIns="0" bIns="0" rtlCol="0" anchor="ctr"/>
          <a:lstStyle/>
          <a:p>
            <a:pPr algn="ctr" indent="0" marL="0">
              <a:buNone/>
            </a:pPr>
            <a:r>
              <a:rPr lang="en-US" sz="1200" b="1" dirty="0">
                <a:solidFill>
                  <a:srgbClr val="38BDF8"/>
                </a:solidFill>
                <a:latin typeface="Calibri" pitchFamily="34" charset="0"/>
                <a:ea typeface="Calibri" pitchFamily="34" charset="-122"/>
                <a:cs typeface="Calibri" pitchFamily="34" charset="-120"/>
              </a:rPr>
              <a:t>Sécurisé</a:t>
            </a:r>
            <a:endParaRPr lang="en-US" sz="1200" dirty="0"/>
          </a:p>
          <a:p>
            <a:pPr algn="ctr" indent="0" marL="0">
              <a:buNone/>
            </a:pPr>
            <a:r>
              <a:rPr lang="en-US" sz="1200" b="1" dirty="0">
                <a:solidFill>
                  <a:srgbClr val="38BDF8"/>
                </a:solidFill>
                <a:latin typeface="Calibri" pitchFamily="34" charset="0"/>
                <a:ea typeface="Calibri" pitchFamily="34" charset="-122"/>
                <a:cs typeface="Calibri" pitchFamily="34" charset="-120"/>
              </a:rPr>
              <a:t>ISO-ready</a:t>
            </a:r>
            <a:endParaRPr lang="en-US" sz="1200" dirty="0"/>
          </a:p>
        </p:txBody>
      </p:sp>
      <p:sp>
        <p:nvSpPr>
          <p:cNvPr id="18" name="Shape 16"/>
          <p:cNvSpPr/>
          <p:nvPr/>
        </p:nvSpPr>
        <p:spPr>
          <a:xfrm>
            <a:off x="0" y="4617720"/>
            <a:ext cx="9144000" cy="525780"/>
          </a:xfrm>
          <a:prstGeom prst="rect">
            <a:avLst/>
          </a:prstGeom>
          <a:solidFill>
            <a:srgbClr val="1E3A5F"/>
          </a:solidFill>
          <a:ln w="12700">
            <a:solidFill>
              <a:srgbClr val="1E3A5F"/>
            </a:solidFill>
            <a:prstDash val="solid"/>
          </a:ln>
        </p:spPr>
      </p:sp>
      <p:sp>
        <p:nvSpPr>
          <p:cNvPr id="19" name="Text 17"/>
          <p:cNvSpPr/>
          <p:nvPr/>
        </p:nvSpPr>
        <p:spPr>
          <a:xfrm>
            <a:off x="457200" y="4663440"/>
            <a:ext cx="8229600" cy="4114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  melombaoh@gmail.com  ·  🐙  github.com/melessmb/fraud_guard  ·  Box Africa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FraudGuard — Plateforme de Détection de Fraude</dc:title>
  <dc:subject>Présentation Services Financiers &amp; Conformité BCEAO</dc:subject>
  <dc:creator>Box Africa</dc:creator>
  <cp:lastModifiedBy>Box Africa</cp:lastModifiedBy>
  <cp:revision>1</cp:revision>
  <dcterms:created xsi:type="dcterms:W3CDTF">2026-06-23T14:05:25Z</dcterms:created>
  <dcterms:modified xsi:type="dcterms:W3CDTF">2026-06-23T14:05:25Z</dcterms:modified>
</cp:coreProperties>
</file>